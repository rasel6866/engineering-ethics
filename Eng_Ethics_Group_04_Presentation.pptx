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384" r:id="rId3"/>
    <p:sldId id="258" r:id="rId4"/>
    <p:sldId id="260" r:id="rId5"/>
    <p:sldId id="261" r:id="rId6"/>
    <p:sldId id="262" r:id="rId7"/>
    <p:sldId id="385" r:id="rId8"/>
    <p:sldId id="264" r:id="rId9"/>
    <p:sldId id="265" r:id="rId10"/>
    <p:sldId id="266" r:id="rId11"/>
    <p:sldId id="267" r:id="rId12"/>
    <p:sldId id="268" r:id="rId13"/>
    <p:sldId id="269" r:id="rId14"/>
    <p:sldId id="270" r:id="rId15"/>
    <p:sldId id="271" r:id="rId16"/>
    <p:sldId id="272" r:id="rId17"/>
    <p:sldId id="274" r:id="rId18"/>
    <p:sldId id="276" r:id="rId19"/>
    <p:sldId id="278" r:id="rId20"/>
    <p:sldId id="280" r:id="rId21"/>
    <p:sldId id="281" r:id="rId22"/>
    <p:sldId id="282" r:id="rId23"/>
    <p:sldId id="283" r:id="rId24"/>
    <p:sldId id="284" r:id="rId25"/>
    <p:sldId id="285" r:id="rId26"/>
    <p:sldId id="288" r:id="rId27"/>
    <p:sldId id="289" r:id="rId28"/>
    <p:sldId id="386" r:id="rId29"/>
    <p:sldId id="290" r:id="rId30"/>
    <p:sldId id="292" r:id="rId31"/>
    <p:sldId id="293" r:id="rId3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9774" autoAdjust="0"/>
  </p:normalViewPr>
  <p:slideViewPr>
    <p:cSldViewPr>
      <p:cViewPr varScale="1">
        <p:scale>
          <a:sx n="68" d="100"/>
          <a:sy n="68" d="100"/>
        </p:scale>
        <p:origin x="21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8604D30E-CC34-4DCD-8334-00B9D7A29D16}" type="datetimeFigureOut">
              <a:rPr lang="en-US" smtClean="0"/>
              <a:pPr/>
              <a:t>3/8/2026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827076A0-392C-4809-BFF7-9FC1A8D8B77F}" type="slidenum">
              <a:rPr lang="en-US" smtClean="0"/>
              <a:pPr/>
              <a:t>‹#›</a:t>
            </a:fld>
            <a:endParaRPr lang="en-US" dirty="0"/>
          </a:p>
        </p:txBody>
      </p:sp>
    </p:spTree>
    <p:extLst>
      <p:ext uri="{BB962C8B-B14F-4D97-AF65-F5344CB8AC3E}">
        <p14:creationId xmlns:p14="http://schemas.microsoft.com/office/powerpoint/2010/main" val="1886381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a:lvl2pPr marL="457200" algn="l" defTabSz="914400" rtl="0" eaLnBrk="1" latinLnBrk="0" hangingPunct="1">
      <a:defRPr sz="1200" kern="1200">
        <a:solidFill>
          <a:schemeClr val="tx1"/>
        </a:solidFill>
        <a:latin typeface="Times New Roman" panose="02020603050405020304" pitchFamily="18" charset="0"/>
        <a:ea typeface="+mn-ea"/>
        <a:cs typeface="+mn-cs"/>
      </a:defRPr>
    </a:lvl2pPr>
    <a:lvl3pPr marL="914400" algn="l" defTabSz="914400" rtl="0" eaLnBrk="1" latinLnBrk="0" hangingPunct="1">
      <a:defRPr sz="120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25527" lvl="1" indent="0" algn="l">
              <a:lnSpc>
                <a:spcPts val="3110"/>
              </a:lnSpc>
              <a:buFont typeface="Arial"/>
              <a:buNone/>
            </a:pPr>
            <a:r>
              <a:rPr lang="en-US" sz="3600" dirty="0">
                <a:latin typeface="Times New Roman Bold"/>
                <a:ea typeface="Times New Roman Bold"/>
                <a:cs typeface="Times New Roman Bold"/>
                <a:sym typeface="Times New Roman Bold"/>
              </a:rPr>
              <a:t>Roles of the code of Ethics</a:t>
            </a:r>
          </a:p>
          <a:p>
            <a:pPr marL="651053" lvl="1" indent="-325526" algn="l">
              <a:lnSpc>
                <a:spcPts val="3110"/>
              </a:lnSpc>
              <a:buFont typeface="Arial"/>
              <a:buChar char="•"/>
            </a:pPr>
            <a:r>
              <a:rPr lang="en-US" sz="3600" dirty="0">
                <a:latin typeface="Times New Roman Bold"/>
                <a:ea typeface="Times New Roman Bold"/>
                <a:cs typeface="Times New Roman Bold"/>
                <a:sym typeface="Times New Roman Bold"/>
              </a:rPr>
              <a:t>Serving and Protecting the public</a:t>
            </a:r>
          </a:p>
          <a:p>
            <a:pPr marL="651053" lvl="1" indent="-325526" algn="l">
              <a:lnSpc>
                <a:spcPts val="3110"/>
              </a:lnSpc>
              <a:buFont typeface="Arial"/>
              <a:buChar char="•"/>
            </a:pPr>
            <a:r>
              <a:rPr lang="en-US" sz="3600" dirty="0">
                <a:latin typeface="Times New Roman Bold"/>
                <a:ea typeface="Times New Roman Bold"/>
                <a:cs typeface="Times New Roman Bold"/>
                <a:sym typeface="Times New Roman Bold"/>
              </a:rPr>
              <a:t>Providing Guidance</a:t>
            </a:r>
          </a:p>
          <a:p>
            <a:pPr marL="651053" lvl="1" indent="-325526" algn="l">
              <a:lnSpc>
                <a:spcPts val="3110"/>
              </a:lnSpc>
              <a:buFont typeface="Arial"/>
              <a:buChar char="•"/>
            </a:pPr>
            <a:r>
              <a:rPr lang="en-US" sz="3600" dirty="0">
                <a:latin typeface="Times New Roman Bold"/>
                <a:ea typeface="Times New Roman Bold"/>
                <a:cs typeface="Times New Roman Bold"/>
                <a:sym typeface="Times New Roman Bold"/>
              </a:rPr>
              <a:t>Offering Inspiration</a:t>
            </a:r>
          </a:p>
          <a:p>
            <a:pPr marL="651053" lvl="1" indent="-325526" algn="l">
              <a:lnSpc>
                <a:spcPts val="3110"/>
              </a:lnSpc>
              <a:buFont typeface="Arial"/>
              <a:buChar char="•"/>
            </a:pPr>
            <a:r>
              <a:rPr lang="en-US" sz="3600" dirty="0">
                <a:latin typeface="Times New Roman Bold"/>
                <a:ea typeface="Times New Roman Bold"/>
                <a:cs typeface="Times New Roman Bold"/>
                <a:sym typeface="Times New Roman Bold"/>
              </a:rPr>
              <a:t>Establishing Shared Standards</a:t>
            </a:r>
          </a:p>
          <a:p>
            <a:pPr marL="651053" lvl="1" indent="-325526" algn="l">
              <a:lnSpc>
                <a:spcPts val="3110"/>
              </a:lnSpc>
              <a:buFont typeface="Arial"/>
              <a:buChar char="•"/>
            </a:pPr>
            <a:r>
              <a:rPr lang="en-US" sz="3600" dirty="0">
                <a:latin typeface="Times New Roman Bold"/>
                <a:ea typeface="Times New Roman Bold"/>
                <a:cs typeface="Times New Roman Bold"/>
                <a:sym typeface="Times New Roman Bold"/>
              </a:rPr>
              <a:t>Supporting Responsible Professionals</a:t>
            </a:r>
          </a:p>
          <a:p>
            <a:pPr marL="651053" lvl="1" indent="-325526" algn="l">
              <a:lnSpc>
                <a:spcPts val="3110"/>
              </a:lnSpc>
              <a:buFont typeface="Arial"/>
              <a:buChar char="•"/>
            </a:pPr>
            <a:r>
              <a:rPr lang="en-US" sz="3600" dirty="0">
                <a:latin typeface="Times New Roman Bold"/>
                <a:ea typeface="Times New Roman Bold"/>
                <a:cs typeface="Times New Roman Bold"/>
                <a:sym typeface="Times New Roman Bold"/>
              </a:rPr>
              <a:t>Contributing to education</a:t>
            </a:r>
          </a:p>
          <a:p>
            <a:pPr marL="651053" lvl="1" indent="-325526" algn="l">
              <a:lnSpc>
                <a:spcPts val="3110"/>
              </a:lnSpc>
              <a:buFont typeface="Arial"/>
              <a:buChar char="•"/>
            </a:pPr>
            <a:r>
              <a:rPr lang="en-US" sz="3600" dirty="0">
                <a:latin typeface="Times New Roman Bold"/>
                <a:ea typeface="Times New Roman Bold"/>
                <a:cs typeface="Times New Roman Bold"/>
                <a:sym typeface="Times New Roman Bold"/>
              </a:rPr>
              <a:t>Deterring Wrongdoing</a:t>
            </a:r>
          </a:p>
          <a:p>
            <a:pPr marL="651510" lvl="1" indent="-325755" algn="l">
              <a:lnSpc>
                <a:spcPts val="3110"/>
              </a:lnSpc>
              <a:buFont typeface="Arial"/>
              <a:buChar char="•"/>
            </a:pPr>
            <a:r>
              <a:rPr lang="en-US" sz="3600" dirty="0">
                <a:latin typeface="Times New Roman Bold"/>
                <a:ea typeface="Times New Roman Bold"/>
                <a:cs typeface="Times New Roman Bold"/>
                <a:sym typeface="Times New Roman Bold"/>
              </a:rPr>
              <a:t>Strengthening a professions image </a:t>
            </a:r>
          </a:p>
        </p:txBody>
      </p:sp>
      <p:sp>
        <p:nvSpPr>
          <p:cNvPr id="4" name="Slide Number Placeholder 3"/>
          <p:cNvSpPr>
            <a:spLocks noGrp="1"/>
          </p:cNvSpPr>
          <p:nvPr>
            <p:ph type="sldNum" sz="quarter" idx="5"/>
          </p:nvPr>
        </p:nvSpPr>
        <p:spPr/>
        <p:txBody>
          <a:bodyPr/>
          <a:lstStyle/>
          <a:p>
            <a:fld id="{827076A0-392C-4809-BFF7-9FC1A8D8B77F}" type="slidenum">
              <a:rPr lang="en-US" smtClean="0"/>
              <a:t>3</a:t>
            </a:fld>
            <a:endParaRPr lang="en-US"/>
          </a:p>
        </p:txBody>
      </p:sp>
    </p:spTree>
    <p:extLst>
      <p:ext uri="{BB962C8B-B14F-4D97-AF65-F5344CB8AC3E}">
        <p14:creationId xmlns:p14="http://schemas.microsoft.com/office/powerpoint/2010/main" val="2723606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827076A0-392C-4809-BFF7-9FC1A8D8B77F}" type="slidenum">
              <a:rPr lang="en-US" smtClean="0"/>
              <a:t>14</a:t>
            </a:fld>
            <a:endParaRPr lang="en-US"/>
          </a:p>
        </p:txBody>
      </p:sp>
    </p:spTree>
    <p:extLst>
      <p:ext uri="{BB962C8B-B14F-4D97-AF65-F5344CB8AC3E}">
        <p14:creationId xmlns:p14="http://schemas.microsoft.com/office/powerpoint/2010/main" val="446917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0.svg"/><Relationship Id="rId7" Type="http://schemas.openxmlformats.org/officeDocument/2006/relationships/image" Target="../media/image25.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2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31.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10.sv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5.sv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39.sv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8" Type="http://schemas.openxmlformats.org/officeDocument/2006/relationships/image" Target="../media/image46.gif"/><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50.sv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sv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2.gif"/><Relationship Id="rId5" Type="http://schemas.openxmlformats.org/officeDocument/2006/relationships/image" Target="../media/image61.sv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30480" y="-156"/>
            <a:ext cx="18515489" cy="10329863"/>
            <a:chOff x="-303319" y="-57150"/>
            <a:chExt cx="24687319" cy="13773150"/>
          </a:xfrm>
        </p:grpSpPr>
        <p:sp>
          <p:nvSpPr>
            <p:cNvPr id="3" name="Freeform 3"/>
            <p:cNvSpPr/>
            <p:nvPr/>
          </p:nvSpPr>
          <p:spPr>
            <a:xfrm>
              <a:off x="-303319" y="-28576"/>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l="-20282" r="-20282"/>
              </a:stretch>
            </a:blipFill>
          </p:spPr>
          <p:txBody>
            <a:bodyPr/>
            <a:lstStyle/>
            <a:p>
              <a:endParaRPr lang="en-US" dirty="0"/>
            </a:p>
          </p:txBody>
        </p:sp>
        <p:sp>
          <p:nvSpPr>
            <p:cNvPr id="4" name="TextBox 4"/>
            <p:cNvSpPr txBox="1"/>
            <p:nvPr/>
          </p:nvSpPr>
          <p:spPr>
            <a:xfrm>
              <a:off x="0" y="-57150"/>
              <a:ext cx="24384000" cy="13773150"/>
            </a:xfrm>
            <a:prstGeom prst="rect">
              <a:avLst/>
            </a:prstGeom>
          </p:spPr>
          <p:txBody>
            <a:bodyPr lIns="50800" tIns="50800" rIns="50800" bIns="50800" rtlCol="0" anchor="t"/>
            <a:lstStyle/>
            <a:p>
              <a:pPr algn="l">
                <a:lnSpc>
                  <a:spcPts val="3240"/>
                </a:lnSpc>
              </a:pPr>
              <a:r>
                <a:rPr lang="en-US" sz="2700">
                  <a:solidFill>
                    <a:srgbClr val="FFFFFF"/>
                  </a:solidFill>
                  <a:latin typeface="Times New Roman"/>
                  <a:ea typeface="Times New Roman"/>
                  <a:cs typeface="Times New Roman"/>
                  <a:sym typeface="Times New Roman"/>
                </a:rPr>
                <a:t>d</a:t>
              </a:r>
            </a:p>
          </p:txBody>
        </p:sp>
      </p:grpSp>
      <p:sp>
        <p:nvSpPr>
          <p:cNvPr id="5" name="Freeform 5"/>
          <p:cNvSpPr/>
          <p:nvPr/>
        </p:nvSpPr>
        <p:spPr>
          <a:xfrm>
            <a:off x="61665" y="4707"/>
            <a:ext cx="2001609" cy="10467826"/>
          </a:xfrm>
          <a:custGeom>
            <a:avLst/>
            <a:gdLst/>
            <a:ahLst/>
            <a:cxnLst/>
            <a:rect l="l" t="t" r="r" b="b"/>
            <a:pathLst>
              <a:path w="2001609" h="10467826">
                <a:moveTo>
                  <a:pt x="0" y="0"/>
                </a:moveTo>
                <a:lnTo>
                  <a:pt x="2001609" y="0"/>
                </a:lnTo>
                <a:lnTo>
                  <a:pt x="2001609" y="10467827"/>
                </a:lnTo>
                <a:lnTo>
                  <a:pt x="0" y="104678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3329697" y="-89650"/>
            <a:ext cx="10991397" cy="2013564"/>
            <a:chOff x="0" y="0"/>
            <a:chExt cx="14655196" cy="2684751"/>
          </a:xfrm>
        </p:grpSpPr>
        <p:sp>
          <p:nvSpPr>
            <p:cNvPr id="7" name="Freeform 7"/>
            <p:cNvSpPr/>
            <p:nvPr/>
          </p:nvSpPr>
          <p:spPr>
            <a:xfrm>
              <a:off x="0" y="0"/>
              <a:ext cx="14655195" cy="2684751"/>
            </a:xfrm>
            <a:custGeom>
              <a:avLst/>
              <a:gdLst/>
              <a:ahLst/>
              <a:cxnLst/>
              <a:rect l="l" t="t" r="r" b="b"/>
              <a:pathLst>
                <a:path w="14655195" h="2684751">
                  <a:moveTo>
                    <a:pt x="0" y="0"/>
                  </a:moveTo>
                  <a:lnTo>
                    <a:pt x="14655195" y="0"/>
                  </a:lnTo>
                  <a:lnTo>
                    <a:pt x="14655195" y="2684751"/>
                  </a:lnTo>
                  <a:lnTo>
                    <a:pt x="0" y="2684751"/>
                  </a:lnTo>
                  <a:close/>
                </a:path>
              </a:pathLst>
            </a:custGeom>
            <a:solidFill>
              <a:srgbClr val="000000">
                <a:alpha val="0"/>
              </a:srgbClr>
            </a:solidFill>
          </p:spPr>
          <p:txBody>
            <a:bodyPr/>
            <a:lstStyle/>
            <a:p>
              <a:endParaRPr lang="en-US"/>
            </a:p>
          </p:txBody>
        </p:sp>
        <p:sp>
          <p:nvSpPr>
            <p:cNvPr id="8" name="TextBox 8"/>
            <p:cNvSpPr txBox="1"/>
            <p:nvPr/>
          </p:nvSpPr>
          <p:spPr>
            <a:xfrm>
              <a:off x="1" y="247256"/>
              <a:ext cx="14655195" cy="2437494"/>
            </a:xfrm>
            <a:prstGeom prst="rect">
              <a:avLst/>
            </a:prstGeom>
          </p:spPr>
          <p:txBody>
            <a:bodyPr lIns="0" tIns="0" rIns="0" bIns="0" rtlCol="0" anchor="t"/>
            <a:lstStyle/>
            <a:p>
              <a:pPr algn="ctr">
                <a:lnSpc>
                  <a:spcPts val="12644"/>
                </a:lnSpc>
              </a:pPr>
              <a:r>
                <a:rPr lang="en-US" sz="9031" dirty="0">
                  <a:solidFill>
                    <a:srgbClr val="0070C0"/>
                  </a:solidFill>
                  <a:latin typeface="League Spartan"/>
                  <a:ea typeface="League Spartan"/>
                  <a:cs typeface="League Spartan"/>
                  <a:sym typeface="League Spartan"/>
                </a:rPr>
                <a:t>WELCOME</a:t>
              </a:r>
            </a:p>
          </p:txBody>
        </p:sp>
      </p:grpSp>
      <p:grpSp>
        <p:nvGrpSpPr>
          <p:cNvPr id="9" name="Group 9"/>
          <p:cNvGrpSpPr/>
          <p:nvPr/>
        </p:nvGrpSpPr>
        <p:grpSpPr>
          <a:xfrm>
            <a:off x="4482596" y="1332444"/>
            <a:ext cx="9745145" cy="77655"/>
            <a:chOff x="0" y="0"/>
            <a:chExt cx="12993526" cy="103540"/>
          </a:xfrm>
        </p:grpSpPr>
        <p:sp>
          <p:nvSpPr>
            <p:cNvPr id="10" name="Freeform 10"/>
            <p:cNvSpPr/>
            <p:nvPr/>
          </p:nvSpPr>
          <p:spPr>
            <a:xfrm>
              <a:off x="37973" y="0"/>
              <a:ext cx="12917551" cy="103505"/>
            </a:xfrm>
            <a:custGeom>
              <a:avLst/>
              <a:gdLst/>
              <a:ahLst/>
              <a:cxnLst/>
              <a:rect l="l" t="t" r="r" b="b"/>
              <a:pathLst>
                <a:path w="12917551" h="103505">
                  <a:moveTo>
                    <a:pt x="0" y="27305"/>
                  </a:moveTo>
                  <a:lnTo>
                    <a:pt x="12917424" y="0"/>
                  </a:lnTo>
                  <a:lnTo>
                    <a:pt x="12917551" y="76200"/>
                  </a:lnTo>
                  <a:lnTo>
                    <a:pt x="254" y="103505"/>
                  </a:lnTo>
                  <a:close/>
                </a:path>
              </a:pathLst>
            </a:custGeom>
            <a:solidFill>
              <a:srgbClr val="000000"/>
            </a:solidFill>
          </p:spPr>
          <p:txBody>
            <a:bodyPr/>
            <a:lstStyle/>
            <a:p>
              <a:endParaRPr lang="en-US"/>
            </a:p>
          </p:txBody>
        </p:sp>
      </p:grpSp>
      <p:sp>
        <p:nvSpPr>
          <p:cNvPr id="11" name="Freeform 11"/>
          <p:cNvSpPr/>
          <p:nvPr/>
        </p:nvSpPr>
        <p:spPr>
          <a:xfrm rot="-10800000">
            <a:off x="13530228" y="0"/>
            <a:ext cx="4757774" cy="4757774"/>
          </a:xfrm>
          <a:custGeom>
            <a:avLst/>
            <a:gdLst/>
            <a:ahLst/>
            <a:cxnLst/>
            <a:rect l="l" t="t" r="r" b="b"/>
            <a:pathLst>
              <a:path w="4757774" h="4757774">
                <a:moveTo>
                  <a:pt x="0" y="0"/>
                </a:moveTo>
                <a:lnTo>
                  <a:pt x="4757774" y="0"/>
                </a:lnTo>
                <a:lnTo>
                  <a:pt x="4757774" y="4757774"/>
                </a:lnTo>
                <a:lnTo>
                  <a:pt x="0" y="475777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2" name="Group 12"/>
          <p:cNvGrpSpPr/>
          <p:nvPr/>
        </p:nvGrpSpPr>
        <p:grpSpPr>
          <a:xfrm>
            <a:off x="1700214" y="7454919"/>
            <a:ext cx="4524279" cy="1262851"/>
            <a:chOff x="0" y="0"/>
            <a:chExt cx="6032373" cy="1558542"/>
          </a:xfrm>
        </p:grpSpPr>
        <p:sp>
          <p:nvSpPr>
            <p:cNvPr id="13" name="Freeform 13"/>
            <p:cNvSpPr/>
            <p:nvPr/>
          </p:nvSpPr>
          <p:spPr>
            <a:xfrm>
              <a:off x="3320" y="23912"/>
              <a:ext cx="6019673" cy="1534630"/>
            </a:xfrm>
            <a:custGeom>
              <a:avLst/>
              <a:gdLst/>
              <a:ahLst/>
              <a:cxnLst/>
              <a:rect l="l" t="t" r="r" b="b"/>
              <a:pathLst>
                <a:path w="6019673" h="1534629">
                  <a:moveTo>
                    <a:pt x="0" y="255792"/>
                  </a:moveTo>
                  <a:cubicBezTo>
                    <a:pt x="0" y="114505"/>
                    <a:pt x="122809" y="0"/>
                    <a:pt x="274447" y="0"/>
                  </a:cubicBezTo>
                  <a:lnTo>
                    <a:pt x="5745226" y="0"/>
                  </a:lnTo>
                  <a:cubicBezTo>
                    <a:pt x="5896737" y="0"/>
                    <a:pt x="6019673" y="114505"/>
                    <a:pt x="6019673" y="255792"/>
                  </a:cubicBezTo>
                  <a:lnTo>
                    <a:pt x="6019673" y="1278838"/>
                  </a:lnTo>
                  <a:cubicBezTo>
                    <a:pt x="6019673" y="1420125"/>
                    <a:pt x="5896864" y="1534630"/>
                    <a:pt x="5745226" y="1534630"/>
                  </a:cubicBezTo>
                  <a:lnTo>
                    <a:pt x="274447" y="1534630"/>
                  </a:lnTo>
                  <a:cubicBezTo>
                    <a:pt x="122809" y="1534511"/>
                    <a:pt x="0" y="1420006"/>
                    <a:pt x="0" y="1278839"/>
                  </a:cubicBezTo>
                  <a:close/>
                </a:path>
              </a:pathLst>
            </a:custGeom>
            <a:solidFill>
              <a:srgbClr val="E6F0FF"/>
            </a:solidFill>
          </p:spPr>
          <p:txBody>
            <a:bodyPr/>
            <a:lstStyle/>
            <a:p>
              <a:endParaRPr lang="en-US"/>
            </a:p>
          </p:txBody>
        </p:sp>
        <p:sp>
          <p:nvSpPr>
            <p:cNvPr id="14" name="Freeform 14"/>
            <p:cNvSpPr/>
            <p:nvPr/>
          </p:nvSpPr>
          <p:spPr>
            <a:xfrm>
              <a:off x="0" y="0"/>
              <a:ext cx="6032373" cy="1546536"/>
            </a:xfrm>
            <a:custGeom>
              <a:avLst/>
              <a:gdLst/>
              <a:ahLst/>
              <a:cxnLst/>
              <a:rect l="l" t="t" r="r" b="b"/>
              <a:pathLst>
                <a:path w="6032373" h="1546536">
                  <a:moveTo>
                    <a:pt x="0" y="261743"/>
                  </a:moveTo>
                  <a:cubicBezTo>
                    <a:pt x="0" y="117124"/>
                    <a:pt x="125730" y="0"/>
                    <a:pt x="280797" y="0"/>
                  </a:cubicBezTo>
                  <a:lnTo>
                    <a:pt x="5751576" y="0"/>
                  </a:lnTo>
                  <a:lnTo>
                    <a:pt x="5751576" y="5951"/>
                  </a:lnTo>
                  <a:lnTo>
                    <a:pt x="5751576" y="0"/>
                  </a:lnTo>
                  <a:cubicBezTo>
                    <a:pt x="5906643" y="0"/>
                    <a:pt x="6032373" y="117124"/>
                    <a:pt x="6032373" y="261743"/>
                  </a:cubicBezTo>
                  <a:lnTo>
                    <a:pt x="6026023" y="261743"/>
                  </a:lnTo>
                  <a:lnTo>
                    <a:pt x="6032373" y="261743"/>
                  </a:lnTo>
                  <a:lnTo>
                    <a:pt x="6032373" y="1284789"/>
                  </a:lnTo>
                  <a:lnTo>
                    <a:pt x="6026023" y="1284789"/>
                  </a:lnTo>
                  <a:lnTo>
                    <a:pt x="6032373" y="1284789"/>
                  </a:lnTo>
                  <a:cubicBezTo>
                    <a:pt x="6032373" y="1429409"/>
                    <a:pt x="5906643" y="1546536"/>
                    <a:pt x="5751576" y="1546536"/>
                  </a:cubicBezTo>
                  <a:lnTo>
                    <a:pt x="5751576" y="1540581"/>
                  </a:lnTo>
                  <a:lnTo>
                    <a:pt x="5751576" y="1546536"/>
                  </a:lnTo>
                  <a:lnTo>
                    <a:pt x="280797" y="1546536"/>
                  </a:lnTo>
                  <a:lnTo>
                    <a:pt x="280797" y="1540581"/>
                  </a:lnTo>
                  <a:lnTo>
                    <a:pt x="280797" y="1546536"/>
                  </a:lnTo>
                  <a:cubicBezTo>
                    <a:pt x="125730" y="1546413"/>
                    <a:pt x="0" y="1429290"/>
                    <a:pt x="0" y="1284790"/>
                  </a:cubicBezTo>
                  <a:lnTo>
                    <a:pt x="0" y="261743"/>
                  </a:lnTo>
                  <a:lnTo>
                    <a:pt x="6350" y="261743"/>
                  </a:lnTo>
                  <a:lnTo>
                    <a:pt x="0" y="261743"/>
                  </a:lnTo>
                  <a:moveTo>
                    <a:pt x="12700" y="261743"/>
                  </a:moveTo>
                  <a:lnTo>
                    <a:pt x="12700" y="1284789"/>
                  </a:lnTo>
                  <a:lnTo>
                    <a:pt x="6350" y="1284789"/>
                  </a:lnTo>
                  <a:lnTo>
                    <a:pt x="12700" y="1284789"/>
                  </a:lnTo>
                  <a:cubicBezTo>
                    <a:pt x="12700" y="1422743"/>
                    <a:pt x="132715" y="1534629"/>
                    <a:pt x="280797" y="1534629"/>
                  </a:cubicBezTo>
                  <a:lnTo>
                    <a:pt x="5751576" y="1534629"/>
                  </a:lnTo>
                  <a:cubicBezTo>
                    <a:pt x="5899658" y="1534629"/>
                    <a:pt x="6019673" y="1422743"/>
                    <a:pt x="6019673" y="1284789"/>
                  </a:cubicBezTo>
                  <a:lnTo>
                    <a:pt x="6019673" y="261743"/>
                  </a:lnTo>
                  <a:cubicBezTo>
                    <a:pt x="6019673" y="123789"/>
                    <a:pt x="5899658" y="11903"/>
                    <a:pt x="5751576" y="11903"/>
                  </a:cubicBezTo>
                  <a:lnTo>
                    <a:pt x="280797" y="11903"/>
                  </a:lnTo>
                  <a:lnTo>
                    <a:pt x="280797" y="5951"/>
                  </a:lnTo>
                  <a:lnTo>
                    <a:pt x="280797" y="11903"/>
                  </a:lnTo>
                  <a:cubicBezTo>
                    <a:pt x="132715" y="11903"/>
                    <a:pt x="12700" y="123789"/>
                    <a:pt x="12700" y="261743"/>
                  </a:cubicBezTo>
                  <a:close/>
                </a:path>
              </a:pathLst>
            </a:custGeom>
            <a:solidFill>
              <a:srgbClr val="0066CC"/>
            </a:solidFill>
          </p:spPr>
          <p:txBody>
            <a:bodyPr/>
            <a:lstStyle/>
            <a:p>
              <a:endParaRPr lang="en-US"/>
            </a:p>
          </p:txBody>
        </p:sp>
        <p:sp>
          <p:nvSpPr>
            <p:cNvPr id="15" name="TextBox 15"/>
            <p:cNvSpPr txBox="1"/>
            <p:nvPr/>
          </p:nvSpPr>
          <p:spPr>
            <a:xfrm>
              <a:off x="0" y="12006"/>
              <a:ext cx="6032354" cy="1463153"/>
            </a:xfrm>
            <a:prstGeom prst="rect">
              <a:avLst/>
            </a:prstGeom>
          </p:spPr>
          <p:txBody>
            <a:bodyPr lIns="50800" tIns="50800" rIns="50800" bIns="50800" rtlCol="0" anchor="ctr"/>
            <a:lstStyle/>
            <a:p>
              <a:pPr algn="l">
                <a:lnSpc>
                  <a:spcPts val="3600"/>
                </a:lnSpc>
              </a:pPr>
              <a:r>
                <a:rPr lang="en-US" sz="3000" dirty="0">
                  <a:solidFill>
                    <a:srgbClr val="FFFFFF"/>
                  </a:solidFill>
                  <a:latin typeface="Times New Roman"/>
                  <a:ea typeface="Times New Roman"/>
                  <a:cs typeface="Times New Roman"/>
                  <a:sym typeface="Times New Roman"/>
                </a:rPr>
                <a:t>👤 </a:t>
              </a:r>
              <a:r>
                <a:rPr lang="en-US" sz="3000" dirty="0">
                  <a:solidFill>
                    <a:srgbClr val="000000"/>
                  </a:solidFill>
                  <a:latin typeface="Times New Roman"/>
                  <a:ea typeface="Times New Roman"/>
                  <a:cs typeface="Times New Roman"/>
                  <a:sym typeface="Times New Roman"/>
                </a:rPr>
                <a:t>MD Tanjil Tashrik Zim</a:t>
              </a:r>
            </a:p>
            <a:p>
              <a:pPr algn="l">
                <a:lnSpc>
                  <a:spcPts val="3600"/>
                </a:lnSpc>
              </a:pPr>
              <a:r>
                <a:rPr lang="en-US" sz="3000" dirty="0">
                  <a:solidFill>
                    <a:srgbClr val="000000"/>
                  </a:solidFill>
                  <a:latin typeface="Times New Roman"/>
                  <a:ea typeface="Times New Roman"/>
                  <a:cs typeface="Times New Roman"/>
                  <a:sym typeface="Times New Roman"/>
                </a:rPr>
                <a:t>🆔 22-48021-2</a:t>
              </a:r>
            </a:p>
          </p:txBody>
        </p:sp>
      </p:grpSp>
      <p:grpSp>
        <p:nvGrpSpPr>
          <p:cNvPr id="16" name="Group 16"/>
          <p:cNvGrpSpPr/>
          <p:nvPr/>
        </p:nvGrpSpPr>
        <p:grpSpPr>
          <a:xfrm>
            <a:off x="7102499" y="7399033"/>
            <a:ext cx="3758404" cy="1313877"/>
            <a:chOff x="0" y="-66674"/>
            <a:chExt cx="5011206" cy="1716785"/>
          </a:xfrm>
        </p:grpSpPr>
        <p:sp>
          <p:nvSpPr>
            <p:cNvPr id="17" name="Freeform 17"/>
            <p:cNvSpPr/>
            <p:nvPr/>
          </p:nvSpPr>
          <p:spPr>
            <a:xfrm>
              <a:off x="6350" y="6350"/>
              <a:ext cx="4998466" cy="1637411"/>
            </a:xfrm>
            <a:custGeom>
              <a:avLst/>
              <a:gdLst/>
              <a:ahLst/>
              <a:cxnLst/>
              <a:rect l="l" t="t" r="r" b="b"/>
              <a:pathLst>
                <a:path w="4998466" h="1637411">
                  <a:moveTo>
                    <a:pt x="0" y="272923"/>
                  </a:moveTo>
                  <a:cubicBezTo>
                    <a:pt x="0" y="122174"/>
                    <a:pt x="122809" y="0"/>
                    <a:pt x="274320" y="0"/>
                  </a:cubicBezTo>
                  <a:lnTo>
                    <a:pt x="4724146" y="0"/>
                  </a:lnTo>
                  <a:cubicBezTo>
                    <a:pt x="4875657" y="0"/>
                    <a:pt x="4998466" y="122174"/>
                    <a:pt x="4998466" y="272923"/>
                  </a:cubicBezTo>
                  <a:lnTo>
                    <a:pt x="4998466" y="1364488"/>
                  </a:lnTo>
                  <a:cubicBezTo>
                    <a:pt x="4998466" y="1515237"/>
                    <a:pt x="4875657" y="1637411"/>
                    <a:pt x="4724146" y="1637411"/>
                  </a:cubicBezTo>
                  <a:lnTo>
                    <a:pt x="274320" y="1637411"/>
                  </a:lnTo>
                  <a:cubicBezTo>
                    <a:pt x="122809" y="1637284"/>
                    <a:pt x="0" y="1515110"/>
                    <a:pt x="0" y="1364488"/>
                  </a:cubicBezTo>
                  <a:close/>
                </a:path>
              </a:pathLst>
            </a:custGeom>
            <a:solidFill>
              <a:srgbClr val="E6F0FF"/>
            </a:solidFill>
          </p:spPr>
          <p:txBody>
            <a:bodyPr/>
            <a:lstStyle/>
            <a:p>
              <a:endParaRPr lang="en-US"/>
            </a:p>
          </p:txBody>
        </p:sp>
        <p:sp>
          <p:nvSpPr>
            <p:cNvPr id="18" name="Freeform 18"/>
            <p:cNvSpPr/>
            <p:nvPr/>
          </p:nvSpPr>
          <p:spPr>
            <a:xfrm>
              <a:off x="0" y="0"/>
              <a:ext cx="5011166" cy="1650111"/>
            </a:xfrm>
            <a:custGeom>
              <a:avLst/>
              <a:gdLst/>
              <a:ahLst/>
              <a:cxnLst/>
              <a:rect l="l" t="t" r="r" b="b"/>
              <a:pathLst>
                <a:path w="5011166" h="1650111">
                  <a:moveTo>
                    <a:pt x="0" y="279273"/>
                  </a:moveTo>
                  <a:cubicBezTo>
                    <a:pt x="0" y="124968"/>
                    <a:pt x="125730" y="0"/>
                    <a:pt x="280670" y="0"/>
                  </a:cubicBezTo>
                  <a:lnTo>
                    <a:pt x="4730496" y="0"/>
                  </a:lnTo>
                  <a:lnTo>
                    <a:pt x="4730496" y="6350"/>
                  </a:lnTo>
                  <a:lnTo>
                    <a:pt x="4730496" y="0"/>
                  </a:lnTo>
                  <a:cubicBezTo>
                    <a:pt x="4885436" y="0"/>
                    <a:pt x="5011166" y="124968"/>
                    <a:pt x="5011166" y="279273"/>
                  </a:cubicBezTo>
                  <a:lnTo>
                    <a:pt x="5004816" y="279273"/>
                  </a:lnTo>
                  <a:lnTo>
                    <a:pt x="5011166" y="279273"/>
                  </a:lnTo>
                  <a:lnTo>
                    <a:pt x="5011166" y="1370838"/>
                  </a:lnTo>
                  <a:lnTo>
                    <a:pt x="5004816" y="1370838"/>
                  </a:lnTo>
                  <a:lnTo>
                    <a:pt x="5011166" y="1370838"/>
                  </a:lnTo>
                  <a:cubicBezTo>
                    <a:pt x="5011166" y="1525143"/>
                    <a:pt x="4885436" y="1650111"/>
                    <a:pt x="4730496" y="1650111"/>
                  </a:cubicBezTo>
                  <a:lnTo>
                    <a:pt x="4730496" y="1643761"/>
                  </a:lnTo>
                  <a:lnTo>
                    <a:pt x="4730496" y="1650111"/>
                  </a:lnTo>
                  <a:lnTo>
                    <a:pt x="280670" y="1650111"/>
                  </a:lnTo>
                  <a:lnTo>
                    <a:pt x="280670" y="1643761"/>
                  </a:lnTo>
                  <a:lnTo>
                    <a:pt x="280670" y="1650111"/>
                  </a:lnTo>
                  <a:cubicBezTo>
                    <a:pt x="125730" y="1649984"/>
                    <a:pt x="0" y="1525016"/>
                    <a:pt x="0" y="1370838"/>
                  </a:cubicBezTo>
                  <a:lnTo>
                    <a:pt x="0" y="279273"/>
                  </a:lnTo>
                  <a:lnTo>
                    <a:pt x="6350" y="279273"/>
                  </a:lnTo>
                  <a:lnTo>
                    <a:pt x="0" y="279273"/>
                  </a:lnTo>
                  <a:moveTo>
                    <a:pt x="12700" y="279273"/>
                  </a:moveTo>
                  <a:lnTo>
                    <a:pt x="12700" y="1370838"/>
                  </a:lnTo>
                  <a:lnTo>
                    <a:pt x="6350" y="1370838"/>
                  </a:lnTo>
                  <a:lnTo>
                    <a:pt x="12700" y="1370838"/>
                  </a:lnTo>
                  <a:cubicBezTo>
                    <a:pt x="12700" y="1518031"/>
                    <a:pt x="132588" y="1637411"/>
                    <a:pt x="280670" y="1637411"/>
                  </a:cubicBezTo>
                  <a:lnTo>
                    <a:pt x="4730496" y="1637411"/>
                  </a:lnTo>
                  <a:cubicBezTo>
                    <a:pt x="4878578" y="1637411"/>
                    <a:pt x="4998466" y="1518031"/>
                    <a:pt x="4998466" y="1370838"/>
                  </a:cubicBezTo>
                  <a:lnTo>
                    <a:pt x="4998466" y="279273"/>
                  </a:lnTo>
                  <a:cubicBezTo>
                    <a:pt x="4998466" y="132080"/>
                    <a:pt x="4878578" y="12700"/>
                    <a:pt x="4730496" y="12700"/>
                  </a:cubicBezTo>
                  <a:lnTo>
                    <a:pt x="280670" y="12700"/>
                  </a:lnTo>
                  <a:lnTo>
                    <a:pt x="280670" y="6350"/>
                  </a:lnTo>
                  <a:lnTo>
                    <a:pt x="280670" y="12700"/>
                  </a:lnTo>
                  <a:cubicBezTo>
                    <a:pt x="132588" y="12700"/>
                    <a:pt x="12700" y="132080"/>
                    <a:pt x="12700" y="279273"/>
                  </a:cubicBezTo>
                  <a:close/>
                </a:path>
              </a:pathLst>
            </a:custGeom>
            <a:solidFill>
              <a:srgbClr val="0066CC"/>
            </a:solidFill>
          </p:spPr>
          <p:txBody>
            <a:bodyPr/>
            <a:lstStyle/>
            <a:p>
              <a:endParaRPr lang="en-US"/>
            </a:p>
          </p:txBody>
        </p:sp>
        <p:sp>
          <p:nvSpPr>
            <p:cNvPr id="19" name="TextBox 19"/>
            <p:cNvSpPr txBox="1"/>
            <p:nvPr/>
          </p:nvSpPr>
          <p:spPr>
            <a:xfrm>
              <a:off x="0" y="-66674"/>
              <a:ext cx="5011206" cy="1716719"/>
            </a:xfrm>
            <a:prstGeom prst="rect">
              <a:avLst/>
            </a:prstGeom>
          </p:spPr>
          <p:txBody>
            <a:bodyPr lIns="50800" tIns="50800" rIns="50800" bIns="50800" rtlCol="0" anchor="ctr"/>
            <a:lstStyle/>
            <a:p>
              <a:pPr algn="l">
                <a:lnSpc>
                  <a:spcPts val="3600"/>
                </a:lnSpc>
              </a:pPr>
              <a:r>
                <a:rPr lang="en-US" sz="3000" dirty="0">
                  <a:solidFill>
                    <a:srgbClr val="000000"/>
                  </a:solidFill>
                  <a:latin typeface="Times New Roman"/>
                  <a:ea typeface="Times New Roman"/>
                  <a:cs typeface="Times New Roman"/>
                  <a:sym typeface="Times New Roman"/>
                </a:rPr>
                <a:t>👤 S.M Rasel</a:t>
              </a:r>
            </a:p>
            <a:p>
              <a:pPr algn="l">
                <a:lnSpc>
                  <a:spcPts val="3600"/>
                </a:lnSpc>
              </a:pPr>
              <a:r>
                <a:rPr lang="en-US" sz="3000" dirty="0">
                  <a:solidFill>
                    <a:srgbClr val="000000"/>
                  </a:solidFill>
                  <a:latin typeface="Times New Roman"/>
                  <a:ea typeface="Times New Roman"/>
                  <a:cs typeface="Times New Roman"/>
                  <a:sym typeface="Times New Roman"/>
                </a:rPr>
                <a:t>🆔 23-48039-2</a:t>
              </a:r>
            </a:p>
          </p:txBody>
        </p:sp>
      </p:grpSp>
      <p:grpSp>
        <p:nvGrpSpPr>
          <p:cNvPr id="24" name="Group 24"/>
          <p:cNvGrpSpPr/>
          <p:nvPr/>
        </p:nvGrpSpPr>
        <p:grpSpPr>
          <a:xfrm>
            <a:off x="2986553" y="8587949"/>
            <a:ext cx="4711065" cy="1493314"/>
            <a:chOff x="0" y="-434616"/>
            <a:chExt cx="6281420" cy="2129110"/>
          </a:xfrm>
        </p:grpSpPr>
        <p:sp>
          <p:nvSpPr>
            <p:cNvPr id="25" name="Freeform 25"/>
            <p:cNvSpPr/>
            <p:nvPr/>
          </p:nvSpPr>
          <p:spPr>
            <a:xfrm>
              <a:off x="6350" y="5338"/>
              <a:ext cx="6268720" cy="1683811"/>
            </a:xfrm>
            <a:custGeom>
              <a:avLst/>
              <a:gdLst/>
              <a:ahLst/>
              <a:cxnLst/>
              <a:rect l="l" t="t" r="r" b="b"/>
              <a:pathLst>
                <a:path w="6268720" h="1683811">
                  <a:moveTo>
                    <a:pt x="0" y="280653"/>
                  </a:moveTo>
                  <a:cubicBezTo>
                    <a:pt x="0" y="125648"/>
                    <a:pt x="150114" y="0"/>
                    <a:pt x="335280" y="0"/>
                  </a:cubicBezTo>
                  <a:lnTo>
                    <a:pt x="5933440" y="0"/>
                  </a:lnTo>
                  <a:cubicBezTo>
                    <a:pt x="6118606" y="0"/>
                    <a:pt x="6268720" y="125648"/>
                    <a:pt x="6268720" y="280653"/>
                  </a:cubicBezTo>
                  <a:lnTo>
                    <a:pt x="6268720" y="1403158"/>
                  </a:lnTo>
                  <a:cubicBezTo>
                    <a:pt x="6268720" y="1558163"/>
                    <a:pt x="6118606" y="1683811"/>
                    <a:pt x="5933440" y="1683811"/>
                  </a:cubicBezTo>
                  <a:lnTo>
                    <a:pt x="335280" y="1683811"/>
                  </a:lnTo>
                  <a:cubicBezTo>
                    <a:pt x="150114" y="1683811"/>
                    <a:pt x="0" y="1558163"/>
                    <a:pt x="0" y="1403158"/>
                  </a:cubicBezTo>
                  <a:close/>
                </a:path>
              </a:pathLst>
            </a:custGeom>
            <a:solidFill>
              <a:srgbClr val="E6F0FF"/>
            </a:solidFill>
          </p:spPr>
          <p:txBody>
            <a:bodyPr/>
            <a:lstStyle/>
            <a:p>
              <a:endParaRPr lang="en-US"/>
            </a:p>
          </p:txBody>
        </p:sp>
        <p:sp>
          <p:nvSpPr>
            <p:cNvPr id="26" name="Freeform 26"/>
            <p:cNvSpPr/>
            <p:nvPr/>
          </p:nvSpPr>
          <p:spPr>
            <a:xfrm>
              <a:off x="0" y="0"/>
              <a:ext cx="6281420" cy="1694486"/>
            </a:xfrm>
            <a:custGeom>
              <a:avLst/>
              <a:gdLst/>
              <a:ahLst/>
              <a:cxnLst/>
              <a:rect l="l" t="t" r="r" b="b"/>
              <a:pathLst>
                <a:path w="6281420" h="1694486">
                  <a:moveTo>
                    <a:pt x="0" y="285991"/>
                  </a:moveTo>
                  <a:cubicBezTo>
                    <a:pt x="0" y="127997"/>
                    <a:pt x="153035" y="0"/>
                    <a:pt x="341630" y="0"/>
                  </a:cubicBezTo>
                  <a:lnTo>
                    <a:pt x="5939790" y="0"/>
                  </a:lnTo>
                  <a:lnTo>
                    <a:pt x="5939790" y="5338"/>
                  </a:lnTo>
                  <a:lnTo>
                    <a:pt x="5939790" y="0"/>
                  </a:lnTo>
                  <a:cubicBezTo>
                    <a:pt x="6128512" y="0"/>
                    <a:pt x="6281420" y="127997"/>
                    <a:pt x="6281420" y="285991"/>
                  </a:cubicBezTo>
                  <a:lnTo>
                    <a:pt x="6275070" y="285991"/>
                  </a:lnTo>
                  <a:lnTo>
                    <a:pt x="6281420" y="285991"/>
                  </a:lnTo>
                  <a:lnTo>
                    <a:pt x="6281420" y="1408496"/>
                  </a:lnTo>
                  <a:lnTo>
                    <a:pt x="6275070" y="1408496"/>
                  </a:lnTo>
                  <a:lnTo>
                    <a:pt x="6281420" y="1408496"/>
                  </a:lnTo>
                  <a:cubicBezTo>
                    <a:pt x="6281420" y="1566490"/>
                    <a:pt x="6128385" y="1694486"/>
                    <a:pt x="5939790" y="1694486"/>
                  </a:cubicBezTo>
                  <a:lnTo>
                    <a:pt x="5939790" y="1689149"/>
                  </a:lnTo>
                  <a:lnTo>
                    <a:pt x="5939790" y="1694486"/>
                  </a:lnTo>
                  <a:lnTo>
                    <a:pt x="341630" y="1694486"/>
                  </a:lnTo>
                  <a:lnTo>
                    <a:pt x="341630" y="1689149"/>
                  </a:lnTo>
                  <a:lnTo>
                    <a:pt x="341630" y="1694486"/>
                  </a:lnTo>
                  <a:cubicBezTo>
                    <a:pt x="153035" y="1694486"/>
                    <a:pt x="0" y="1566490"/>
                    <a:pt x="0" y="1408496"/>
                  </a:cubicBezTo>
                  <a:lnTo>
                    <a:pt x="0" y="285991"/>
                  </a:lnTo>
                  <a:lnTo>
                    <a:pt x="6350" y="285991"/>
                  </a:lnTo>
                  <a:lnTo>
                    <a:pt x="0" y="285991"/>
                  </a:lnTo>
                  <a:moveTo>
                    <a:pt x="12700" y="285991"/>
                  </a:moveTo>
                  <a:lnTo>
                    <a:pt x="12700" y="1408496"/>
                  </a:lnTo>
                  <a:lnTo>
                    <a:pt x="6350" y="1408496"/>
                  </a:lnTo>
                  <a:lnTo>
                    <a:pt x="12700" y="1408496"/>
                  </a:lnTo>
                  <a:cubicBezTo>
                    <a:pt x="12700" y="1560512"/>
                    <a:pt x="159893" y="1683811"/>
                    <a:pt x="341630" y="1683811"/>
                  </a:cubicBezTo>
                  <a:lnTo>
                    <a:pt x="5939790" y="1683811"/>
                  </a:lnTo>
                  <a:cubicBezTo>
                    <a:pt x="6121527" y="1683811"/>
                    <a:pt x="6268720" y="1560512"/>
                    <a:pt x="6268720" y="1408496"/>
                  </a:cubicBezTo>
                  <a:lnTo>
                    <a:pt x="6268720" y="285991"/>
                  </a:lnTo>
                  <a:cubicBezTo>
                    <a:pt x="6268720" y="133975"/>
                    <a:pt x="6121400" y="10675"/>
                    <a:pt x="5939790" y="10675"/>
                  </a:cubicBezTo>
                  <a:lnTo>
                    <a:pt x="341630" y="10675"/>
                  </a:lnTo>
                  <a:lnTo>
                    <a:pt x="341630" y="5338"/>
                  </a:lnTo>
                  <a:lnTo>
                    <a:pt x="341630" y="10675"/>
                  </a:lnTo>
                  <a:cubicBezTo>
                    <a:pt x="159893" y="10675"/>
                    <a:pt x="12700" y="133975"/>
                    <a:pt x="12700" y="285991"/>
                  </a:cubicBezTo>
                  <a:close/>
                </a:path>
              </a:pathLst>
            </a:custGeom>
            <a:solidFill>
              <a:srgbClr val="0066CC"/>
            </a:solidFill>
          </p:spPr>
          <p:txBody>
            <a:bodyPr/>
            <a:lstStyle/>
            <a:p>
              <a:endParaRPr lang="en-US"/>
            </a:p>
          </p:txBody>
        </p:sp>
        <p:sp>
          <p:nvSpPr>
            <p:cNvPr id="27" name="TextBox 27"/>
            <p:cNvSpPr txBox="1"/>
            <p:nvPr/>
          </p:nvSpPr>
          <p:spPr>
            <a:xfrm>
              <a:off x="0" y="-434616"/>
              <a:ext cx="6281400" cy="2129110"/>
            </a:xfrm>
            <a:prstGeom prst="rect">
              <a:avLst/>
            </a:prstGeom>
          </p:spPr>
          <p:txBody>
            <a:bodyPr lIns="50800" tIns="50800" rIns="50800" bIns="50800" rtlCol="0" anchor="ctr"/>
            <a:lstStyle/>
            <a:p>
              <a:pPr algn="l">
                <a:lnSpc>
                  <a:spcPts val="3600"/>
                </a:lnSpc>
              </a:pPr>
              <a:r>
                <a:rPr lang="en-US" sz="3000" dirty="0">
                  <a:solidFill>
                    <a:srgbClr val="FFFFFF"/>
                  </a:solidFill>
                  <a:latin typeface="Times New Roman"/>
                  <a:ea typeface="Times New Roman"/>
                  <a:cs typeface="Times New Roman"/>
                  <a:sym typeface="Times New Roman"/>
                </a:rPr>
                <a:t>👤 </a:t>
              </a:r>
              <a:r>
                <a:rPr lang="en-US" sz="3000" dirty="0">
                  <a:solidFill>
                    <a:srgbClr val="000000"/>
                  </a:solidFill>
                  <a:latin typeface="Times New Roman"/>
                  <a:ea typeface="Times New Roman"/>
                  <a:cs typeface="Times New Roman"/>
                  <a:sym typeface="Times New Roman"/>
                </a:rPr>
                <a:t>Nafis Imtiaz Nur</a:t>
              </a:r>
            </a:p>
            <a:p>
              <a:pPr algn="l">
                <a:lnSpc>
                  <a:spcPts val="3600"/>
                </a:lnSpc>
              </a:pPr>
              <a:r>
                <a:rPr lang="en-US" sz="3000" dirty="0">
                  <a:solidFill>
                    <a:srgbClr val="000000"/>
                  </a:solidFill>
                  <a:latin typeface="Times New Roman"/>
                  <a:ea typeface="Times New Roman"/>
                  <a:cs typeface="Times New Roman"/>
                  <a:sym typeface="Times New Roman"/>
                </a:rPr>
                <a:t>🆔 22-48835-3</a:t>
              </a:r>
            </a:p>
          </p:txBody>
        </p:sp>
      </p:grpSp>
      <p:grpSp>
        <p:nvGrpSpPr>
          <p:cNvPr id="32" name="Group 32"/>
          <p:cNvGrpSpPr/>
          <p:nvPr/>
        </p:nvGrpSpPr>
        <p:grpSpPr>
          <a:xfrm>
            <a:off x="5861433" y="5870321"/>
            <a:ext cx="5927923" cy="1258485"/>
            <a:chOff x="-442371" y="-85725"/>
            <a:chExt cx="7903897" cy="1677980"/>
          </a:xfrm>
        </p:grpSpPr>
        <p:sp>
          <p:nvSpPr>
            <p:cNvPr id="33" name="Freeform 33"/>
            <p:cNvSpPr/>
            <p:nvPr/>
          </p:nvSpPr>
          <p:spPr>
            <a:xfrm>
              <a:off x="-442371" y="66675"/>
              <a:ext cx="7461526" cy="1525580"/>
            </a:xfrm>
            <a:custGeom>
              <a:avLst/>
              <a:gdLst/>
              <a:ahLst/>
              <a:cxnLst/>
              <a:rect l="l" t="t" r="r" b="b"/>
              <a:pathLst>
                <a:path w="7461526" h="1525580">
                  <a:moveTo>
                    <a:pt x="0" y="0"/>
                  </a:moveTo>
                  <a:lnTo>
                    <a:pt x="7461526" y="0"/>
                  </a:lnTo>
                  <a:lnTo>
                    <a:pt x="7461526" y="1525580"/>
                  </a:lnTo>
                  <a:lnTo>
                    <a:pt x="0" y="15255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dirty="0"/>
            </a:p>
          </p:txBody>
        </p:sp>
        <p:sp>
          <p:nvSpPr>
            <p:cNvPr id="36" name="TextBox 36"/>
            <p:cNvSpPr txBox="1"/>
            <p:nvPr/>
          </p:nvSpPr>
          <p:spPr>
            <a:xfrm>
              <a:off x="0" y="-85725"/>
              <a:ext cx="7461526" cy="1611305"/>
            </a:xfrm>
            <a:prstGeom prst="rect">
              <a:avLst/>
            </a:prstGeom>
          </p:spPr>
          <p:txBody>
            <a:bodyPr lIns="0" tIns="0" rIns="0" bIns="0" rtlCol="0" anchor="ctr"/>
            <a:lstStyle/>
            <a:p>
              <a:pPr algn="ctr">
                <a:lnSpc>
                  <a:spcPts val="5040"/>
                </a:lnSpc>
              </a:pPr>
              <a:r>
                <a:rPr lang="en-US" sz="4200" b="1" dirty="0">
                  <a:solidFill>
                    <a:srgbClr val="000000"/>
                  </a:solidFill>
                  <a:latin typeface="Times New Roman Bold"/>
                  <a:ea typeface="Times New Roman Bold"/>
                  <a:cs typeface="Times New Roman Bold"/>
                  <a:sym typeface="Times New Roman Bold"/>
                </a:rPr>
                <a:t>Group Members</a:t>
              </a:r>
            </a:p>
          </p:txBody>
        </p:sp>
      </p:grpSp>
      <p:grpSp>
        <p:nvGrpSpPr>
          <p:cNvPr id="37" name="Group 37"/>
          <p:cNvGrpSpPr/>
          <p:nvPr/>
        </p:nvGrpSpPr>
        <p:grpSpPr>
          <a:xfrm>
            <a:off x="5354269" y="4485630"/>
            <a:ext cx="7599731" cy="1508946"/>
            <a:chOff x="0" y="-95250"/>
            <a:chExt cx="9843076" cy="1754319"/>
          </a:xfrm>
        </p:grpSpPr>
        <p:sp>
          <p:nvSpPr>
            <p:cNvPr id="38" name="Freeform 38"/>
            <p:cNvSpPr/>
            <p:nvPr/>
          </p:nvSpPr>
          <p:spPr>
            <a:xfrm>
              <a:off x="12700" y="-8279"/>
              <a:ext cx="9817608" cy="1637116"/>
            </a:xfrm>
            <a:custGeom>
              <a:avLst/>
              <a:gdLst/>
              <a:ahLst/>
              <a:cxnLst/>
              <a:rect l="l" t="t" r="r" b="b"/>
              <a:pathLst>
                <a:path w="9817608" h="1637116">
                  <a:moveTo>
                    <a:pt x="0" y="272889"/>
                  </a:moveTo>
                  <a:cubicBezTo>
                    <a:pt x="0" y="122186"/>
                    <a:pt x="143002" y="0"/>
                    <a:pt x="319278" y="0"/>
                  </a:cubicBezTo>
                  <a:lnTo>
                    <a:pt x="9498330" y="0"/>
                  </a:lnTo>
                  <a:cubicBezTo>
                    <a:pt x="9674733" y="0"/>
                    <a:pt x="9817608" y="122186"/>
                    <a:pt x="9817608" y="272889"/>
                  </a:cubicBezTo>
                  <a:lnTo>
                    <a:pt x="9817608" y="1364227"/>
                  </a:lnTo>
                  <a:cubicBezTo>
                    <a:pt x="9817608" y="1514930"/>
                    <a:pt x="9674606" y="1637116"/>
                    <a:pt x="9498330" y="1637116"/>
                  </a:cubicBezTo>
                  <a:lnTo>
                    <a:pt x="319278" y="1637116"/>
                  </a:lnTo>
                  <a:cubicBezTo>
                    <a:pt x="143002" y="1637006"/>
                    <a:pt x="0" y="1514821"/>
                    <a:pt x="0" y="1364117"/>
                  </a:cubicBezTo>
                  <a:close/>
                </a:path>
              </a:pathLst>
            </a:custGeom>
            <a:solidFill>
              <a:srgbClr val="65B2BE"/>
            </a:solidFill>
          </p:spPr>
          <p:txBody>
            <a:bodyPr/>
            <a:lstStyle/>
            <a:p>
              <a:endParaRPr lang="en-US" dirty="0"/>
            </a:p>
          </p:txBody>
        </p:sp>
        <p:sp>
          <p:nvSpPr>
            <p:cNvPr id="39" name="Freeform 39"/>
            <p:cNvSpPr/>
            <p:nvPr/>
          </p:nvSpPr>
          <p:spPr>
            <a:xfrm>
              <a:off x="0" y="0"/>
              <a:ext cx="9843008" cy="1659069"/>
            </a:xfrm>
            <a:custGeom>
              <a:avLst/>
              <a:gdLst/>
              <a:ahLst/>
              <a:cxnLst/>
              <a:rect l="l" t="t" r="r" b="b"/>
              <a:pathLst>
                <a:path w="9843008" h="1659069">
                  <a:moveTo>
                    <a:pt x="0" y="283857"/>
                  </a:moveTo>
                  <a:cubicBezTo>
                    <a:pt x="0" y="126902"/>
                    <a:pt x="148844" y="0"/>
                    <a:pt x="331978" y="0"/>
                  </a:cubicBezTo>
                  <a:lnTo>
                    <a:pt x="9511030" y="0"/>
                  </a:lnTo>
                  <a:lnTo>
                    <a:pt x="9511030" y="10968"/>
                  </a:lnTo>
                  <a:lnTo>
                    <a:pt x="9511030" y="0"/>
                  </a:lnTo>
                  <a:cubicBezTo>
                    <a:pt x="9694291" y="0"/>
                    <a:pt x="9843008" y="126902"/>
                    <a:pt x="9843008" y="283857"/>
                  </a:cubicBezTo>
                  <a:lnTo>
                    <a:pt x="9830308" y="283857"/>
                  </a:lnTo>
                  <a:lnTo>
                    <a:pt x="9843008" y="283857"/>
                  </a:lnTo>
                  <a:lnTo>
                    <a:pt x="9843008" y="1375195"/>
                  </a:lnTo>
                  <a:lnTo>
                    <a:pt x="9830308" y="1375195"/>
                  </a:lnTo>
                  <a:lnTo>
                    <a:pt x="9843008" y="1375195"/>
                  </a:lnTo>
                  <a:cubicBezTo>
                    <a:pt x="9843008" y="1532040"/>
                    <a:pt x="9694164" y="1659069"/>
                    <a:pt x="9511030" y="1659069"/>
                  </a:cubicBezTo>
                  <a:lnTo>
                    <a:pt x="9511030" y="1648084"/>
                  </a:lnTo>
                  <a:lnTo>
                    <a:pt x="9511030" y="1659069"/>
                  </a:lnTo>
                  <a:lnTo>
                    <a:pt x="331978" y="1659069"/>
                  </a:lnTo>
                  <a:lnTo>
                    <a:pt x="331978" y="1648084"/>
                  </a:lnTo>
                  <a:lnTo>
                    <a:pt x="331978" y="1659069"/>
                  </a:lnTo>
                  <a:cubicBezTo>
                    <a:pt x="148844" y="1658943"/>
                    <a:pt x="0" y="1532040"/>
                    <a:pt x="0" y="1375085"/>
                  </a:cubicBezTo>
                  <a:lnTo>
                    <a:pt x="0" y="283857"/>
                  </a:lnTo>
                  <a:lnTo>
                    <a:pt x="12700" y="283857"/>
                  </a:lnTo>
                  <a:lnTo>
                    <a:pt x="0" y="283857"/>
                  </a:lnTo>
                  <a:moveTo>
                    <a:pt x="25400" y="283857"/>
                  </a:moveTo>
                  <a:lnTo>
                    <a:pt x="25400" y="1375195"/>
                  </a:lnTo>
                  <a:lnTo>
                    <a:pt x="12700" y="1375195"/>
                  </a:lnTo>
                  <a:lnTo>
                    <a:pt x="25400" y="1375195"/>
                  </a:lnTo>
                  <a:cubicBezTo>
                    <a:pt x="25400" y="1519756"/>
                    <a:pt x="162560" y="1637116"/>
                    <a:pt x="331978" y="1637116"/>
                  </a:cubicBezTo>
                  <a:lnTo>
                    <a:pt x="9511030" y="1637116"/>
                  </a:lnTo>
                  <a:cubicBezTo>
                    <a:pt x="9680449" y="1637116"/>
                    <a:pt x="9817608" y="1519756"/>
                    <a:pt x="9817608" y="1375195"/>
                  </a:cubicBezTo>
                  <a:lnTo>
                    <a:pt x="9817608" y="283857"/>
                  </a:lnTo>
                  <a:cubicBezTo>
                    <a:pt x="9817735" y="139296"/>
                    <a:pt x="9680575" y="21936"/>
                    <a:pt x="9511030" y="21936"/>
                  </a:cubicBezTo>
                  <a:lnTo>
                    <a:pt x="331978" y="21936"/>
                  </a:lnTo>
                  <a:lnTo>
                    <a:pt x="331978" y="10968"/>
                  </a:lnTo>
                  <a:lnTo>
                    <a:pt x="331978" y="21936"/>
                  </a:lnTo>
                  <a:cubicBezTo>
                    <a:pt x="162560" y="21936"/>
                    <a:pt x="25400" y="139296"/>
                    <a:pt x="25400" y="283857"/>
                  </a:cubicBezTo>
                  <a:close/>
                </a:path>
              </a:pathLst>
            </a:custGeom>
            <a:solidFill>
              <a:srgbClr val="224B51"/>
            </a:solidFill>
          </p:spPr>
          <p:txBody>
            <a:bodyPr/>
            <a:lstStyle/>
            <a:p>
              <a:endParaRPr lang="en-US"/>
            </a:p>
          </p:txBody>
        </p:sp>
        <p:sp>
          <p:nvSpPr>
            <p:cNvPr id="40" name="TextBox 40"/>
            <p:cNvSpPr txBox="1"/>
            <p:nvPr/>
          </p:nvSpPr>
          <p:spPr>
            <a:xfrm>
              <a:off x="0" y="-95250"/>
              <a:ext cx="9843076" cy="1754197"/>
            </a:xfrm>
            <a:prstGeom prst="rect">
              <a:avLst/>
            </a:prstGeom>
          </p:spPr>
          <p:txBody>
            <a:bodyPr lIns="50800" tIns="50800" rIns="50800" bIns="50800" rtlCol="0" anchor="ctr"/>
            <a:lstStyle/>
            <a:p>
              <a:pPr algn="ctr">
                <a:lnSpc>
                  <a:spcPts val="5759"/>
                </a:lnSpc>
              </a:pPr>
              <a:r>
                <a:rPr kumimoji="0" lang="en-US" sz="5399" b="1" i="0" u="none" strike="noStrike" kern="1200" cap="none" spc="0" normalizeH="0" baseline="0" noProof="0" dirty="0">
                  <a:ln>
                    <a:noFill/>
                  </a:ln>
                  <a:solidFill>
                    <a:srgbClr val="000000"/>
                  </a:solidFill>
                  <a:effectLst/>
                  <a:uLnTx/>
                  <a:uFillTx/>
                  <a:latin typeface="Times New Roman Bold"/>
                  <a:ea typeface="Times New Roman Bold"/>
                  <a:cs typeface="Times New Roman Bold"/>
                  <a:sym typeface="Times New Roman Bold"/>
                </a:rPr>
                <a:t>Ethical Considerations in User Privacy</a:t>
              </a:r>
              <a:endParaRPr lang="en-US" sz="4800" b="1" dirty="0">
                <a:solidFill>
                  <a:srgbClr val="0D0D0D"/>
                </a:solidFill>
                <a:latin typeface="Times New Roman Bold"/>
                <a:ea typeface="Times New Roman Bold"/>
                <a:cs typeface="Times New Roman Bold"/>
                <a:sym typeface="Times New Roman Bold"/>
              </a:endParaRPr>
            </a:p>
          </p:txBody>
        </p:sp>
      </p:grpSp>
      <p:sp>
        <p:nvSpPr>
          <p:cNvPr id="41" name="Freeform 41" descr="Profile for American International ..."/>
          <p:cNvSpPr/>
          <p:nvPr/>
        </p:nvSpPr>
        <p:spPr>
          <a:xfrm>
            <a:off x="308464" y="172992"/>
            <a:ext cx="1508764" cy="1488280"/>
          </a:xfrm>
          <a:custGeom>
            <a:avLst/>
            <a:gdLst/>
            <a:ahLst/>
            <a:cxnLst/>
            <a:rect l="l" t="t" r="r" b="b"/>
            <a:pathLst>
              <a:path w="1508764" h="1488280">
                <a:moveTo>
                  <a:pt x="0" y="0"/>
                </a:moveTo>
                <a:lnTo>
                  <a:pt x="1508764" y="0"/>
                </a:lnTo>
                <a:lnTo>
                  <a:pt x="1508764" y="1488280"/>
                </a:lnTo>
                <a:lnTo>
                  <a:pt x="0" y="1488280"/>
                </a:lnTo>
                <a:lnTo>
                  <a:pt x="0" y="0"/>
                </a:lnTo>
                <a:close/>
              </a:path>
            </a:pathLst>
          </a:custGeom>
          <a:blipFill>
            <a:blip r:embed="rId9"/>
            <a:stretch>
              <a:fillRect b="-1376"/>
            </a:stretch>
          </a:blipFill>
        </p:spPr>
        <p:txBody>
          <a:bodyPr/>
          <a:lstStyle/>
          <a:p>
            <a:endParaRPr lang="en-US"/>
          </a:p>
        </p:txBody>
      </p:sp>
      <p:sp>
        <p:nvSpPr>
          <p:cNvPr id="44" name="TextBox 44"/>
          <p:cNvSpPr txBox="1"/>
          <p:nvPr/>
        </p:nvSpPr>
        <p:spPr>
          <a:xfrm>
            <a:off x="6418275" y="2546250"/>
            <a:ext cx="9181320" cy="596862"/>
          </a:xfrm>
          <a:prstGeom prst="rect">
            <a:avLst/>
          </a:prstGeom>
        </p:spPr>
        <p:txBody>
          <a:bodyPr lIns="0" tIns="0" rIns="0" bIns="0" rtlCol="0" anchor="t"/>
          <a:lstStyle/>
          <a:p>
            <a:pPr algn="l">
              <a:lnSpc>
                <a:spcPts val="3240"/>
              </a:lnSpc>
            </a:pPr>
            <a:r>
              <a:rPr lang="en-US" sz="2700" dirty="0">
                <a:solidFill>
                  <a:srgbClr val="000000"/>
                </a:solidFill>
                <a:latin typeface="Times New Roman"/>
                <a:ea typeface="Times New Roman"/>
                <a:cs typeface="Times New Roman"/>
                <a:sym typeface="Times New Roman"/>
              </a:rPr>
              <a:t>Section: [I]          Group: 04</a:t>
            </a:r>
          </a:p>
        </p:txBody>
      </p:sp>
      <p:sp>
        <p:nvSpPr>
          <p:cNvPr id="47" name="TextBox 47"/>
          <p:cNvSpPr txBox="1"/>
          <p:nvPr/>
        </p:nvSpPr>
        <p:spPr>
          <a:xfrm>
            <a:off x="4573509" y="1386431"/>
            <a:ext cx="7974956" cy="1303645"/>
          </a:xfrm>
          <a:prstGeom prst="rect">
            <a:avLst/>
          </a:prstGeom>
        </p:spPr>
        <p:txBody>
          <a:bodyPr lIns="0" tIns="0" rIns="0" bIns="0" rtlCol="0" anchor="t"/>
          <a:lstStyle/>
          <a:p>
            <a:pPr algn="ctr">
              <a:lnSpc>
                <a:spcPts val="4320"/>
              </a:lnSpc>
            </a:pPr>
            <a:r>
              <a:rPr lang="en-US" sz="3600" dirty="0">
                <a:solidFill>
                  <a:srgbClr val="000000"/>
                </a:solidFill>
                <a:latin typeface="Times New Roman"/>
                <a:ea typeface="Times New Roman"/>
                <a:cs typeface="Times New Roman"/>
                <a:sym typeface="Times New Roman"/>
              </a:rPr>
              <a:t>Engineering Ethics</a:t>
            </a:r>
          </a:p>
          <a:p>
            <a:pPr algn="ctr">
              <a:lnSpc>
                <a:spcPts val="4320"/>
              </a:lnSpc>
            </a:pPr>
            <a:r>
              <a:rPr lang="en-US" sz="3600" dirty="0">
                <a:solidFill>
                  <a:srgbClr val="000000"/>
                </a:solidFill>
                <a:latin typeface="Times New Roman"/>
                <a:ea typeface="Times New Roman"/>
                <a:cs typeface="Times New Roman"/>
                <a:sym typeface="Times New Roman"/>
              </a:rPr>
              <a:t> Presentation </a:t>
            </a:r>
          </a:p>
        </p:txBody>
      </p:sp>
      <p:sp>
        <p:nvSpPr>
          <p:cNvPr id="48" name="TextBox 48"/>
          <p:cNvSpPr txBox="1"/>
          <p:nvPr/>
        </p:nvSpPr>
        <p:spPr>
          <a:xfrm>
            <a:off x="6858899" y="3111197"/>
            <a:ext cx="3932992" cy="1424236"/>
          </a:xfrm>
          <a:prstGeom prst="rect">
            <a:avLst/>
          </a:prstGeom>
        </p:spPr>
        <p:txBody>
          <a:bodyPr lIns="0" tIns="0" rIns="0" bIns="0" rtlCol="0" anchor="t">
            <a:spAutoFit/>
          </a:bodyPr>
          <a:lstStyle/>
          <a:p>
            <a:pPr algn="ctr">
              <a:lnSpc>
                <a:spcPts val="3839"/>
              </a:lnSpc>
              <a:spcBef>
                <a:spcPct val="0"/>
              </a:spcBef>
            </a:pPr>
            <a:r>
              <a:rPr lang="en-US" sz="2800" dirty="0">
                <a:solidFill>
                  <a:srgbClr val="000000"/>
                </a:solidFill>
                <a:latin typeface="Times New Roman"/>
                <a:ea typeface="Times New Roman"/>
                <a:cs typeface="Times New Roman"/>
                <a:sym typeface="Times New Roman"/>
              </a:rPr>
              <a:t>Supervised By: </a:t>
            </a:r>
          </a:p>
          <a:p>
            <a:pPr algn="ctr">
              <a:lnSpc>
                <a:spcPts val="3839"/>
              </a:lnSpc>
              <a:spcBef>
                <a:spcPct val="0"/>
              </a:spcBef>
            </a:pPr>
            <a:r>
              <a:rPr lang="en-US" sz="2800" b="1" i="0" dirty="0">
                <a:solidFill>
                  <a:srgbClr val="000000"/>
                </a:solidFill>
                <a:effectLst/>
                <a:latin typeface="SourceSansPro"/>
              </a:rPr>
              <a:t>ABU SHUFIAN</a:t>
            </a:r>
            <a:endParaRPr lang="en-US" sz="2800" b="1" dirty="0">
              <a:solidFill>
                <a:srgbClr val="000000"/>
              </a:solidFill>
              <a:latin typeface="Times New Roman Bold"/>
              <a:ea typeface="Times New Roman Bold"/>
              <a:cs typeface="Times New Roman Bold"/>
              <a:sym typeface="Times New Roman Bold"/>
            </a:endParaRPr>
          </a:p>
          <a:p>
            <a:pPr algn="ctr">
              <a:lnSpc>
                <a:spcPts val="3839"/>
              </a:lnSpc>
              <a:spcBef>
                <a:spcPct val="0"/>
              </a:spcBef>
            </a:pPr>
            <a:endParaRPr lang="en-US" sz="2800" dirty="0">
              <a:solidFill>
                <a:srgbClr val="000000"/>
              </a:solidFill>
              <a:latin typeface="Times New Roman"/>
              <a:ea typeface="Times New Roman"/>
              <a:cs typeface="Times New Roman"/>
              <a:sym typeface="Times New Roman"/>
            </a:endParaRPr>
          </a:p>
        </p:txBody>
      </p:sp>
      <p:sp>
        <p:nvSpPr>
          <p:cNvPr id="55" name="Rounded Rectangle 6">
            <a:extLst>
              <a:ext uri="{FF2B5EF4-FFF2-40B4-BE49-F238E27FC236}">
                <a16:creationId xmlns:a16="http://schemas.microsoft.com/office/drawing/2014/main" id="{FE356782-34E7-4C3D-F521-5F738D479AB1}"/>
              </a:ext>
            </a:extLst>
          </p:cNvPr>
          <p:cNvSpPr/>
          <p:nvPr/>
        </p:nvSpPr>
        <p:spPr>
          <a:xfrm>
            <a:off x="11888735" y="7445679"/>
            <a:ext cx="5074950" cy="1192468"/>
          </a:xfrm>
          <a:prstGeom prst="roundRect">
            <a:avLst/>
          </a:prstGeom>
          <a:solidFill>
            <a:srgbClr val="E6F0FF"/>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latin typeface="Calibri"/>
              </a:defRPr>
            </a:pPr>
            <a:r>
              <a:rPr sz="2400" dirty="0">
                <a:solidFill>
                  <a:schemeClr val="bg1"/>
                </a:solidFill>
              </a:rPr>
              <a:t>👤 </a:t>
            </a:r>
            <a:r>
              <a:rPr lang="en-SG" sz="3000" dirty="0">
                <a:solidFill>
                  <a:schemeClr val="tx1"/>
                </a:solidFill>
                <a:latin typeface="Times New Roman" panose="02020603050405020304" pitchFamily="18" charset="0"/>
                <a:cs typeface="Times New Roman" panose="02020603050405020304" pitchFamily="18" charset="0"/>
              </a:rPr>
              <a:t>MD. Abrar Rafid Shariar</a:t>
            </a:r>
            <a:endParaRPr sz="3000" dirty="0">
              <a:solidFill>
                <a:schemeClr val="tx1"/>
              </a:solidFill>
              <a:latin typeface="Times New Roman" panose="02020603050405020304" pitchFamily="18" charset="0"/>
              <a:cs typeface="Times New Roman" panose="02020603050405020304" pitchFamily="18" charset="0"/>
            </a:endParaRPr>
          </a:p>
          <a:p>
            <a:pPr>
              <a:defRPr sz="1400">
                <a:latin typeface="Calibri"/>
              </a:defRPr>
            </a:pPr>
            <a:r>
              <a:rPr sz="3000" dirty="0">
                <a:solidFill>
                  <a:schemeClr val="tx1"/>
                </a:solidFill>
                <a:latin typeface="Times New Roman" panose="02020603050405020304" pitchFamily="18" charset="0"/>
                <a:cs typeface="Times New Roman" panose="02020603050405020304" pitchFamily="18" charset="0"/>
              </a:rPr>
              <a:t>🆔 22</a:t>
            </a:r>
            <a:r>
              <a:rPr lang="en-SG" sz="3000" dirty="0">
                <a:solidFill>
                  <a:schemeClr val="tx1"/>
                </a:solidFill>
                <a:latin typeface="Times New Roman" panose="02020603050405020304" pitchFamily="18" charset="0"/>
                <a:cs typeface="Times New Roman" panose="02020603050405020304" pitchFamily="18" charset="0"/>
              </a:rPr>
              <a:t>-48055-2</a:t>
            </a:r>
            <a:endParaRPr sz="3000" dirty="0">
              <a:solidFill>
                <a:schemeClr val="tx1"/>
              </a:solidFill>
              <a:latin typeface="Times New Roman" panose="02020603050405020304" pitchFamily="18" charset="0"/>
              <a:cs typeface="Times New Roman" panose="02020603050405020304" pitchFamily="18" charset="0"/>
            </a:endParaRPr>
          </a:p>
        </p:txBody>
      </p:sp>
      <p:sp>
        <p:nvSpPr>
          <p:cNvPr id="56" name="Rounded Rectangle 4">
            <a:extLst>
              <a:ext uri="{FF2B5EF4-FFF2-40B4-BE49-F238E27FC236}">
                <a16:creationId xmlns:a16="http://schemas.microsoft.com/office/drawing/2014/main" id="{952BD042-395E-AD8A-F1DC-A638B41F3094}"/>
              </a:ext>
            </a:extLst>
          </p:cNvPr>
          <p:cNvSpPr/>
          <p:nvPr/>
        </p:nvSpPr>
        <p:spPr>
          <a:xfrm>
            <a:off x="10766988" y="8913910"/>
            <a:ext cx="4711065" cy="1167352"/>
          </a:xfrm>
          <a:prstGeom prst="roundRect">
            <a:avLst/>
          </a:prstGeom>
          <a:solidFill>
            <a:srgbClr val="E6F0FF"/>
          </a:solidFill>
          <a:ln>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defRPr sz="1400">
                <a:latin typeface="Calibri"/>
              </a:defRPr>
            </a:pPr>
            <a:r>
              <a:rPr sz="3000" dirty="0"/>
              <a:t>👤 </a:t>
            </a:r>
            <a:r>
              <a:rPr lang="en-SG" sz="3000" dirty="0">
                <a:solidFill>
                  <a:schemeClr val="tx1"/>
                </a:solidFill>
                <a:latin typeface="Times New Roman" panose="02020603050405020304" pitchFamily="18" charset="0"/>
                <a:cs typeface="Times New Roman" panose="02020603050405020304" pitchFamily="18" charset="0"/>
              </a:rPr>
              <a:t>Nawshin Anjum Prima</a:t>
            </a:r>
            <a:endParaRPr sz="3000" dirty="0">
              <a:solidFill>
                <a:schemeClr val="tx1"/>
              </a:solidFill>
              <a:latin typeface="Times New Roman" panose="02020603050405020304" pitchFamily="18" charset="0"/>
              <a:cs typeface="Times New Roman" panose="02020603050405020304" pitchFamily="18" charset="0"/>
            </a:endParaRPr>
          </a:p>
          <a:p>
            <a:pPr>
              <a:defRPr sz="1400">
                <a:latin typeface="Calibri"/>
              </a:defRPr>
            </a:pPr>
            <a:r>
              <a:rPr sz="3000" dirty="0">
                <a:solidFill>
                  <a:schemeClr val="tx1"/>
                </a:solidFill>
                <a:latin typeface="Times New Roman" panose="02020603050405020304" pitchFamily="18" charset="0"/>
                <a:cs typeface="Times New Roman" panose="02020603050405020304" pitchFamily="18" charset="0"/>
              </a:rPr>
              <a:t>🆔 2</a:t>
            </a:r>
            <a:r>
              <a:rPr lang="en-SG" sz="3000" dirty="0">
                <a:solidFill>
                  <a:schemeClr val="tx1"/>
                </a:solidFill>
                <a:latin typeface="Times New Roman" panose="02020603050405020304" pitchFamily="18" charset="0"/>
                <a:cs typeface="Times New Roman" panose="02020603050405020304" pitchFamily="18" charset="0"/>
              </a:rPr>
              <a:t>2-48839-3</a:t>
            </a:r>
            <a:endParaRPr sz="3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a:extLst>
            <a:ext uri="{FF2B5EF4-FFF2-40B4-BE49-F238E27FC236}">
              <a16:creationId xmlns:a16="http://schemas.microsoft.com/office/drawing/2014/main" id="{4576BB3F-FC38-B199-7DC8-5B4F4B25433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B9F172-17FA-2F70-88D6-D15FA72ECDBA}"/>
              </a:ext>
            </a:extLst>
          </p:cNvPr>
          <p:cNvSpPr/>
          <p:nvPr/>
        </p:nvSpPr>
        <p:spPr>
          <a:xfrm rot="10800000">
            <a:off x="13049252" y="30726"/>
            <a:ext cx="5238748" cy="3848100"/>
          </a:xfrm>
          <a:custGeom>
            <a:avLst/>
            <a:gdLst/>
            <a:ahLst/>
            <a:cxnLst/>
            <a:rect l="l" t="t" r="r" b="b"/>
            <a:pathLst>
              <a:path w="9148872" h="9148872">
                <a:moveTo>
                  <a:pt x="0" y="0"/>
                </a:moveTo>
                <a:lnTo>
                  <a:pt x="9148872" y="0"/>
                </a:lnTo>
                <a:lnTo>
                  <a:pt x="9148872" y="9148872"/>
                </a:lnTo>
                <a:lnTo>
                  <a:pt x="0" y="914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9" name="TextBox 8">
            <a:extLst>
              <a:ext uri="{FF2B5EF4-FFF2-40B4-BE49-F238E27FC236}">
                <a16:creationId xmlns:a16="http://schemas.microsoft.com/office/drawing/2014/main" id="{401FC7BC-9960-6E0A-B64B-ECD31F9CA59D}"/>
              </a:ext>
            </a:extLst>
          </p:cNvPr>
          <p:cNvSpPr txBox="1"/>
          <p:nvPr/>
        </p:nvSpPr>
        <p:spPr>
          <a:xfrm>
            <a:off x="1066800" y="2552700"/>
            <a:ext cx="11811000" cy="6607578"/>
          </a:xfrm>
          <a:prstGeom prst="rect">
            <a:avLst/>
          </a:prstGeom>
          <a:noFill/>
        </p:spPr>
        <p:txBody>
          <a:bodyPr wrap="square">
            <a:spAutoFit/>
          </a:bodyPr>
          <a:lstStyle/>
          <a:p>
            <a:pPr marL="685800" indent="-685800">
              <a:lnSpc>
                <a:spcPct val="150000"/>
              </a:lnSpc>
              <a:buFont typeface="Arial" panose="020B0604020202020204" pitchFamily="34" charset="0"/>
              <a:buChar char="•"/>
            </a:pPr>
            <a:r>
              <a:rPr lang="en-US" sz="4800" dirty="0">
                <a:solidFill>
                  <a:schemeClr val="tx2">
                    <a:lumMod val="75000"/>
                  </a:schemeClr>
                </a:solidFill>
                <a:latin typeface="Times New Roman" panose="02020603050405020304" pitchFamily="18" charset="0"/>
                <a:cs typeface="Times New Roman" panose="02020603050405020304" pitchFamily="18" charset="0"/>
              </a:rPr>
              <a:t>Introduction</a:t>
            </a:r>
          </a:p>
          <a:p>
            <a:pPr marL="685800" indent="-685800">
              <a:lnSpc>
                <a:spcPct val="150000"/>
              </a:lnSpc>
              <a:buFont typeface="Arial" panose="020B0604020202020204" pitchFamily="34" charset="0"/>
              <a:buChar char="•"/>
            </a:pPr>
            <a:r>
              <a:rPr lang="en-US" sz="4800" dirty="0">
                <a:solidFill>
                  <a:schemeClr val="tx2">
                    <a:lumMod val="75000"/>
                  </a:schemeClr>
                </a:solidFill>
                <a:latin typeface="Times New Roman" panose="02020603050405020304" pitchFamily="18" charset="0"/>
                <a:cs typeface="Times New Roman" panose="02020603050405020304" pitchFamily="18" charset="0"/>
              </a:rPr>
              <a:t>Case Study Overview</a:t>
            </a:r>
          </a:p>
          <a:p>
            <a:pPr marL="685800" indent="-685800">
              <a:lnSpc>
                <a:spcPct val="150000"/>
              </a:lnSpc>
              <a:buFont typeface="Arial" panose="020B0604020202020204" pitchFamily="34" charset="0"/>
              <a:buChar char="•"/>
            </a:pPr>
            <a:r>
              <a:rPr lang="en-US" sz="4800" dirty="0">
                <a:solidFill>
                  <a:schemeClr val="tx2">
                    <a:lumMod val="75000"/>
                  </a:schemeClr>
                </a:solidFill>
                <a:latin typeface="Times New Roman" panose="02020603050405020304" pitchFamily="18" charset="0"/>
                <a:cs typeface="Times New Roman" panose="02020603050405020304" pitchFamily="18" charset="0"/>
              </a:rPr>
              <a:t>Violation of Engineering codes of ethics</a:t>
            </a:r>
          </a:p>
          <a:p>
            <a:pPr marL="685800" indent="-685800">
              <a:lnSpc>
                <a:spcPct val="150000"/>
              </a:lnSpc>
              <a:buFont typeface="Arial" panose="020B0604020202020204" pitchFamily="34" charset="0"/>
              <a:buChar char="•"/>
            </a:pPr>
            <a:r>
              <a:rPr lang="en-US" sz="4800" dirty="0">
                <a:solidFill>
                  <a:schemeClr val="tx2">
                    <a:lumMod val="75000"/>
                  </a:schemeClr>
                </a:solidFill>
                <a:latin typeface="Times New Roman" panose="02020603050405020304" pitchFamily="18" charset="0"/>
                <a:cs typeface="Times New Roman" panose="02020603050405020304" pitchFamily="18" charset="0"/>
              </a:rPr>
              <a:t>Ethical Dilemmas</a:t>
            </a:r>
          </a:p>
          <a:p>
            <a:pPr marL="685800" indent="-685800">
              <a:lnSpc>
                <a:spcPct val="150000"/>
              </a:lnSpc>
              <a:buFont typeface="Arial" panose="020B0604020202020204" pitchFamily="34" charset="0"/>
              <a:buChar char="•"/>
            </a:pPr>
            <a:r>
              <a:rPr lang="en-US" sz="4800" dirty="0">
                <a:solidFill>
                  <a:schemeClr val="tx2">
                    <a:lumMod val="75000"/>
                  </a:schemeClr>
                </a:solidFill>
                <a:latin typeface="Times New Roman" panose="02020603050405020304" pitchFamily="18" charset="0"/>
                <a:cs typeface="Times New Roman" panose="02020603050405020304" pitchFamily="18" charset="0"/>
              </a:rPr>
              <a:t>Analysis and Solution</a:t>
            </a:r>
          </a:p>
          <a:p>
            <a:pPr marL="685800" indent="-685800">
              <a:lnSpc>
                <a:spcPct val="150000"/>
              </a:lnSpc>
              <a:buFont typeface="Arial" panose="020B0604020202020204" pitchFamily="34" charset="0"/>
              <a:buChar char="•"/>
            </a:pPr>
            <a:r>
              <a:rPr lang="en-US" sz="4800" dirty="0">
                <a:solidFill>
                  <a:schemeClr val="tx2">
                    <a:lumMod val="75000"/>
                  </a:schemeClr>
                </a:solidFill>
                <a:latin typeface="Times New Roman" panose="02020603050405020304" pitchFamily="18" charset="0"/>
                <a:cs typeface="Times New Roman" panose="02020603050405020304" pitchFamily="18" charset="0"/>
              </a:rPr>
              <a:t>Conclusion</a:t>
            </a:r>
          </a:p>
        </p:txBody>
      </p:sp>
      <p:sp>
        <p:nvSpPr>
          <p:cNvPr id="11" name="TextBox 10">
            <a:extLst>
              <a:ext uri="{FF2B5EF4-FFF2-40B4-BE49-F238E27FC236}">
                <a16:creationId xmlns:a16="http://schemas.microsoft.com/office/drawing/2014/main" id="{50414A31-7279-B01B-F142-398CE078B36E}"/>
              </a:ext>
            </a:extLst>
          </p:cNvPr>
          <p:cNvSpPr txBox="1"/>
          <p:nvPr/>
        </p:nvSpPr>
        <p:spPr>
          <a:xfrm>
            <a:off x="838200" y="1333500"/>
            <a:ext cx="9144000" cy="1015663"/>
          </a:xfrm>
          <a:prstGeom prst="rect">
            <a:avLst/>
          </a:prstGeom>
          <a:noFill/>
        </p:spPr>
        <p:txBody>
          <a:bodyPr wrap="square">
            <a:spAutoFit/>
          </a:bodyPr>
          <a:lstStyle/>
          <a:p>
            <a:r>
              <a:rPr lang="en-US" sz="6000" b="1" dirty="0">
                <a:latin typeface="Times New Roman" panose="02020603050405020304" pitchFamily="18" charset="0"/>
                <a:cs typeface="Times New Roman" panose="02020603050405020304" pitchFamily="18" charset="0"/>
              </a:rPr>
              <a:t>Contents</a:t>
            </a:r>
            <a:endParaRPr lang="en-US" sz="6000" b="1" dirty="0"/>
          </a:p>
        </p:txBody>
      </p:sp>
    </p:spTree>
    <p:extLst>
      <p:ext uri="{BB962C8B-B14F-4D97-AF65-F5344CB8AC3E}">
        <p14:creationId xmlns:p14="http://schemas.microsoft.com/office/powerpoint/2010/main" val="3827463051"/>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9544050" y="0"/>
            <a:ext cx="8743947" cy="4853403"/>
          </a:xfrm>
          <a:custGeom>
            <a:avLst/>
            <a:gdLst/>
            <a:ahLst/>
            <a:cxnLst/>
            <a:rect l="l" t="t" r="r" b="b"/>
            <a:pathLst>
              <a:path w="8743947" h="4853403">
                <a:moveTo>
                  <a:pt x="0" y="0"/>
                </a:moveTo>
                <a:lnTo>
                  <a:pt x="8743947" y="0"/>
                </a:lnTo>
                <a:lnTo>
                  <a:pt x="8743947" y="4853403"/>
                </a:lnTo>
                <a:lnTo>
                  <a:pt x="0" y="485340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891540" y="284358"/>
            <a:ext cx="10181620" cy="2390260"/>
            <a:chOff x="0" y="0"/>
            <a:chExt cx="13575494" cy="3187014"/>
          </a:xfrm>
        </p:grpSpPr>
        <p:sp>
          <p:nvSpPr>
            <p:cNvPr id="4" name="Freeform 4"/>
            <p:cNvSpPr/>
            <p:nvPr/>
          </p:nvSpPr>
          <p:spPr>
            <a:xfrm>
              <a:off x="0" y="0"/>
              <a:ext cx="13575494" cy="3187014"/>
            </a:xfrm>
            <a:custGeom>
              <a:avLst/>
              <a:gdLst/>
              <a:ahLst/>
              <a:cxnLst/>
              <a:rect l="l" t="t" r="r" b="b"/>
              <a:pathLst>
                <a:path w="13575494" h="3187014">
                  <a:moveTo>
                    <a:pt x="0" y="0"/>
                  </a:moveTo>
                  <a:lnTo>
                    <a:pt x="13575494" y="0"/>
                  </a:lnTo>
                  <a:lnTo>
                    <a:pt x="13575494" y="3187014"/>
                  </a:lnTo>
                  <a:lnTo>
                    <a:pt x="0" y="3187014"/>
                  </a:lnTo>
                  <a:close/>
                </a:path>
              </a:pathLst>
            </a:custGeom>
            <a:solidFill>
              <a:srgbClr val="000000">
                <a:alpha val="0"/>
              </a:srgbClr>
            </a:solidFill>
          </p:spPr>
          <p:txBody>
            <a:bodyPr/>
            <a:lstStyle/>
            <a:p>
              <a:endParaRPr lang="en-US"/>
            </a:p>
          </p:txBody>
        </p:sp>
        <p:sp>
          <p:nvSpPr>
            <p:cNvPr id="5" name="TextBox 5"/>
            <p:cNvSpPr txBox="1"/>
            <p:nvPr/>
          </p:nvSpPr>
          <p:spPr>
            <a:xfrm>
              <a:off x="0" y="19050"/>
              <a:ext cx="13575494" cy="3167964"/>
            </a:xfrm>
            <a:prstGeom prst="rect">
              <a:avLst/>
            </a:prstGeom>
          </p:spPr>
          <p:txBody>
            <a:bodyPr lIns="0" tIns="0" rIns="0" bIns="0" rtlCol="0" anchor="b"/>
            <a:lstStyle/>
            <a:p>
              <a:pPr algn="l">
                <a:lnSpc>
                  <a:spcPts val="6336"/>
                </a:lnSpc>
              </a:pPr>
              <a:r>
                <a:rPr lang="en-US" sz="6600" b="1" spc="75">
                  <a:solidFill>
                    <a:srgbClr val="000000"/>
                  </a:solidFill>
                  <a:latin typeface="Times New Roman Bold"/>
                  <a:ea typeface="Times New Roman Bold"/>
                  <a:cs typeface="Times New Roman Bold"/>
                  <a:sym typeface="Times New Roman Bold"/>
                </a:rPr>
                <a:t>What is Code of Ethics?</a:t>
              </a:r>
            </a:p>
          </p:txBody>
        </p:sp>
      </p:grpSp>
      <p:grpSp>
        <p:nvGrpSpPr>
          <p:cNvPr id="6" name="Group 6"/>
          <p:cNvGrpSpPr/>
          <p:nvPr/>
        </p:nvGrpSpPr>
        <p:grpSpPr>
          <a:xfrm>
            <a:off x="891539" y="3422877"/>
            <a:ext cx="9281162" cy="5562776"/>
            <a:chOff x="0" y="0"/>
            <a:chExt cx="12374882" cy="7417034"/>
          </a:xfrm>
        </p:grpSpPr>
        <p:sp>
          <p:nvSpPr>
            <p:cNvPr id="7" name="Freeform 7"/>
            <p:cNvSpPr/>
            <p:nvPr/>
          </p:nvSpPr>
          <p:spPr>
            <a:xfrm>
              <a:off x="0" y="0"/>
              <a:ext cx="12374882" cy="7417034"/>
            </a:xfrm>
            <a:custGeom>
              <a:avLst/>
              <a:gdLst/>
              <a:ahLst/>
              <a:cxnLst/>
              <a:rect l="l" t="t" r="r" b="b"/>
              <a:pathLst>
                <a:path w="12374882" h="7417034">
                  <a:moveTo>
                    <a:pt x="0" y="0"/>
                  </a:moveTo>
                  <a:lnTo>
                    <a:pt x="12374882" y="0"/>
                  </a:lnTo>
                  <a:lnTo>
                    <a:pt x="12374882" y="7417034"/>
                  </a:lnTo>
                  <a:lnTo>
                    <a:pt x="0" y="7417034"/>
                  </a:lnTo>
                  <a:close/>
                </a:path>
              </a:pathLst>
            </a:custGeom>
            <a:solidFill>
              <a:srgbClr val="000000">
                <a:alpha val="0"/>
              </a:srgbClr>
            </a:solidFill>
          </p:spPr>
          <p:txBody>
            <a:bodyPr/>
            <a:lstStyle/>
            <a:p>
              <a:endParaRPr lang="en-US"/>
            </a:p>
          </p:txBody>
        </p:sp>
        <p:sp>
          <p:nvSpPr>
            <p:cNvPr id="8" name="TextBox 8"/>
            <p:cNvSpPr txBox="1"/>
            <p:nvPr/>
          </p:nvSpPr>
          <p:spPr>
            <a:xfrm>
              <a:off x="0" y="9525"/>
              <a:ext cx="12374882" cy="7407509"/>
            </a:xfrm>
            <a:prstGeom prst="rect">
              <a:avLst/>
            </a:prstGeom>
          </p:spPr>
          <p:txBody>
            <a:bodyPr lIns="0" tIns="0" rIns="0" bIns="0" rtlCol="0" anchor="t"/>
            <a:lstStyle/>
            <a:p>
              <a:pPr marL="651053" lvl="1" indent="-325526" algn="l">
                <a:lnSpc>
                  <a:spcPts val="3456"/>
                </a:lnSpc>
                <a:buFont typeface="Arial"/>
                <a:buChar char="•"/>
              </a:pPr>
              <a:r>
                <a:rPr lang="en-US" sz="3600">
                  <a:solidFill>
                    <a:srgbClr val="000000"/>
                  </a:solidFill>
                  <a:latin typeface="Times New Roman"/>
                  <a:ea typeface="Times New Roman"/>
                  <a:cs typeface="Times New Roman"/>
                  <a:sym typeface="Times New Roman"/>
                </a:rPr>
                <a:t>A Code of Ethics is a formal set of guidelines and principles that define the moral responsibilities, professional standards, expected from individuals within a profession or organization.</a:t>
              </a:r>
            </a:p>
            <a:p>
              <a:pPr algn="l">
                <a:lnSpc>
                  <a:spcPts val="3456"/>
                </a:lnSpc>
              </a:pPr>
              <a:endParaRPr lang="en-US" sz="3600">
                <a:solidFill>
                  <a:srgbClr val="000000"/>
                </a:solidFill>
                <a:latin typeface="Times New Roman"/>
                <a:ea typeface="Times New Roman"/>
                <a:cs typeface="Times New Roman"/>
                <a:sym typeface="Times New Roman"/>
              </a:endParaRPr>
            </a:p>
            <a:p>
              <a:pPr marL="651510" lvl="1" indent="-325755" algn="l">
                <a:lnSpc>
                  <a:spcPts val="3456"/>
                </a:lnSpc>
                <a:buFont typeface="Arial"/>
                <a:buChar char="•"/>
              </a:pPr>
              <a:r>
                <a:rPr lang="en-US" sz="3600">
                  <a:solidFill>
                    <a:srgbClr val="000000"/>
                  </a:solidFill>
                  <a:latin typeface="Times New Roman"/>
                  <a:ea typeface="Times New Roman"/>
                  <a:cs typeface="Times New Roman"/>
                  <a:sym typeface="Times New Roman"/>
                </a:rPr>
                <a:t>It tells professionals what is right and wrong in their work  helping them act honestly and responsibly.</a:t>
              </a:r>
            </a:p>
            <a:p>
              <a:pPr marL="651510" lvl="1" indent="-325755" algn="l">
                <a:lnSpc>
                  <a:spcPts val="3456"/>
                </a:lnSpc>
              </a:pPr>
              <a:endParaRPr lang="en-US" sz="3600">
                <a:solidFill>
                  <a:srgbClr val="000000"/>
                </a:solidFill>
                <a:latin typeface="Times New Roman"/>
                <a:ea typeface="Times New Roman"/>
                <a:cs typeface="Times New Roman"/>
                <a:sym typeface="Times New Roman"/>
              </a:endParaRPr>
            </a:p>
          </p:txBody>
        </p:sp>
      </p:grpSp>
      <p:grpSp>
        <p:nvGrpSpPr>
          <p:cNvPr id="9" name="Group 9"/>
          <p:cNvGrpSpPr/>
          <p:nvPr/>
        </p:nvGrpSpPr>
        <p:grpSpPr>
          <a:xfrm>
            <a:off x="891540" y="9498330"/>
            <a:ext cx="784860" cy="371477"/>
            <a:chOff x="0" y="0"/>
            <a:chExt cx="1046480" cy="495302"/>
          </a:xfrm>
        </p:grpSpPr>
        <p:sp>
          <p:nvSpPr>
            <p:cNvPr id="10" name="Freeform 10"/>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11" name="TextBox 11"/>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F0FF"/>
        </a:solidFill>
        <a:effectLst/>
      </p:bgPr>
    </p:bg>
    <p:spTree>
      <p:nvGrpSpPr>
        <p:cNvPr id="1" name=""/>
        <p:cNvGrpSpPr/>
        <p:nvPr/>
      </p:nvGrpSpPr>
      <p:grpSpPr>
        <a:xfrm>
          <a:off x="0" y="0"/>
          <a:ext cx="0" cy="0"/>
          <a:chOff x="0" y="0"/>
          <a:chExt cx="0" cy="0"/>
        </a:xfrm>
      </p:grpSpPr>
      <p:sp>
        <p:nvSpPr>
          <p:cNvPr id="2" name="TextBox 2"/>
          <p:cNvSpPr txBox="1"/>
          <p:nvPr/>
        </p:nvSpPr>
        <p:spPr>
          <a:xfrm>
            <a:off x="369004" y="79494"/>
            <a:ext cx="15584786" cy="949325"/>
          </a:xfrm>
          <a:prstGeom prst="rect">
            <a:avLst/>
          </a:prstGeom>
        </p:spPr>
        <p:txBody>
          <a:bodyPr lIns="0" tIns="0" rIns="0" bIns="0" rtlCol="0" anchor="t">
            <a:spAutoFit/>
          </a:bodyPr>
          <a:lstStyle/>
          <a:p>
            <a:pPr algn="l">
              <a:lnSpc>
                <a:spcPts val="7150"/>
              </a:lnSpc>
            </a:pPr>
            <a:r>
              <a:rPr lang="en-US" sz="6500" b="1">
                <a:solidFill>
                  <a:srgbClr val="034383"/>
                </a:solidFill>
                <a:latin typeface="Ubuntu Bold"/>
                <a:ea typeface="Ubuntu Bold"/>
                <a:cs typeface="Ubuntu Bold"/>
                <a:sym typeface="Ubuntu Bold"/>
              </a:rPr>
              <a:t>CASE STUDY</a:t>
            </a:r>
          </a:p>
        </p:txBody>
      </p:sp>
      <p:sp>
        <p:nvSpPr>
          <p:cNvPr id="3" name="Freeform 3"/>
          <p:cNvSpPr/>
          <p:nvPr/>
        </p:nvSpPr>
        <p:spPr>
          <a:xfrm flipH="1">
            <a:off x="8330848" y="0"/>
            <a:ext cx="10287000" cy="10287000"/>
          </a:xfrm>
          <a:custGeom>
            <a:avLst/>
            <a:gdLst/>
            <a:ahLst/>
            <a:cxnLst/>
            <a:rect l="l" t="t" r="r" b="b"/>
            <a:pathLst>
              <a:path w="10287000" h="10287000">
                <a:moveTo>
                  <a:pt x="10287000" y="0"/>
                </a:moveTo>
                <a:lnTo>
                  <a:pt x="0" y="0"/>
                </a:lnTo>
                <a:lnTo>
                  <a:pt x="0" y="10287000"/>
                </a:lnTo>
                <a:lnTo>
                  <a:pt x="10287000" y="10287000"/>
                </a:lnTo>
                <a:lnTo>
                  <a:pt x="1028700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4" name="TextBox 4"/>
          <p:cNvSpPr txBox="1"/>
          <p:nvPr/>
        </p:nvSpPr>
        <p:spPr>
          <a:xfrm>
            <a:off x="369004" y="1971587"/>
            <a:ext cx="14352516" cy="8269728"/>
          </a:xfrm>
          <a:prstGeom prst="rect">
            <a:avLst/>
          </a:prstGeom>
        </p:spPr>
        <p:txBody>
          <a:bodyPr lIns="0" tIns="0" rIns="0" bIns="0" rtlCol="0" anchor="t">
            <a:spAutoFit/>
          </a:bodyPr>
          <a:lstStyle/>
          <a:p>
            <a:pPr algn="l">
              <a:lnSpc>
                <a:spcPts val="4088"/>
              </a:lnSpc>
            </a:pPr>
            <a:r>
              <a:rPr lang="en-US" sz="2920" dirty="0">
                <a:solidFill>
                  <a:srgbClr val="000000"/>
                </a:solidFill>
                <a:latin typeface="Times New Roman"/>
                <a:ea typeface="Times New Roman"/>
                <a:cs typeface="Times New Roman"/>
                <a:sym typeface="Times New Roman"/>
              </a:rPr>
              <a:t>Marcus is a computer engineer who has recently developed an app which helps users keep track of medical information, doctor’s appointments, and prescriptions.</a:t>
            </a:r>
          </a:p>
          <a:p>
            <a:pPr algn="l">
              <a:lnSpc>
                <a:spcPts val="4088"/>
              </a:lnSpc>
            </a:pPr>
            <a:r>
              <a:rPr lang="en-US" sz="2920" dirty="0">
                <a:solidFill>
                  <a:srgbClr val="000000"/>
                </a:solidFill>
                <a:latin typeface="Times New Roman"/>
                <a:ea typeface="Times New Roman"/>
                <a:cs typeface="Times New Roman"/>
                <a:sym typeface="Times New Roman"/>
              </a:rPr>
              <a:t>Information about the user is stored in this app, including what prescriptions they are taking and how frequently they schedule doctor’s appointments. As the developers of the app, Marcus and his company have access to this information.</a:t>
            </a:r>
          </a:p>
          <a:p>
            <a:pPr algn="l">
              <a:lnSpc>
                <a:spcPts val="4088"/>
              </a:lnSpc>
            </a:pPr>
            <a:r>
              <a:rPr lang="en-US" sz="2920" dirty="0">
                <a:solidFill>
                  <a:srgbClr val="000000"/>
                </a:solidFill>
                <a:latin typeface="Times New Roman"/>
                <a:ea typeface="Times New Roman"/>
                <a:cs typeface="Times New Roman"/>
                <a:sym typeface="Times New Roman"/>
              </a:rPr>
              <a:t>The marketing department requests Marcus supply them with customer-specific information so they can better target ads and app suggestions to the users. Marcus understands that he is part of a company, but also feels that the privacy of the app users should be protected. Additionally, Marcus feels that as an engineer, he should be responsible to those who use his technology.</a:t>
            </a:r>
          </a:p>
          <a:p>
            <a:pPr algn="l">
              <a:lnSpc>
                <a:spcPts val="4088"/>
              </a:lnSpc>
            </a:pPr>
            <a:r>
              <a:rPr lang="en-US" sz="2920" dirty="0">
                <a:solidFill>
                  <a:srgbClr val="000000"/>
                </a:solidFill>
                <a:latin typeface="Times New Roman"/>
                <a:ea typeface="Times New Roman"/>
                <a:cs typeface="Times New Roman"/>
                <a:sym typeface="Times New Roman"/>
              </a:rPr>
              <a:t>How does Marcus determine how much of the user’s information should be shared with marketing? Is this an ethical use of information or a violation of the user’s privacy?</a:t>
            </a:r>
          </a:p>
          <a:p>
            <a:pPr algn="l">
              <a:lnSpc>
                <a:spcPts val="4088"/>
              </a:lnSpc>
            </a:pPr>
            <a:endParaRPr lang="en-US" sz="2920" dirty="0">
              <a:solidFill>
                <a:srgbClr val="000000"/>
              </a:solidFill>
              <a:latin typeface="Times New Roman"/>
              <a:ea typeface="Times New Roman"/>
              <a:cs typeface="Times New Roman"/>
              <a:sym typeface="Times New Roman"/>
            </a:endParaRPr>
          </a:p>
          <a:p>
            <a:pPr algn="l">
              <a:lnSpc>
                <a:spcPts val="4088"/>
              </a:lnSpc>
            </a:pPr>
            <a:r>
              <a:rPr lang="en-US" sz="2920" dirty="0">
                <a:solidFill>
                  <a:srgbClr val="000000"/>
                </a:solidFill>
                <a:latin typeface="Times New Roman"/>
                <a:ea typeface="Times New Roman"/>
                <a:cs typeface="Times New Roman"/>
                <a:sym typeface="Times New Roman"/>
              </a:rPr>
              <a:t>**Clare Bartlett was a 2014-2015 Hackworth Fellow in Engineering Ethics at the Markkula Center for Applied Ethics at Santa Clara University.</a:t>
            </a:r>
          </a:p>
          <a:p>
            <a:pPr algn="l">
              <a:lnSpc>
                <a:spcPts val="4088"/>
              </a:lnSpc>
            </a:pPr>
            <a:r>
              <a:rPr lang="en-US" sz="2920" dirty="0">
                <a:solidFill>
                  <a:srgbClr val="000000"/>
                </a:solidFill>
                <a:latin typeface="Times New Roman"/>
                <a:ea typeface="Times New Roman"/>
                <a:cs typeface="Times New Roman"/>
                <a:sym typeface="Times New Roman"/>
              </a:rPr>
              <a:t>August 2015</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0" y="5850198"/>
            <a:ext cx="4438839" cy="4438839"/>
          </a:xfrm>
          <a:custGeom>
            <a:avLst/>
            <a:gdLst/>
            <a:ahLst/>
            <a:cxnLst/>
            <a:rect l="l" t="t" r="r" b="b"/>
            <a:pathLst>
              <a:path w="4438839" h="4438839">
                <a:moveTo>
                  <a:pt x="0" y="0"/>
                </a:moveTo>
                <a:lnTo>
                  <a:pt x="4438839" y="0"/>
                </a:lnTo>
                <a:lnTo>
                  <a:pt x="4438839" y="4438839"/>
                </a:lnTo>
                <a:lnTo>
                  <a:pt x="0" y="44388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477014" y="-1260154"/>
            <a:ext cx="16310610" cy="2520308"/>
            <a:chOff x="0" y="0"/>
            <a:chExt cx="21747480" cy="3360410"/>
          </a:xfrm>
        </p:grpSpPr>
        <p:sp>
          <p:nvSpPr>
            <p:cNvPr id="4" name="Freeform 4"/>
            <p:cNvSpPr/>
            <p:nvPr/>
          </p:nvSpPr>
          <p:spPr>
            <a:xfrm>
              <a:off x="0" y="0"/>
              <a:ext cx="21747480" cy="3360410"/>
            </a:xfrm>
            <a:custGeom>
              <a:avLst/>
              <a:gdLst/>
              <a:ahLst/>
              <a:cxnLst/>
              <a:rect l="l" t="t" r="r" b="b"/>
              <a:pathLst>
                <a:path w="21747480" h="3360410">
                  <a:moveTo>
                    <a:pt x="0" y="0"/>
                  </a:moveTo>
                  <a:lnTo>
                    <a:pt x="21747480" y="0"/>
                  </a:lnTo>
                  <a:lnTo>
                    <a:pt x="21747480" y="3360410"/>
                  </a:lnTo>
                  <a:lnTo>
                    <a:pt x="0" y="3360410"/>
                  </a:lnTo>
                  <a:close/>
                </a:path>
              </a:pathLst>
            </a:custGeom>
            <a:solidFill>
              <a:srgbClr val="000000">
                <a:alpha val="0"/>
              </a:srgbClr>
            </a:solidFill>
          </p:spPr>
          <p:txBody>
            <a:bodyPr/>
            <a:lstStyle/>
            <a:p>
              <a:endParaRPr lang="en-US"/>
            </a:p>
          </p:txBody>
        </p:sp>
        <p:sp>
          <p:nvSpPr>
            <p:cNvPr id="5" name="TextBox 5"/>
            <p:cNvSpPr txBox="1"/>
            <p:nvPr/>
          </p:nvSpPr>
          <p:spPr>
            <a:xfrm>
              <a:off x="0" y="19050"/>
              <a:ext cx="21747480" cy="3341360"/>
            </a:xfrm>
            <a:prstGeom prst="rect">
              <a:avLst/>
            </a:prstGeom>
          </p:spPr>
          <p:txBody>
            <a:bodyPr lIns="0" tIns="0" rIns="0" bIns="0" rtlCol="0" anchor="b"/>
            <a:lstStyle/>
            <a:p>
              <a:pPr algn="l">
                <a:lnSpc>
                  <a:spcPts val="6336"/>
                </a:lnSpc>
              </a:pPr>
              <a:r>
                <a:rPr lang="en-US" sz="6600" b="1" spc="150">
                  <a:solidFill>
                    <a:srgbClr val="000000"/>
                  </a:solidFill>
                  <a:latin typeface="Times New Roman Bold"/>
                  <a:ea typeface="Times New Roman Bold"/>
                  <a:cs typeface="Times New Roman Bold"/>
                  <a:sym typeface="Times New Roman Bold"/>
                </a:rPr>
                <a:t>Case Study Overview</a:t>
              </a:r>
            </a:p>
          </p:txBody>
        </p:sp>
      </p:grpSp>
      <p:grpSp>
        <p:nvGrpSpPr>
          <p:cNvPr id="6" name="Group 6"/>
          <p:cNvGrpSpPr/>
          <p:nvPr/>
        </p:nvGrpSpPr>
        <p:grpSpPr>
          <a:xfrm>
            <a:off x="5963644" y="5850198"/>
            <a:ext cx="11715750" cy="6025388"/>
            <a:chOff x="0" y="0"/>
            <a:chExt cx="15621000" cy="8033850"/>
          </a:xfrm>
        </p:grpSpPr>
        <p:sp>
          <p:nvSpPr>
            <p:cNvPr id="7" name="Freeform 7"/>
            <p:cNvSpPr/>
            <p:nvPr/>
          </p:nvSpPr>
          <p:spPr>
            <a:xfrm>
              <a:off x="0" y="0"/>
              <a:ext cx="15621000" cy="8033850"/>
            </a:xfrm>
            <a:custGeom>
              <a:avLst/>
              <a:gdLst/>
              <a:ahLst/>
              <a:cxnLst/>
              <a:rect l="l" t="t" r="r" b="b"/>
              <a:pathLst>
                <a:path w="15621000" h="8033850">
                  <a:moveTo>
                    <a:pt x="0" y="0"/>
                  </a:moveTo>
                  <a:lnTo>
                    <a:pt x="15621000" y="0"/>
                  </a:lnTo>
                  <a:lnTo>
                    <a:pt x="15621000" y="8033850"/>
                  </a:lnTo>
                  <a:lnTo>
                    <a:pt x="0" y="8033850"/>
                  </a:lnTo>
                  <a:close/>
                </a:path>
              </a:pathLst>
            </a:custGeom>
            <a:solidFill>
              <a:srgbClr val="000000">
                <a:alpha val="0"/>
              </a:srgbClr>
            </a:solidFill>
          </p:spPr>
          <p:txBody>
            <a:bodyPr/>
            <a:lstStyle/>
            <a:p>
              <a:endParaRPr lang="en-US"/>
            </a:p>
          </p:txBody>
        </p:sp>
        <p:sp>
          <p:nvSpPr>
            <p:cNvPr id="8" name="TextBox 8"/>
            <p:cNvSpPr txBox="1"/>
            <p:nvPr/>
          </p:nvSpPr>
          <p:spPr>
            <a:xfrm>
              <a:off x="0" y="-28575"/>
              <a:ext cx="15621000" cy="8062425"/>
            </a:xfrm>
            <a:prstGeom prst="rect">
              <a:avLst/>
            </a:prstGeom>
          </p:spPr>
          <p:txBody>
            <a:bodyPr lIns="0" tIns="0" rIns="0" bIns="0" rtlCol="0" anchor="t"/>
            <a:lstStyle/>
            <a:p>
              <a:pPr algn="l">
                <a:lnSpc>
                  <a:spcPts val="3240"/>
                </a:lnSpc>
              </a:pPr>
              <a:endParaRPr/>
            </a:p>
            <a:p>
              <a:pPr marL="542925" lvl="1" indent="-271462" algn="l">
                <a:lnSpc>
                  <a:spcPts val="3240"/>
                </a:lnSpc>
              </a:pPr>
              <a:endParaRPr/>
            </a:p>
            <a:p>
              <a:pPr marL="542925" lvl="1" indent="-271462" algn="l">
                <a:lnSpc>
                  <a:spcPts val="3240"/>
                </a:lnSpc>
              </a:pPr>
              <a:endParaRPr/>
            </a:p>
            <a:p>
              <a:pPr marL="542925" lvl="1" indent="-271462" algn="l">
                <a:lnSpc>
                  <a:spcPts val="3240"/>
                </a:lnSpc>
              </a:pPr>
              <a:endParaRPr/>
            </a:p>
          </p:txBody>
        </p:sp>
      </p:grpSp>
      <p:sp>
        <p:nvSpPr>
          <p:cNvPr id="9" name="Freeform 9"/>
          <p:cNvSpPr/>
          <p:nvPr/>
        </p:nvSpPr>
        <p:spPr>
          <a:xfrm>
            <a:off x="0" y="5850198"/>
            <a:ext cx="4438839" cy="4438839"/>
          </a:xfrm>
          <a:custGeom>
            <a:avLst/>
            <a:gdLst/>
            <a:ahLst/>
            <a:cxnLst/>
            <a:rect l="l" t="t" r="r" b="b"/>
            <a:pathLst>
              <a:path w="4438839" h="4438839">
                <a:moveTo>
                  <a:pt x="0" y="0"/>
                </a:moveTo>
                <a:lnTo>
                  <a:pt x="4438839" y="0"/>
                </a:lnTo>
                <a:lnTo>
                  <a:pt x="4438839" y="4438839"/>
                </a:lnTo>
                <a:lnTo>
                  <a:pt x="0" y="44388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3" name="Group 13"/>
          <p:cNvGrpSpPr/>
          <p:nvPr/>
        </p:nvGrpSpPr>
        <p:grpSpPr>
          <a:xfrm>
            <a:off x="1283970" y="1532729"/>
            <a:ext cx="11369246" cy="4712877"/>
            <a:chOff x="0" y="0"/>
            <a:chExt cx="4952292" cy="2052867"/>
          </a:xfrm>
        </p:grpSpPr>
        <p:sp>
          <p:nvSpPr>
            <p:cNvPr id="14" name="Freeform 14"/>
            <p:cNvSpPr/>
            <p:nvPr/>
          </p:nvSpPr>
          <p:spPr>
            <a:xfrm>
              <a:off x="0" y="0"/>
              <a:ext cx="4952292" cy="2052867"/>
            </a:xfrm>
            <a:custGeom>
              <a:avLst/>
              <a:gdLst/>
              <a:ahLst/>
              <a:cxnLst/>
              <a:rect l="l" t="t" r="r" b="b"/>
              <a:pathLst>
                <a:path w="4952292" h="2052867">
                  <a:moveTo>
                    <a:pt x="10214" y="0"/>
                  </a:moveTo>
                  <a:lnTo>
                    <a:pt x="4942078" y="0"/>
                  </a:lnTo>
                  <a:cubicBezTo>
                    <a:pt x="4947719" y="0"/>
                    <a:pt x="4952292" y="4573"/>
                    <a:pt x="4952292" y="10214"/>
                  </a:cubicBezTo>
                  <a:lnTo>
                    <a:pt x="4952292" y="2042652"/>
                  </a:lnTo>
                  <a:cubicBezTo>
                    <a:pt x="4952292" y="2045361"/>
                    <a:pt x="4951216" y="2047959"/>
                    <a:pt x="4949301" y="2049875"/>
                  </a:cubicBezTo>
                  <a:cubicBezTo>
                    <a:pt x="4947385" y="2051790"/>
                    <a:pt x="4944787" y="2052867"/>
                    <a:pt x="4942078" y="2052867"/>
                  </a:cubicBezTo>
                  <a:lnTo>
                    <a:pt x="10214" y="2052867"/>
                  </a:lnTo>
                  <a:cubicBezTo>
                    <a:pt x="4573" y="2052867"/>
                    <a:pt x="0" y="2048293"/>
                    <a:pt x="0" y="2042652"/>
                  </a:cubicBezTo>
                  <a:lnTo>
                    <a:pt x="0" y="10214"/>
                  </a:lnTo>
                  <a:cubicBezTo>
                    <a:pt x="0" y="4573"/>
                    <a:pt x="4573" y="0"/>
                    <a:pt x="10214" y="0"/>
                  </a:cubicBezTo>
                  <a:close/>
                </a:path>
              </a:pathLst>
            </a:custGeom>
            <a:solidFill>
              <a:srgbClr val="0070C0"/>
            </a:solidFill>
            <a:ln w="9525" cap="sq">
              <a:solidFill>
                <a:srgbClr val="000000"/>
              </a:solidFill>
              <a:prstDash val="solid"/>
              <a:miter/>
            </a:ln>
          </p:spPr>
          <p:txBody>
            <a:bodyPr/>
            <a:lstStyle/>
            <a:p>
              <a:endParaRPr lang="en-US"/>
            </a:p>
          </p:txBody>
        </p:sp>
        <p:sp>
          <p:nvSpPr>
            <p:cNvPr id="15" name="TextBox 15"/>
            <p:cNvSpPr txBox="1"/>
            <p:nvPr/>
          </p:nvSpPr>
          <p:spPr>
            <a:xfrm>
              <a:off x="0" y="-38100"/>
              <a:ext cx="4952292" cy="2090967"/>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644534" y="2116398"/>
            <a:ext cx="10534937" cy="3733800"/>
          </a:xfrm>
          <a:prstGeom prst="rect">
            <a:avLst/>
          </a:prstGeom>
        </p:spPr>
        <p:txBody>
          <a:bodyPr lIns="0" tIns="0" rIns="0" bIns="0" rtlCol="0" anchor="t">
            <a:spAutoFit/>
          </a:bodyPr>
          <a:lstStyle/>
          <a:p>
            <a:pPr algn="l">
              <a:lnSpc>
                <a:spcPts val="4199"/>
              </a:lnSpc>
              <a:spcBef>
                <a:spcPct val="0"/>
              </a:spcBef>
            </a:pPr>
            <a:r>
              <a:rPr lang="en-US" sz="3499" b="1">
                <a:solidFill>
                  <a:srgbClr val="FFFFFF"/>
                </a:solidFill>
                <a:latin typeface="Times New Roman Bold"/>
                <a:ea typeface="Times New Roman Bold"/>
                <a:cs typeface="Times New Roman Bold"/>
                <a:sym typeface="Times New Roman Bold"/>
              </a:rPr>
              <a:t>Background:</a:t>
            </a:r>
          </a:p>
          <a:p>
            <a:pPr algn="l">
              <a:lnSpc>
                <a:spcPts val="4199"/>
              </a:lnSpc>
              <a:spcBef>
                <a:spcPct val="0"/>
              </a:spcBef>
            </a:pPr>
            <a:endParaRPr lang="en-US" sz="3499" b="1">
              <a:solidFill>
                <a:srgbClr val="FFFFFF"/>
              </a:solidFill>
              <a:latin typeface="Times New Roman Bold"/>
              <a:ea typeface="Times New Roman Bold"/>
              <a:cs typeface="Times New Roman Bold"/>
              <a:sym typeface="Times New Roman Bold"/>
            </a:endParaRPr>
          </a:p>
          <a:p>
            <a:pPr algn="l">
              <a:lnSpc>
                <a:spcPts val="4199"/>
              </a:lnSpc>
              <a:spcBef>
                <a:spcPct val="0"/>
              </a:spcBef>
            </a:pPr>
            <a:r>
              <a:rPr lang="en-US" sz="3499">
                <a:solidFill>
                  <a:srgbClr val="FFFFFF"/>
                </a:solidFill>
                <a:latin typeface="Times New Roman"/>
                <a:ea typeface="Times New Roman"/>
                <a:cs typeface="Times New Roman"/>
                <a:sym typeface="Times New Roman"/>
              </a:rPr>
              <a:t>Marcus, a computer engineer, developed an app to help users track medical information, including doctor’s appointments, prescriptions, and other related data.</a:t>
            </a:r>
          </a:p>
          <a:p>
            <a:pPr algn="l">
              <a:lnSpc>
                <a:spcPts val="4199"/>
              </a:lnSpc>
              <a:spcBef>
                <a:spcPct val="0"/>
              </a:spcBef>
            </a:pPr>
            <a:r>
              <a:rPr lang="en-US" sz="3499">
                <a:solidFill>
                  <a:srgbClr val="FFFFFF"/>
                </a:solidFill>
                <a:latin typeface="Times New Roman"/>
                <a:ea typeface="Times New Roman"/>
                <a:cs typeface="Times New Roman"/>
                <a:sym typeface="Times New Roman"/>
              </a:rPr>
              <a:t>The app collects and stores sensitive information about the users.</a:t>
            </a:r>
          </a:p>
        </p:txBody>
      </p:sp>
      <p:grpSp>
        <p:nvGrpSpPr>
          <p:cNvPr id="17" name="Group 17"/>
          <p:cNvGrpSpPr/>
          <p:nvPr/>
        </p:nvGrpSpPr>
        <p:grpSpPr>
          <a:xfrm>
            <a:off x="6968593" y="6521831"/>
            <a:ext cx="10096059" cy="3554428"/>
            <a:chOff x="0" y="0"/>
            <a:chExt cx="4397709" cy="1548262"/>
          </a:xfrm>
        </p:grpSpPr>
        <p:sp>
          <p:nvSpPr>
            <p:cNvPr id="18" name="Freeform 18"/>
            <p:cNvSpPr/>
            <p:nvPr/>
          </p:nvSpPr>
          <p:spPr>
            <a:xfrm>
              <a:off x="0" y="0"/>
              <a:ext cx="4397709" cy="1548262"/>
            </a:xfrm>
            <a:custGeom>
              <a:avLst/>
              <a:gdLst/>
              <a:ahLst/>
              <a:cxnLst/>
              <a:rect l="l" t="t" r="r" b="b"/>
              <a:pathLst>
                <a:path w="4397709" h="1548262">
                  <a:moveTo>
                    <a:pt x="11502" y="0"/>
                  </a:moveTo>
                  <a:lnTo>
                    <a:pt x="4386207" y="0"/>
                  </a:lnTo>
                  <a:cubicBezTo>
                    <a:pt x="4389257" y="0"/>
                    <a:pt x="4392183" y="1212"/>
                    <a:pt x="4394340" y="3369"/>
                  </a:cubicBezTo>
                  <a:cubicBezTo>
                    <a:pt x="4396497" y="5526"/>
                    <a:pt x="4397709" y="8452"/>
                    <a:pt x="4397709" y="11502"/>
                  </a:cubicBezTo>
                  <a:lnTo>
                    <a:pt x="4397709" y="1536759"/>
                  </a:lnTo>
                  <a:cubicBezTo>
                    <a:pt x="4397709" y="1539810"/>
                    <a:pt x="4396497" y="1542735"/>
                    <a:pt x="4394340" y="1544893"/>
                  </a:cubicBezTo>
                  <a:cubicBezTo>
                    <a:pt x="4392183" y="1547050"/>
                    <a:pt x="4389257" y="1548262"/>
                    <a:pt x="4386207" y="1548262"/>
                  </a:cubicBezTo>
                  <a:lnTo>
                    <a:pt x="11502" y="1548262"/>
                  </a:lnTo>
                  <a:cubicBezTo>
                    <a:pt x="8452" y="1548262"/>
                    <a:pt x="5526" y="1547050"/>
                    <a:pt x="3369" y="1544893"/>
                  </a:cubicBezTo>
                  <a:cubicBezTo>
                    <a:pt x="1212" y="1542735"/>
                    <a:pt x="0" y="1539810"/>
                    <a:pt x="0" y="1536759"/>
                  </a:cubicBezTo>
                  <a:lnTo>
                    <a:pt x="0" y="11502"/>
                  </a:lnTo>
                  <a:cubicBezTo>
                    <a:pt x="0" y="8452"/>
                    <a:pt x="1212" y="5526"/>
                    <a:pt x="3369" y="3369"/>
                  </a:cubicBezTo>
                  <a:cubicBezTo>
                    <a:pt x="5526" y="1212"/>
                    <a:pt x="8452" y="0"/>
                    <a:pt x="11502" y="0"/>
                  </a:cubicBezTo>
                  <a:close/>
                </a:path>
              </a:pathLst>
            </a:custGeom>
            <a:solidFill>
              <a:srgbClr val="0070C0"/>
            </a:solidFill>
            <a:ln w="9525" cap="sq">
              <a:solidFill>
                <a:srgbClr val="000000"/>
              </a:solidFill>
              <a:prstDash val="solid"/>
              <a:miter/>
            </a:ln>
          </p:spPr>
          <p:txBody>
            <a:bodyPr/>
            <a:lstStyle/>
            <a:p>
              <a:endParaRPr lang="en-US"/>
            </a:p>
          </p:txBody>
        </p:sp>
        <p:sp>
          <p:nvSpPr>
            <p:cNvPr id="19" name="TextBox 19"/>
            <p:cNvSpPr txBox="1"/>
            <p:nvPr/>
          </p:nvSpPr>
          <p:spPr>
            <a:xfrm>
              <a:off x="0" y="-38100"/>
              <a:ext cx="4397709" cy="1586362"/>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7269956" y="6860770"/>
            <a:ext cx="9819031" cy="2809875"/>
          </a:xfrm>
          <a:prstGeom prst="rect">
            <a:avLst/>
          </a:prstGeom>
        </p:spPr>
        <p:txBody>
          <a:bodyPr lIns="0" tIns="0" rIns="0" bIns="0" rtlCol="0" anchor="t">
            <a:spAutoFit/>
          </a:bodyPr>
          <a:lstStyle/>
          <a:p>
            <a:pPr algn="l">
              <a:lnSpc>
                <a:spcPts val="3600"/>
              </a:lnSpc>
              <a:spcBef>
                <a:spcPct val="0"/>
              </a:spcBef>
            </a:pPr>
            <a:r>
              <a:rPr lang="en-US" sz="3000" b="1">
                <a:solidFill>
                  <a:srgbClr val="FFFFFF"/>
                </a:solidFill>
                <a:latin typeface="Times New Roman Bold"/>
                <a:ea typeface="Times New Roman Bold"/>
                <a:cs typeface="Times New Roman Bold"/>
                <a:sym typeface="Times New Roman Bold"/>
              </a:rPr>
              <a:t>Situation:</a:t>
            </a:r>
          </a:p>
          <a:p>
            <a:pPr algn="l">
              <a:lnSpc>
                <a:spcPts val="3600"/>
              </a:lnSpc>
              <a:spcBef>
                <a:spcPct val="0"/>
              </a:spcBef>
            </a:pPr>
            <a:endParaRPr lang="en-US" sz="3000" b="1">
              <a:solidFill>
                <a:srgbClr val="FFFFFF"/>
              </a:solidFill>
              <a:latin typeface="Times New Roman Bold"/>
              <a:ea typeface="Times New Roman Bold"/>
              <a:cs typeface="Times New Roman Bold"/>
              <a:sym typeface="Times New Roman Bold"/>
            </a:endParaRPr>
          </a:p>
          <a:p>
            <a:pPr algn="l">
              <a:lnSpc>
                <a:spcPts val="3600"/>
              </a:lnSpc>
              <a:spcBef>
                <a:spcPct val="0"/>
              </a:spcBef>
            </a:pPr>
            <a:r>
              <a:rPr lang="en-US" sz="3000">
                <a:solidFill>
                  <a:srgbClr val="FFFFFF"/>
                </a:solidFill>
                <a:latin typeface="Times New Roman"/>
                <a:ea typeface="Times New Roman"/>
                <a:cs typeface="Times New Roman"/>
                <a:sym typeface="Times New Roman"/>
              </a:rPr>
              <a:t>Marcus and his company have access to this sensitive data.</a:t>
            </a:r>
          </a:p>
          <a:p>
            <a:pPr algn="l">
              <a:lnSpc>
                <a:spcPts val="3600"/>
              </a:lnSpc>
              <a:spcBef>
                <a:spcPct val="0"/>
              </a:spcBef>
            </a:pPr>
            <a:r>
              <a:rPr lang="en-US" sz="3000">
                <a:solidFill>
                  <a:srgbClr val="FFFFFF"/>
                </a:solidFill>
                <a:latin typeface="Times New Roman"/>
                <a:ea typeface="Times New Roman"/>
                <a:cs typeface="Times New Roman"/>
                <a:sym typeface="Times New Roman"/>
              </a:rPr>
              <a:t>The marketing department requests that Marcus supply customer-specific information to better target ads and app suggestions</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0" y="5850198"/>
            <a:ext cx="4438839" cy="4438839"/>
          </a:xfrm>
          <a:custGeom>
            <a:avLst/>
            <a:gdLst/>
            <a:ahLst/>
            <a:cxnLst/>
            <a:rect l="l" t="t" r="r" b="b"/>
            <a:pathLst>
              <a:path w="4438839" h="4438839">
                <a:moveTo>
                  <a:pt x="0" y="0"/>
                </a:moveTo>
                <a:lnTo>
                  <a:pt x="4438839" y="0"/>
                </a:lnTo>
                <a:lnTo>
                  <a:pt x="4438839" y="4438839"/>
                </a:lnTo>
                <a:lnTo>
                  <a:pt x="0" y="44388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901065" y="154313"/>
            <a:ext cx="16310610" cy="2520308"/>
            <a:chOff x="0" y="0"/>
            <a:chExt cx="21747480" cy="3360410"/>
          </a:xfrm>
        </p:grpSpPr>
        <p:sp>
          <p:nvSpPr>
            <p:cNvPr id="4" name="Freeform 4"/>
            <p:cNvSpPr/>
            <p:nvPr/>
          </p:nvSpPr>
          <p:spPr>
            <a:xfrm>
              <a:off x="0" y="0"/>
              <a:ext cx="21747480" cy="3360410"/>
            </a:xfrm>
            <a:custGeom>
              <a:avLst/>
              <a:gdLst/>
              <a:ahLst/>
              <a:cxnLst/>
              <a:rect l="l" t="t" r="r" b="b"/>
              <a:pathLst>
                <a:path w="21747480" h="3360410">
                  <a:moveTo>
                    <a:pt x="0" y="0"/>
                  </a:moveTo>
                  <a:lnTo>
                    <a:pt x="21747480" y="0"/>
                  </a:lnTo>
                  <a:lnTo>
                    <a:pt x="21747480" y="3360410"/>
                  </a:lnTo>
                  <a:lnTo>
                    <a:pt x="0" y="3360410"/>
                  </a:lnTo>
                  <a:close/>
                </a:path>
              </a:pathLst>
            </a:custGeom>
            <a:solidFill>
              <a:srgbClr val="000000">
                <a:alpha val="0"/>
              </a:srgbClr>
            </a:solidFill>
          </p:spPr>
          <p:txBody>
            <a:bodyPr/>
            <a:lstStyle/>
            <a:p>
              <a:endParaRPr lang="en-US"/>
            </a:p>
          </p:txBody>
        </p:sp>
        <p:sp>
          <p:nvSpPr>
            <p:cNvPr id="5" name="TextBox 5"/>
            <p:cNvSpPr txBox="1"/>
            <p:nvPr/>
          </p:nvSpPr>
          <p:spPr>
            <a:xfrm>
              <a:off x="0" y="19050"/>
              <a:ext cx="21747480" cy="3341360"/>
            </a:xfrm>
            <a:prstGeom prst="rect">
              <a:avLst/>
            </a:prstGeom>
          </p:spPr>
          <p:txBody>
            <a:bodyPr lIns="0" tIns="0" rIns="0" bIns="0" rtlCol="0" anchor="b"/>
            <a:lstStyle/>
            <a:p>
              <a:pPr algn="l">
                <a:lnSpc>
                  <a:spcPts val="6336"/>
                </a:lnSpc>
              </a:pPr>
              <a:r>
                <a:rPr lang="en-US" sz="6600" b="1" spc="150">
                  <a:solidFill>
                    <a:srgbClr val="000000"/>
                  </a:solidFill>
                  <a:latin typeface="Times New Roman Bold"/>
                  <a:ea typeface="Times New Roman Bold"/>
                  <a:cs typeface="Times New Roman Bold"/>
                  <a:sym typeface="Times New Roman Bold"/>
                </a:rPr>
                <a:t>Case Study Overview</a:t>
              </a:r>
            </a:p>
          </p:txBody>
        </p:sp>
      </p:grpSp>
      <p:grpSp>
        <p:nvGrpSpPr>
          <p:cNvPr id="6" name="Group 6"/>
          <p:cNvGrpSpPr/>
          <p:nvPr/>
        </p:nvGrpSpPr>
        <p:grpSpPr>
          <a:xfrm>
            <a:off x="5486400" y="3137199"/>
            <a:ext cx="11133022" cy="5725692"/>
            <a:chOff x="0" y="0"/>
            <a:chExt cx="15621000" cy="8033850"/>
          </a:xfrm>
        </p:grpSpPr>
        <p:sp>
          <p:nvSpPr>
            <p:cNvPr id="7" name="Freeform 7"/>
            <p:cNvSpPr/>
            <p:nvPr/>
          </p:nvSpPr>
          <p:spPr>
            <a:xfrm>
              <a:off x="0" y="0"/>
              <a:ext cx="15621000" cy="8033850"/>
            </a:xfrm>
            <a:custGeom>
              <a:avLst/>
              <a:gdLst/>
              <a:ahLst/>
              <a:cxnLst/>
              <a:rect l="l" t="t" r="r" b="b"/>
              <a:pathLst>
                <a:path w="15621000" h="8033850">
                  <a:moveTo>
                    <a:pt x="0" y="0"/>
                  </a:moveTo>
                  <a:lnTo>
                    <a:pt x="15621000" y="0"/>
                  </a:lnTo>
                  <a:lnTo>
                    <a:pt x="15621000" y="8033850"/>
                  </a:lnTo>
                  <a:lnTo>
                    <a:pt x="0" y="8033850"/>
                  </a:lnTo>
                  <a:close/>
                </a:path>
              </a:pathLst>
            </a:custGeom>
            <a:solidFill>
              <a:srgbClr val="000000">
                <a:alpha val="0"/>
              </a:srgbClr>
            </a:solidFill>
          </p:spPr>
          <p:txBody>
            <a:bodyPr/>
            <a:lstStyle/>
            <a:p>
              <a:endParaRPr lang="en-US"/>
            </a:p>
          </p:txBody>
        </p:sp>
        <p:sp>
          <p:nvSpPr>
            <p:cNvPr id="8" name="TextBox 8"/>
            <p:cNvSpPr txBox="1"/>
            <p:nvPr/>
          </p:nvSpPr>
          <p:spPr>
            <a:xfrm>
              <a:off x="0" y="-28575"/>
              <a:ext cx="15621000" cy="8062425"/>
            </a:xfrm>
            <a:prstGeom prst="rect">
              <a:avLst/>
            </a:prstGeom>
          </p:spPr>
          <p:txBody>
            <a:bodyPr lIns="0" tIns="0" rIns="0" bIns="0" rtlCol="0" anchor="t"/>
            <a:lstStyle/>
            <a:p>
              <a:pPr algn="l">
                <a:lnSpc>
                  <a:spcPts val="3240"/>
                </a:lnSpc>
              </a:pPr>
              <a:r>
                <a:rPr lang="en-US" sz="3000" b="1" dirty="0">
                  <a:solidFill>
                    <a:srgbClr val="000000"/>
                  </a:solidFill>
                  <a:latin typeface="Times New Roman Bold"/>
                  <a:ea typeface="Times New Roman Bold"/>
                  <a:cs typeface="Times New Roman Bold"/>
                  <a:sym typeface="Times New Roman Bold"/>
                </a:rPr>
                <a:t>Ethical Dilemma:</a:t>
              </a:r>
            </a:p>
            <a:p>
              <a:pPr algn="l">
                <a:lnSpc>
                  <a:spcPts val="3240"/>
                </a:lnSpc>
              </a:pPr>
              <a:endParaRPr lang="en-US" sz="3000" b="1" dirty="0">
                <a:solidFill>
                  <a:srgbClr val="000000"/>
                </a:solidFill>
                <a:latin typeface="Times New Roman Bold"/>
                <a:ea typeface="Times New Roman Bold"/>
                <a:cs typeface="Times New Roman Bold"/>
                <a:sym typeface="Times New Roman Bold"/>
              </a:endParaRPr>
            </a:p>
            <a:p>
              <a:pPr marL="542925" lvl="1" indent="-271462" algn="l">
                <a:lnSpc>
                  <a:spcPts val="3240"/>
                </a:lnSpc>
                <a:buFont typeface="Arial"/>
                <a:buChar char="•"/>
              </a:pPr>
              <a:r>
                <a:rPr lang="en-US" sz="3000" dirty="0">
                  <a:solidFill>
                    <a:srgbClr val="000000"/>
                  </a:solidFill>
                  <a:latin typeface="Times New Roman"/>
                  <a:ea typeface="Times New Roman"/>
                  <a:cs typeface="Times New Roman"/>
                  <a:sym typeface="Times New Roman"/>
                </a:rPr>
                <a:t>While Marcus is part of a company that may benefit from sharing data, he believes in protecting the privacy of the app users.Marcus wrestles with the decision of how much of the user’s information should be shared with marketing.</a:t>
              </a:r>
            </a:p>
            <a:p>
              <a:pPr algn="l">
                <a:lnSpc>
                  <a:spcPts val="3240"/>
                </a:lnSpc>
              </a:pPr>
              <a:endParaRPr lang="en-US" sz="3000" dirty="0">
                <a:solidFill>
                  <a:srgbClr val="000000"/>
                </a:solidFill>
                <a:latin typeface="Times New Roman"/>
                <a:ea typeface="Times New Roman"/>
                <a:cs typeface="Times New Roman"/>
                <a:sym typeface="Times New Roman"/>
              </a:endParaRPr>
            </a:p>
            <a:p>
              <a:pPr marL="542925" lvl="1" indent="-271462" algn="l">
                <a:lnSpc>
                  <a:spcPts val="3240"/>
                </a:lnSpc>
              </a:pPr>
              <a:r>
                <a:rPr lang="en-US" sz="3000" b="1" dirty="0">
                  <a:solidFill>
                    <a:srgbClr val="000000"/>
                  </a:solidFill>
                  <a:latin typeface="Times New Roman Bold"/>
                  <a:ea typeface="Times New Roman Bold"/>
                  <a:cs typeface="Times New Roman Bold"/>
                  <a:sym typeface="Times New Roman Bold"/>
                </a:rPr>
                <a:t>Context Note:</a:t>
              </a:r>
            </a:p>
            <a:p>
              <a:pPr marL="542925" lvl="1" indent="-271462" algn="l">
                <a:lnSpc>
                  <a:spcPts val="3240"/>
                </a:lnSpc>
              </a:pPr>
              <a:endParaRPr lang="en-US" sz="3000" b="1" dirty="0">
                <a:solidFill>
                  <a:srgbClr val="000000"/>
                </a:solidFill>
                <a:latin typeface="Times New Roman Bold"/>
                <a:ea typeface="Times New Roman Bold"/>
                <a:cs typeface="Times New Roman Bold"/>
                <a:sym typeface="Times New Roman Bold"/>
              </a:endParaRPr>
            </a:p>
            <a:p>
              <a:pPr marL="542925" lvl="1" indent="-271462" algn="l">
                <a:lnSpc>
                  <a:spcPts val="3240"/>
                </a:lnSpc>
                <a:buFont typeface="Arial"/>
                <a:buChar char="•"/>
              </a:pPr>
              <a:r>
                <a:rPr lang="en-US" sz="3000" dirty="0">
                  <a:solidFill>
                    <a:srgbClr val="000000"/>
                  </a:solidFill>
                  <a:latin typeface="Times New Roman"/>
                  <a:ea typeface="Times New Roman"/>
                  <a:cs typeface="Times New Roman"/>
                  <a:sym typeface="Times New Roman"/>
                </a:rPr>
                <a:t>This case study is inspired by the work of Clare Bartlett, a 2014-2015 Hackworth Fellow in Engineering Ethics at the Markkula Center for Applied Ethics, Santa Clara University (August 2015)</a:t>
              </a:r>
            </a:p>
            <a:p>
              <a:pPr marL="542925" lvl="1" indent="-271462" algn="l">
                <a:lnSpc>
                  <a:spcPts val="3240"/>
                </a:lnSpc>
              </a:pPr>
              <a:endParaRPr lang="en-US" sz="3000" dirty="0">
                <a:solidFill>
                  <a:srgbClr val="000000"/>
                </a:solidFill>
                <a:latin typeface="Times New Roman"/>
                <a:ea typeface="Times New Roman"/>
                <a:cs typeface="Times New Roman"/>
                <a:sym typeface="Times New Roman"/>
              </a:endParaRPr>
            </a:p>
            <a:p>
              <a:pPr marL="542925" lvl="1" indent="-271462" algn="l">
                <a:lnSpc>
                  <a:spcPts val="3240"/>
                </a:lnSpc>
              </a:pPr>
              <a:endParaRPr lang="en-US" sz="3000" dirty="0">
                <a:solidFill>
                  <a:srgbClr val="000000"/>
                </a:solidFill>
                <a:latin typeface="Times New Roman"/>
                <a:ea typeface="Times New Roman"/>
                <a:cs typeface="Times New Roman"/>
                <a:sym typeface="Times New Roman"/>
              </a:endParaRPr>
            </a:p>
          </p:txBody>
        </p:sp>
      </p:grpSp>
      <p:sp>
        <p:nvSpPr>
          <p:cNvPr id="12" name="TextBox 12"/>
          <p:cNvSpPr txBox="1"/>
          <p:nvPr/>
        </p:nvSpPr>
        <p:spPr>
          <a:xfrm>
            <a:off x="891540" y="9469755"/>
            <a:ext cx="784860" cy="40005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a:extLst>
            <a:ext uri="{FF2B5EF4-FFF2-40B4-BE49-F238E27FC236}">
              <a16:creationId xmlns:a16="http://schemas.microsoft.com/office/drawing/2014/main" id="{4576BB3F-FC38-B199-7DC8-5B4F4B25433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0B9F172-17FA-2F70-88D6-D15FA72ECDBA}"/>
              </a:ext>
            </a:extLst>
          </p:cNvPr>
          <p:cNvSpPr/>
          <p:nvPr/>
        </p:nvSpPr>
        <p:spPr>
          <a:xfrm rot="10800000">
            <a:off x="13049252" y="30726"/>
            <a:ext cx="5238748" cy="3848100"/>
          </a:xfrm>
          <a:custGeom>
            <a:avLst/>
            <a:gdLst/>
            <a:ahLst/>
            <a:cxnLst/>
            <a:rect l="l" t="t" r="r" b="b"/>
            <a:pathLst>
              <a:path w="9148872" h="9148872">
                <a:moveTo>
                  <a:pt x="0" y="0"/>
                </a:moveTo>
                <a:lnTo>
                  <a:pt x="9148872" y="0"/>
                </a:lnTo>
                <a:lnTo>
                  <a:pt x="9148872" y="9148872"/>
                </a:lnTo>
                <a:lnTo>
                  <a:pt x="0" y="914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11" name="TextBox 10">
            <a:extLst>
              <a:ext uri="{FF2B5EF4-FFF2-40B4-BE49-F238E27FC236}">
                <a16:creationId xmlns:a16="http://schemas.microsoft.com/office/drawing/2014/main" id="{50414A31-7279-B01B-F142-398CE078B36E}"/>
              </a:ext>
            </a:extLst>
          </p:cNvPr>
          <p:cNvSpPr txBox="1"/>
          <p:nvPr/>
        </p:nvSpPr>
        <p:spPr>
          <a:xfrm>
            <a:off x="1066800" y="143362"/>
            <a:ext cx="9144000" cy="1015663"/>
          </a:xfrm>
          <a:prstGeom prst="rect">
            <a:avLst/>
          </a:prstGeom>
          <a:noFill/>
        </p:spPr>
        <p:txBody>
          <a:bodyPr wrap="square">
            <a:spAutoFit/>
          </a:bodyPr>
          <a:lstStyle/>
          <a:p>
            <a:r>
              <a:rPr lang="en-US" sz="6000" b="1" dirty="0">
                <a:latin typeface="Times New Roman" panose="02020603050405020304" pitchFamily="18" charset="0"/>
                <a:cs typeface="Times New Roman" panose="02020603050405020304" pitchFamily="18" charset="0"/>
              </a:rPr>
              <a:t>Ethical Cycle</a:t>
            </a:r>
            <a:endParaRPr lang="en-US" sz="6000" b="1" dirty="0"/>
          </a:p>
        </p:txBody>
      </p:sp>
      <p:pic>
        <p:nvPicPr>
          <p:cNvPr id="5" name="Picture 4">
            <a:extLst>
              <a:ext uri="{FF2B5EF4-FFF2-40B4-BE49-F238E27FC236}">
                <a16:creationId xmlns:a16="http://schemas.microsoft.com/office/drawing/2014/main" id="{9B022360-9252-4C70-9A03-02C1B87F9C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1409700"/>
            <a:ext cx="14658889" cy="8245625"/>
          </a:xfrm>
          <a:prstGeom prst="rect">
            <a:avLst/>
          </a:prstGeom>
        </p:spPr>
      </p:pic>
    </p:spTree>
    <p:extLst>
      <p:ext uri="{BB962C8B-B14F-4D97-AF65-F5344CB8AC3E}">
        <p14:creationId xmlns:p14="http://schemas.microsoft.com/office/powerpoint/2010/main" val="380712437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1" y="1138128"/>
            <a:ext cx="9148872" cy="9148872"/>
          </a:xfrm>
          <a:custGeom>
            <a:avLst/>
            <a:gdLst/>
            <a:ahLst/>
            <a:cxnLst/>
            <a:rect l="l" t="t" r="r" b="b"/>
            <a:pathLst>
              <a:path w="9148872" h="9148872">
                <a:moveTo>
                  <a:pt x="0" y="0"/>
                </a:moveTo>
                <a:lnTo>
                  <a:pt x="9148873" y="0"/>
                </a:lnTo>
                <a:lnTo>
                  <a:pt x="9148873" y="9148872"/>
                </a:lnTo>
                <a:lnTo>
                  <a:pt x="0" y="914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9753600" y="2247900"/>
            <a:ext cx="7162800" cy="4937760"/>
            <a:chOff x="-4057864" y="0"/>
            <a:chExt cx="15030664" cy="6583680"/>
          </a:xfrm>
        </p:grpSpPr>
        <p:sp>
          <p:nvSpPr>
            <p:cNvPr id="4" name="Freeform 4"/>
            <p:cNvSpPr/>
            <p:nvPr/>
          </p:nvSpPr>
          <p:spPr>
            <a:xfrm>
              <a:off x="0" y="0"/>
              <a:ext cx="10972800" cy="6583680"/>
            </a:xfrm>
            <a:custGeom>
              <a:avLst/>
              <a:gdLst/>
              <a:ahLst/>
              <a:cxnLst/>
              <a:rect l="l" t="t" r="r" b="b"/>
              <a:pathLst>
                <a:path w="10972800" h="6583680">
                  <a:moveTo>
                    <a:pt x="0" y="0"/>
                  </a:moveTo>
                  <a:lnTo>
                    <a:pt x="10972800" y="0"/>
                  </a:lnTo>
                  <a:lnTo>
                    <a:pt x="10972800" y="6583680"/>
                  </a:lnTo>
                  <a:lnTo>
                    <a:pt x="0" y="6583680"/>
                  </a:lnTo>
                  <a:close/>
                </a:path>
              </a:pathLst>
            </a:custGeom>
            <a:solidFill>
              <a:srgbClr val="000000">
                <a:alpha val="0"/>
              </a:srgbClr>
            </a:solidFill>
          </p:spPr>
          <p:txBody>
            <a:bodyPr/>
            <a:lstStyle/>
            <a:p>
              <a:endParaRPr lang="en-US"/>
            </a:p>
          </p:txBody>
        </p:sp>
        <p:sp>
          <p:nvSpPr>
            <p:cNvPr id="5" name="TextBox 5"/>
            <p:cNvSpPr txBox="1"/>
            <p:nvPr/>
          </p:nvSpPr>
          <p:spPr>
            <a:xfrm>
              <a:off x="-4057864" y="28575"/>
              <a:ext cx="15030664" cy="6555105"/>
            </a:xfrm>
            <a:prstGeom prst="rect">
              <a:avLst/>
            </a:prstGeom>
          </p:spPr>
          <p:txBody>
            <a:bodyPr lIns="0" tIns="0" rIns="0" bIns="0" rtlCol="0" anchor="b"/>
            <a:lstStyle/>
            <a:p>
              <a:pPr algn="l">
                <a:lnSpc>
                  <a:spcPts val="8640"/>
                </a:lnSpc>
              </a:pPr>
              <a:r>
                <a:rPr lang="en-US" sz="9000" b="1" spc="150" dirty="0">
                  <a:solidFill>
                    <a:srgbClr val="000000"/>
                  </a:solidFill>
                  <a:latin typeface="Times New Roman Bold"/>
                  <a:ea typeface="Times New Roman Bold"/>
                  <a:cs typeface="Times New Roman Bold"/>
                  <a:sym typeface="Times New Roman Bold"/>
                </a:rPr>
                <a:t>Ethical Code</a:t>
              </a:r>
            </a:p>
            <a:p>
              <a:pPr algn="l">
                <a:lnSpc>
                  <a:spcPts val="8640"/>
                </a:lnSpc>
              </a:pPr>
              <a:r>
                <a:rPr lang="en-US" sz="9000" b="1" spc="150" dirty="0">
                  <a:solidFill>
                    <a:srgbClr val="000000"/>
                  </a:solidFill>
                  <a:latin typeface="Times New Roman Bold"/>
                  <a:ea typeface="Times New Roman Bold"/>
                  <a:cs typeface="Times New Roman Bold"/>
                  <a:sym typeface="Times New Roman Bold"/>
                </a:rPr>
                <a:t>Violation 1</a:t>
              </a:r>
            </a:p>
            <a:p>
              <a:pPr algn="l">
                <a:lnSpc>
                  <a:spcPts val="8640"/>
                </a:lnSpc>
              </a:pPr>
              <a:endParaRPr lang="en-US" sz="9000" b="1" spc="150" dirty="0">
                <a:solidFill>
                  <a:srgbClr val="000000"/>
                </a:solidFill>
                <a:latin typeface="Times New Roman Bold"/>
                <a:ea typeface="Times New Roman Bold"/>
                <a:cs typeface="Times New Roman Bold"/>
                <a:sym typeface="Times New Roman Bold"/>
              </a:endParaRPr>
            </a:p>
          </p:txBody>
        </p:sp>
      </p:gr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13305060" y="0"/>
            <a:ext cx="4987812" cy="4987812"/>
          </a:xfrm>
          <a:custGeom>
            <a:avLst/>
            <a:gdLst/>
            <a:ahLst/>
            <a:cxnLst/>
            <a:rect l="l" t="t" r="r" b="b"/>
            <a:pathLst>
              <a:path w="4987812" h="4987812">
                <a:moveTo>
                  <a:pt x="0" y="0"/>
                </a:moveTo>
                <a:lnTo>
                  <a:pt x="4987812" y="0"/>
                </a:lnTo>
                <a:lnTo>
                  <a:pt x="4987812" y="4987812"/>
                </a:lnTo>
                <a:lnTo>
                  <a:pt x="0" y="49878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623851" y="431481"/>
            <a:ext cx="14935237" cy="2366714"/>
            <a:chOff x="-356919" y="19050"/>
            <a:chExt cx="19913649" cy="3155619"/>
          </a:xfrm>
        </p:grpSpPr>
        <p:sp>
          <p:nvSpPr>
            <p:cNvPr id="4" name="Freeform 4"/>
            <p:cNvSpPr/>
            <p:nvPr/>
          </p:nvSpPr>
          <p:spPr>
            <a:xfrm>
              <a:off x="-356919" y="185477"/>
              <a:ext cx="19556730" cy="2989192"/>
            </a:xfrm>
            <a:custGeom>
              <a:avLst/>
              <a:gdLst/>
              <a:ahLst/>
              <a:cxnLst/>
              <a:rect l="l" t="t" r="r" b="b"/>
              <a:pathLst>
                <a:path w="19556730" h="2989192">
                  <a:moveTo>
                    <a:pt x="0" y="0"/>
                  </a:moveTo>
                  <a:lnTo>
                    <a:pt x="19556730" y="0"/>
                  </a:lnTo>
                  <a:lnTo>
                    <a:pt x="19556730" y="2989192"/>
                  </a:lnTo>
                  <a:lnTo>
                    <a:pt x="0" y="2989192"/>
                  </a:lnTo>
                  <a:close/>
                </a:path>
              </a:pathLst>
            </a:custGeom>
            <a:solidFill>
              <a:srgbClr val="000000">
                <a:alpha val="0"/>
              </a:srgbClr>
            </a:solidFill>
          </p:spPr>
          <p:txBody>
            <a:bodyPr/>
            <a:lstStyle/>
            <a:p>
              <a:endParaRPr lang="en-US"/>
            </a:p>
          </p:txBody>
        </p:sp>
        <p:sp>
          <p:nvSpPr>
            <p:cNvPr id="5" name="TextBox 5"/>
            <p:cNvSpPr txBox="1"/>
            <p:nvPr/>
          </p:nvSpPr>
          <p:spPr>
            <a:xfrm>
              <a:off x="0" y="19050"/>
              <a:ext cx="19556730" cy="2970142"/>
            </a:xfrm>
            <a:prstGeom prst="rect">
              <a:avLst/>
            </a:prstGeom>
          </p:spPr>
          <p:txBody>
            <a:bodyPr lIns="0" tIns="0" rIns="0" bIns="0" rtlCol="0" anchor="b"/>
            <a:lstStyle/>
            <a:p>
              <a:pPr algn="l">
                <a:lnSpc>
                  <a:spcPts val="6336"/>
                </a:lnSpc>
              </a:pPr>
              <a:r>
                <a:rPr lang="en-US" sz="6600" b="1" spc="150" dirty="0">
                  <a:solidFill>
                    <a:srgbClr val="000000"/>
                  </a:solidFill>
                  <a:latin typeface="Times New Roman Bold"/>
                  <a:ea typeface="Times New Roman Bold"/>
                  <a:cs typeface="Times New Roman Bold"/>
                  <a:sym typeface="Times New Roman Bold"/>
                </a:rPr>
                <a:t>Violation 1:</a:t>
              </a:r>
            </a:p>
          </p:txBody>
        </p:sp>
      </p:grpSp>
      <p:grpSp>
        <p:nvGrpSpPr>
          <p:cNvPr id="6" name="Group 6"/>
          <p:cNvGrpSpPr/>
          <p:nvPr/>
        </p:nvGrpSpPr>
        <p:grpSpPr>
          <a:xfrm>
            <a:off x="660427" y="3280202"/>
            <a:ext cx="15818148" cy="5707546"/>
            <a:chOff x="0" y="-415121"/>
            <a:chExt cx="21090864" cy="7610061"/>
          </a:xfrm>
        </p:grpSpPr>
        <p:sp>
          <p:nvSpPr>
            <p:cNvPr id="7" name="Freeform 7"/>
            <p:cNvSpPr/>
            <p:nvPr/>
          </p:nvSpPr>
          <p:spPr>
            <a:xfrm>
              <a:off x="0" y="0"/>
              <a:ext cx="19939434" cy="7194940"/>
            </a:xfrm>
            <a:custGeom>
              <a:avLst/>
              <a:gdLst/>
              <a:ahLst/>
              <a:cxnLst/>
              <a:rect l="l" t="t" r="r" b="b"/>
              <a:pathLst>
                <a:path w="19939434" h="7194940">
                  <a:moveTo>
                    <a:pt x="0" y="0"/>
                  </a:moveTo>
                  <a:lnTo>
                    <a:pt x="19939434" y="0"/>
                  </a:lnTo>
                  <a:lnTo>
                    <a:pt x="19939434" y="7194940"/>
                  </a:lnTo>
                  <a:lnTo>
                    <a:pt x="0" y="7194940"/>
                  </a:lnTo>
                  <a:close/>
                </a:path>
              </a:pathLst>
            </a:custGeom>
            <a:solidFill>
              <a:srgbClr val="000000">
                <a:alpha val="0"/>
              </a:srgbClr>
            </a:solidFill>
          </p:spPr>
          <p:txBody>
            <a:bodyPr/>
            <a:lstStyle/>
            <a:p>
              <a:endParaRPr lang="en-US"/>
            </a:p>
          </p:txBody>
        </p:sp>
        <p:sp>
          <p:nvSpPr>
            <p:cNvPr id="8" name="TextBox 8"/>
            <p:cNvSpPr txBox="1"/>
            <p:nvPr/>
          </p:nvSpPr>
          <p:spPr>
            <a:xfrm>
              <a:off x="1151431" y="-415121"/>
              <a:ext cx="19939433" cy="7233040"/>
            </a:xfrm>
            <a:prstGeom prst="rect">
              <a:avLst/>
            </a:prstGeom>
          </p:spPr>
          <p:txBody>
            <a:bodyPr lIns="0" tIns="0" rIns="0" bIns="0" rtlCol="0" anchor="t"/>
            <a:lstStyle/>
            <a:p>
              <a:pPr algn="l">
                <a:lnSpc>
                  <a:spcPts val="5184"/>
                </a:lnSpc>
              </a:pPr>
              <a:r>
                <a:rPr lang="en-US" sz="4800" dirty="0">
                  <a:solidFill>
                    <a:srgbClr val="FF0000"/>
                  </a:solidFill>
                  <a:latin typeface="Times New Roman"/>
                  <a:ea typeface="Times New Roman"/>
                  <a:cs typeface="Times New Roman"/>
                  <a:sym typeface="Times New Roman"/>
                </a:rPr>
                <a:t>NSPE III.4</a:t>
              </a:r>
            </a:p>
            <a:p>
              <a:pPr algn="l">
                <a:lnSpc>
                  <a:spcPts val="5184"/>
                </a:lnSpc>
              </a:pPr>
              <a:endParaRPr lang="en-US" sz="4800" dirty="0">
                <a:solidFill>
                  <a:srgbClr val="FF0000"/>
                </a:solidFill>
                <a:latin typeface="Times New Roman"/>
                <a:ea typeface="Times New Roman"/>
                <a:cs typeface="Times New Roman"/>
                <a:sym typeface="Times New Roman"/>
              </a:endParaRPr>
            </a:p>
            <a:p>
              <a:pPr algn="l">
                <a:lnSpc>
                  <a:spcPts val="3240"/>
                </a:lnSpc>
              </a:pPr>
              <a:r>
                <a:rPr lang="en-US" sz="3000" dirty="0">
                  <a:solidFill>
                    <a:srgbClr val="000000"/>
                  </a:solidFill>
                  <a:latin typeface="Times New Roman"/>
                  <a:ea typeface="Times New Roman"/>
                  <a:cs typeface="Times New Roman"/>
                  <a:sym typeface="Times New Roman"/>
                </a:rPr>
                <a:t>Engineers shall not disclose, without consent, confidential information concerning the business affairs or technical processes of any present or former client or employer, or public body on which they serve.</a:t>
              </a:r>
            </a:p>
            <a:p>
              <a:pPr algn="l">
                <a:lnSpc>
                  <a:spcPts val="3240"/>
                </a:lnSpc>
              </a:pPr>
              <a:endParaRPr lang="en-US" sz="3000" dirty="0">
                <a:solidFill>
                  <a:srgbClr val="000000"/>
                </a:solidFill>
                <a:latin typeface="Times New Roman"/>
                <a:ea typeface="Times New Roman"/>
                <a:cs typeface="Times New Roman"/>
                <a:sym typeface="Times New Roman"/>
              </a:endParaRPr>
            </a:p>
            <a:p>
              <a:pPr algn="l">
                <a:lnSpc>
                  <a:spcPts val="3240"/>
                </a:lnSpc>
              </a:pPr>
              <a:r>
                <a:rPr lang="en-US" sz="3000" dirty="0">
                  <a:solidFill>
                    <a:srgbClr val="000000"/>
                  </a:solidFill>
                  <a:latin typeface="Times New Roman"/>
                  <a:ea typeface="Times New Roman"/>
                  <a:cs typeface="Times New Roman"/>
                  <a:sym typeface="Times New Roman"/>
                </a:rPr>
                <a:t>a. Engineers shall not, without the consent of all interested parties, promote or arrange for new employment or practice in connection with a specific project for which the engineer has gained particular and specialized knowledge. </a:t>
              </a:r>
            </a:p>
          </p:txBody>
        </p:sp>
      </p:grpSp>
      <p:grpSp>
        <p:nvGrpSpPr>
          <p:cNvPr id="9" name="Group 9"/>
          <p:cNvGrpSpPr/>
          <p:nvPr/>
        </p:nvGrpSpPr>
        <p:grpSpPr>
          <a:xfrm>
            <a:off x="891540" y="9498330"/>
            <a:ext cx="784860" cy="371477"/>
            <a:chOff x="0" y="0"/>
            <a:chExt cx="1046480" cy="495302"/>
          </a:xfrm>
        </p:grpSpPr>
        <p:sp>
          <p:nvSpPr>
            <p:cNvPr id="10" name="Freeform 10"/>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11" name="TextBox 11"/>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891540" y="9498330"/>
            <a:ext cx="784860" cy="371477"/>
            <a:chOff x="0" y="0"/>
            <a:chExt cx="1046480" cy="495302"/>
          </a:xfrm>
        </p:grpSpPr>
        <p:sp>
          <p:nvSpPr>
            <p:cNvPr id="3" name="Freeform 3"/>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4" name="TextBox 4"/>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sp>
        <p:nvSpPr>
          <p:cNvPr id="7" name="TextBox 7"/>
          <p:cNvSpPr txBox="1"/>
          <p:nvPr/>
        </p:nvSpPr>
        <p:spPr>
          <a:xfrm>
            <a:off x="915924" y="1181843"/>
            <a:ext cx="15471084" cy="7923313"/>
          </a:xfrm>
          <a:prstGeom prst="rect">
            <a:avLst/>
          </a:prstGeom>
        </p:spPr>
        <p:txBody>
          <a:bodyPr lIns="0" tIns="0" rIns="0" bIns="0" rtlCol="0" anchor="t"/>
          <a:lstStyle/>
          <a:p>
            <a:pPr marL="897255" lvl="1" indent="-571500" algn="l">
              <a:lnSpc>
                <a:spcPts val="4320"/>
              </a:lnSpc>
              <a:buFont typeface="Wingdings" panose="05000000000000000000" pitchFamily="2" charset="2"/>
              <a:buChar char="v"/>
            </a:pPr>
            <a:r>
              <a:rPr lang="en-US" sz="3600" dirty="0">
                <a:solidFill>
                  <a:srgbClr val="000000"/>
                </a:solidFill>
                <a:latin typeface="Times New Roman"/>
                <a:ea typeface="Times New Roman"/>
                <a:cs typeface="Times New Roman"/>
                <a:sym typeface="Times New Roman"/>
              </a:rPr>
              <a:t>Implications for the Professional Field</a:t>
            </a:r>
          </a:p>
          <a:p>
            <a:pPr marL="488632" lvl="1" indent="-244316" algn="l">
              <a:lnSpc>
                <a:spcPts val="3240"/>
              </a:lnSpc>
            </a:pPr>
            <a:endParaRPr lang="en-US" sz="3600" dirty="0">
              <a:solidFill>
                <a:srgbClr val="000000"/>
              </a:solidFill>
              <a:latin typeface="Times New Roman"/>
              <a:ea typeface="Times New Roman"/>
              <a:cs typeface="Times New Roman"/>
              <a:sym typeface="Times New Roman"/>
            </a:endParaRPr>
          </a:p>
          <a:p>
            <a:pPr marL="945832" lvl="2" indent="-244316">
              <a:lnSpc>
                <a:spcPts val="3240"/>
              </a:lnSpc>
              <a:buAutoNum type="arabicPeriod"/>
            </a:pPr>
            <a:r>
              <a:rPr lang="en-US" sz="2700" b="1" dirty="0">
                <a:solidFill>
                  <a:srgbClr val="000000"/>
                </a:solidFill>
                <a:latin typeface="Times New Roman Bold"/>
                <a:ea typeface="Times New Roman Bold"/>
                <a:cs typeface="Times New Roman Bold"/>
                <a:sym typeface="Times New Roman Bold"/>
              </a:rPr>
              <a:t>Confidentiality and Trust:</a:t>
            </a:r>
          </a:p>
          <a:p>
            <a:pPr marL="701516" lvl="2">
              <a:lnSpc>
                <a:spcPts val="3240"/>
              </a:lnSpc>
            </a:pPr>
            <a:endParaRPr lang="en-US" sz="2700" b="1" dirty="0">
              <a:solidFill>
                <a:srgbClr val="000000"/>
              </a:solidFill>
              <a:latin typeface="Times New Roman Bold"/>
              <a:ea typeface="Times New Roman Bold"/>
              <a:cs typeface="Times New Roman Bold"/>
              <a:sym typeface="Times New Roman Bold"/>
            </a:endParaRPr>
          </a:p>
          <a:p>
            <a:pPr marL="945832" lvl="2" indent="-244316">
              <a:lnSpc>
                <a:spcPts val="3240"/>
              </a:lnSpc>
              <a:buFont typeface="Arial"/>
              <a:buChar char="•"/>
            </a:pPr>
            <a:r>
              <a:rPr lang="en-US" sz="2700" dirty="0">
                <a:solidFill>
                  <a:srgbClr val="000000"/>
                </a:solidFill>
                <a:latin typeface="Times New Roman"/>
                <a:ea typeface="Times New Roman"/>
                <a:cs typeface="Times New Roman"/>
                <a:sym typeface="Times New Roman"/>
              </a:rPr>
              <a:t>  </a:t>
            </a:r>
            <a:r>
              <a:rPr lang="en-SG" sz="2800" b="0" i="0" dirty="0">
                <a:solidFill>
                  <a:srgbClr val="000000"/>
                </a:solidFill>
                <a:effectLst/>
                <a:latin typeface="Times New Roman" panose="02020603050405020304" pitchFamily="18" charset="0"/>
                <a:cs typeface="Times New Roman" panose="02020603050405020304" pitchFamily="18" charset="0"/>
              </a:rPr>
              <a:t>Professional Integrity </a:t>
            </a:r>
            <a:r>
              <a:rPr lang="en-SG" sz="2800" b="0" i="0" u="none" strike="noStrike" dirty="0">
                <a:solidFill>
                  <a:srgbClr val="000000"/>
                </a:solidFill>
                <a:effectLst/>
                <a:latin typeface="Times New Roman" panose="02020603050405020304" pitchFamily="18" charset="0"/>
                <a:cs typeface="Times New Roman" panose="02020603050405020304" pitchFamily="18" charset="0"/>
              </a:rPr>
              <a:t>:Engineers should keep information private to stay ethical and earn trust</a:t>
            </a: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945832" lvl="2" indent="-244316">
              <a:lnSpc>
                <a:spcPts val="3240"/>
              </a:lnSpc>
            </a:pP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1158716" lvl="2" indent="-457200">
              <a:lnSpc>
                <a:spcPts val="3240"/>
              </a:lnSpc>
              <a:buFont typeface="Arial" panose="020B0604020202020204" pitchFamily="34" charset="0"/>
              <a:buChar char="•"/>
            </a:pPr>
            <a:r>
              <a:rPr lang="en-SG" sz="2800" b="0" i="0" dirty="0">
                <a:solidFill>
                  <a:srgbClr val="000000"/>
                </a:solidFill>
                <a:effectLst/>
                <a:latin typeface="Times New Roman" panose="02020603050405020304" pitchFamily="18" charset="0"/>
                <a:cs typeface="Times New Roman" panose="02020603050405020304" pitchFamily="18" charset="0"/>
              </a:rPr>
              <a:t>Data Protection: </a:t>
            </a:r>
            <a:r>
              <a:rPr lang="en-SG" sz="2800" b="0" i="0" u="none" strike="noStrike" dirty="0">
                <a:solidFill>
                  <a:srgbClr val="000000"/>
                </a:solidFill>
                <a:effectLst/>
                <a:latin typeface="Times New Roman" panose="02020603050405020304" pitchFamily="18" charset="0"/>
                <a:cs typeface="Times New Roman" panose="02020603050405020304" pitchFamily="18" charset="0"/>
              </a:rPr>
              <a:t>In the digital world, engineers must keep data safe, private, and clearly explain how it’s used</a:t>
            </a:r>
          </a:p>
          <a:p>
            <a:pPr marL="701516" lvl="2">
              <a:lnSpc>
                <a:spcPts val="3240"/>
              </a:lnSpc>
            </a:pPr>
            <a:endParaRPr lang="en-US" sz="36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945832" lvl="2" indent="-244316">
              <a:lnSpc>
                <a:spcPts val="3240"/>
              </a:lnSpc>
            </a:pPr>
            <a:r>
              <a:rPr lang="en-US" sz="2700" b="1" dirty="0">
                <a:solidFill>
                  <a:srgbClr val="000000"/>
                </a:solidFill>
                <a:latin typeface="Times New Roman Bold"/>
                <a:ea typeface="Times New Roman Bold"/>
                <a:cs typeface="Times New Roman Bold"/>
                <a:sym typeface="Times New Roman Bold"/>
              </a:rPr>
              <a:t>2. Boundaries of Disclosure:</a:t>
            </a:r>
          </a:p>
          <a:p>
            <a:pPr marL="945832" lvl="2" indent="-244316">
              <a:lnSpc>
                <a:spcPts val="3240"/>
              </a:lnSpc>
            </a:pPr>
            <a:endParaRPr lang="en-US" sz="2700" b="1" dirty="0">
              <a:solidFill>
                <a:srgbClr val="000000"/>
              </a:solidFill>
              <a:latin typeface="Times New Roman Bold"/>
              <a:ea typeface="Times New Roman Bold"/>
              <a:cs typeface="Times New Roman Bold"/>
              <a:sym typeface="Times New Roman Bold"/>
            </a:endParaRPr>
          </a:p>
          <a:p>
            <a:pPr marL="945832" lvl="2" indent="-244316">
              <a:lnSpc>
                <a:spcPts val="3240"/>
              </a:lnSpc>
              <a:buFont typeface="Arial"/>
              <a:buChar char="•"/>
            </a:pPr>
            <a:r>
              <a:rPr lang="en-US" sz="2700" dirty="0">
                <a:solidFill>
                  <a:srgbClr val="000000"/>
                </a:solidFill>
                <a:latin typeface="Times New Roman"/>
                <a:ea typeface="Times New Roman"/>
                <a:cs typeface="Times New Roman"/>
                <a:sym typeface="Times New Roman"/>
              </a:rPr>
              <a:t>  Limited Sharing: </a:t>
            </a:r>
            <a:r>
              <a:rPr lang="en-SG" sz="2700" b="0" i="0" u="none" strike="noStrike" dirty="0">
                <a:solidFill>
                  <a:srgbClr val="000000"/>
                </a:solidFill>
                <a:effectLst/>
                <a:latin typeface="Times New Roman" panose="02020603050405020304" pitchFamily="18" charset="0"/>
                <a:cs typeface="Times New Roman" panose="02020603050405020304" pitchFamily="18" charset="0"/>
              </a:rPr>
              <a:t>Only non-sensitive or anonymous info should be shared ,sharing personal medical data without consent is a clear violation</a:t>
            </a:r>
            <a:endPar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945832" lvl="2" indent="-244316">
              <a:lnSpc>
                <a:spcPts val="3240"/>
              </a:lnSpc>
            </a:pPr>
            <a:endPar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945832" lvl="2" indent="-244316">
              <a:lnSpc>
                <a:spcPts val="3240"/>
              </a:lnSpc>
              <a:buFont typeface="Arial"/>
              <a:buChar char="•"/>
            </a:pPr>
            <a:r>
              <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rPr>
              <a:t>  Consent Requirement: </a:t>
            </a:r>
            <a:r>
              <a:rPr lang="en-US" sz="2700" b="0" i="0" u="none" strike="noStrike" dirty="0">
                <a:solidFill>
                  <a:srgbClr val="000000"/>
                </a:solidFill>
                <a:effectLst/>
                <a:latin typeface="Times New Roman" panose="02020603050405020304" pitchFamily="18" charset="0"/>
                <a:cs typeface="Times New Roman" panose="02020603050405020304" pitchFamily="18" charset="0"/>
              </a:rPr>
              <a:t>Engineers must get clear consent before using anyone’s data, especially in sensitive areas like healthcare.</a:t>
            </a:r>
            <a:r>
              <a:rPr lang="en-US" sz="2700" b="0" i="0" dirty="0">
                <a:solidFill>
                  <a:srgbClr val="000000"/>
                </a:solidFill>
                <a:effectLst/>
                <a:latin typeface="Times New Roman" panose="02020603050405020304" pitchFamily="18" charset="0"/>
                <a:cs typeface="Times New Roman" panose="02020603050405020304" pitchFamily="18" charset="0"/>
              </a:rPr>
              <a:t>​</a:t>
            </a:r>
            <a:endParaRPr lang="en-US" sz="27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945832" lvl="2" indent="-244316">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891540" y="9498330"/>
            <a:ext cx="784860" cy="371477"/>
            <a:chOff x="0" y="0"/>
            <a:chExt cx="1046480" cy="495302"/>
          </a:xfrm>
        </p:grpSpPr>
        <p:sp>
          <p:nvSpPr>
            <p:cNvPr id="3" name="Freeform 3"/>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4" name="TextBox 4"/>
            <p:cNvSpPr txBox="1"/>
            <p:nvPr/>
          </p:nvSpPr>
          <p:spPr>
            <a:xfrm>
              <a:off x="0" y="-38100"/>
              <a:ext cx="1046480" cy="533402"/>
            </a:xfrm>
            <a:prstGeom prst="rect">
              <a:avLst/>
            </a:prstGeom>
          </p:spPr>
          <p:txBody>
            <a:bodyPr lIns="0" tIns="0" rIns="0" bIns="0" rtlCol="0" anchor="t"/>
            <a:lstStyle/>
            <a:p>
              <a:pPr algn="l">
                <a:lnSpc>
                  <a:spcPts val="1980"/>
                </a:lnSpc>
              </a:pPr>
              <a:r>
                <a:rPr lang="en-US" sz="1650" b="1">
                  <a:solidFill>
                    <a:srgbClr val="000000"/>
                  </a:solidFill>
                  <a:latin typeface="Times New Roman Bold"/>
                  <a:ea typeface="Times New Roman Bold"/>
                  <a:cs typeface="Times New Roman Bold"/>
                  <a:sym typeface="Times New Roman Bold"/>
                </a:rPr>
                <a:t>13</a:t>
              </a:r>
            </a:p>
          </p:txBody>
        </p:sp>
      </p:grpSp>
      <p:grpSp>
        <p:nvGrpSpPr>
          <p:cNvPr id="5" name="Group 5"/>
          <p:cNvGrpSpPr/>
          <p:nvPr/>
        </p:nvGrpSpPr>
        <p:grpSpPr>
          <a:xfrm>
            <a:off x="609600" y="952500"/>
            <a:ext cx="15674340" cy="8229600"/>
            <a:chOff x="2976880" y="881381"/>
            <a:chExt cx="20899120" cy="9375616"/>
          </a:xfrm>
        </p:grpSpPr>
        <p:sp>
          <p:nvSpPr>
            <p:cNvPr id="6" name="Freeform 6"/>
            <p:cNvSpPr/>
            <p:nvPr/>
          </p:nvSpPr>
          <p:spPr>
            <a:xfrm>
              <a:off x="5923280" y="3116581"/>
              <a:ext cx="17952720" cy="7140416"/>
            </a:xfrm>
            <a:custGeom>
              <a:avLst/>
              <a:gdLst/>
              <a:ahLst/>
              <a:cxnLst/>
              <a:rect l="l" t="t" r="r" b="b"/>
              <a:pathLst>
                <a:path w="17952720" h="7140416">
                  <a:moveTo>
                    <a:pt x="0" y="0"/>
                  </a:moveTo>
                  <a:lnTo>
                    <a:pt x="17952720" y="0"/>
                  </a:lnTo>
                  <a:lnTo>
                    <a:pt x="17952720" y="7140416"/>
                  </a:lnTo>
                  <a:lnTo>
                    <a:pt x="0" y="7140416"/>
                  </a:lnTo>
                  <a:close/>
                </a:path>
              </a:pathLst>
            </a:custGeom>
            <a:solidFill>
              <a:srgbClr val="000000">
                <a:alpha val="0"/>
              </a:srgbClr>
            </a:solidFill>
          </p:spPr>
          <p:txBody>
            <a:bodyPr/>
            <a:lstStyle/>
            <a:p>
              <a:endParaRPr lang="en-US"/>
            </a:p>
          </p:txBody>
        </p:sp>
        <p:sp>
          <p:nvSpPr>
            <p:cNvPr id="7" name="TextBox 7"/>
            <p:cNvSpPr txBox="1"/>
            <p:nvPr/>
          </p:nvSpPr>
          <p:spPr>
            <a:xfrm>
              <a:off x="2976880" y="881381"/>
              <a:ext cx="15209520" cy="4281400"/>
            </a:xfrm>
            <a:prstGeom prst="rect">
              <a:avLst/>
            </a:prstGeom>
          </p:spPr>
          <p:txBody>
            <a:bodyPr lIns="0" tIns="0" rIns="0" bIns="0" rtlCol="0" anchor="t"/>
            <a:lstStyle/>
            <a:p>
              <a:pPr marL="897255" lvl="1" indent="-571500">
                <a:lnSpc>
                  <a:spcPts val="4320"/>
                </a:lnSpc>
                <a:buFont typeface="Wingdings" panose="05000000000000000000" pitchFamily="2" charset="2"/>
                <a:buChar char="v"/>
              </a:pPr>
              <a:r>
                <a:rPr lang="en-US" sz="3600" dirty="0">
                  <a:solidFill>
                    <a:srgbClr val="000000"/>
                  </a:solidFill>
                  <a:latin typeface="Times New Roman"/>
                  <a:ea typeface="Times New Roman"/>
                  <a:cs typeface="Times New Roman"/>
                  <a:sym typeface="Times New Roman"/>
                </a:rPr>
                <a:t>Application Areas in the Professional Field</a:t>
              </a:r>
            </a:p>
            <a:p>
              <a:pPr marL="488632" lvl="1" indent="-244316">
                <a:lnSpc>
                  <a:spcPts val="3240"/>
                </a:lnSpc>
              </a:pPr>
              <a:endParaRPr lang="en-US" sz="3600" dirty="0">
                <a:solidFill>
                  <a:srgbClr val="000000"/>
                </a:solidFill>
                <a:latin typeface="Times New Roman"/>
                <a:ea typeface="Times New Roman"/>
                <a:cs typeface="Times New Roman"/>
                <a:sym typeface="Times New Roman"/>
              </a:endParaRPr>
            </a:p>
            <a:p>
              <a:pPr marL="945832" lvl="2"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Software and App Development</a:t>
              </a:r>
            </a:p>
            <a:p>
              <a:pPr marL="945832" lvl="2"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Healthcare Technology</a:t>
              </a:r>
            </a:p>
            <a:p>
              <a:pPr marL="945832" lvl="2"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Data Analytics and Marketing</a:t>
              </a:r>
            </a:p>
            <a:p>
              <a:pPr marL="380047" lvl="1" algn="l">
                <a:lnSpc>
                  <a:spcPts val="5040"/>
                </a:lnSpc>
              </a:pPr>
              <a:endParaRPr lang="en-US" sz="4200" dirty="0">
                <a:solidFill>
                  <a:srgbClr val="000000"/>
                </a:solidFill>
                <a:latin typeface="Times New Roman"/>
                <a:ea typeface="Times New Roman"/>
                <a:cs typeface="Times New Roman"/>
                <a:sym typeface="Times New Roman"/>
              </a:endParaRPr>
            </a:p>
            <a:p>
              <a:pPr marL="951547" lvl="1" indent="-571500" algn="l">
                <a:lnSpc>
                  <a:spcPts val="5040"/>
                </a:lnSpc>
                <a:buFont typeface="Wingdings" panose="05000000000000000000" pitchFamily="2" charset="2"/>
                <a:buChar char="v"/>
              </a:pPr>
              <a:r>
                <a:rPr lang="en-US" sz="3600" dirty="0">
                  <a:solidFill>
                    <a:srgbClr val="000000"/>
                  </a:solidFill>
                  <a:latin typeface="Times New Roman"/>
                  <a:ea typeface="Times New Roman"/>
                  <a:cs typeface="Times New Roman"/>
                  <a:sym typeface="Times New Roman"/>
                </a:rPr>
                <a:t>Application to Marcus’s Case Study</a:t>
              </a:r>
            </a:p>
            <a:p>
              <a:pPr marL="488632" lvl="1" indent="-244316" algn="l">
                <a:lnSpc>
                  <a:spcPts val="3240"/>
                </a:lnSpc>
              </a:pPr>
              <a:endParaRPr lang="en-US" sz="4200" dirty="0">
                <a:solidFill>
                  <a:srgbClr val="000000"/>
                </a:solidFill>
                <a:latin typeface="Times New Roman"/>
                <a:ea typeface="Times New Roman"/>
                <a:cs typeface="Times New Roman"/>
                <a:sym typeface="Times New Roman"/>
              </a:endParaRPr>
            </a:p>
            <a:p>
              <a:pPr marL="945832" lvl="2" indent="-244316">
                <a:lnSpc>
                  <a:spcPts val="3240"/>
                </a:lnSpc>
              </a:pPr>
              <a:r>
                <a:rPr lang="en-US" sz="2700" b="1" dirty="0">
                  <a:solidFill>
                    <a:srgbClr val="000000"/>
                  </a:solidFill>
                  <a:latin typeface="Times New Roman Bold"/>
                  <a:ea typeface="Times New Roman Bold"/>
                  <a:cs typeface="Times New Roman Bold"/>
                  <a:sym typeface="Times New Roman Bold"/>
                </a:rPr>
                <a:t>Ethical Use vs. Privacy Violation:</a:t>
              </a:r>
            </a:p>
            <a:p>
              <a:pPr marL="945832" lvl="2" indent="-244316">
                <a:lnSpc>
                  <a:spcPts val="3240"/>
                </a:lnSpc>
              </a:pPr>
              <a:endParaRPr lang="en-US" sz="2700" b="1" dirty="0">
                <a:solidFill>
                  <a:srgbClr val="000000"/>
                </a:solidFill>
                <a:latin typeface="Times New Roman Bold"/>
                <a:ea typeface="Times New Roman Bold"/>
                <a:cs typeface="Times New Roman Bold"/>
                <a:sym typeface="Times New Roman Bold"/>
              </a:endParaRPr>
            </a:p>
            <a:p>
              <a:pPr marL="945832" lvl="2" indent="-244316">
                <a:lnSpc>
                  <a:spcPts val="3240"/>
                </a:lnSpc>
                <a:buFont typeface="Arial"/>
                <a:buChar char="•"/>
              </a:pPr>
              <a:r>
                <a:rPr lang="en-US" sz="2700" dirty="0">
                  <a:solidFill>
                    <a:srgbClr val="000000"/>
                  </a:solidFill>
                  <a:latin typeface="Times New Roman"/>
                  <a:ea typeface="Times New Roman"/>
                  <a:cs typeface="Times New Roman"/>
                  <a:sym typeface="Times New Roman"/>
                </a:rPr>
                <a:t>Ethical Decision Making</a:t>
              </a: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945832" lvl="2" indent="-244316">
                <a:lnSpc>
                  <a:spcPts val="3240"/>
                </a:lnSpc>
              </a:pPr>
              <a:r>
                <a:rPr lang="en-US" sz="2700" b="1" dirty="0">
                  <a:solidFill>
                    <a:srgbClr val="000000"/>
                  </a:solidFill>
                  <a:latin typeface="Times New Roman Bold"/>
                  <a:ea typeface="Times New Roman Bold"/>
                  <a:cs typeface="Times New Roman Bold"/>
                  <a:sym typeface="Times New Roman Bold"/>
                </a:rPr>
                <a:t>Potential Consequences if Violated:</a:t>
              </a:r>
            </a:p>
            <a:p>
              <a:pPr marL="945832" lvl="2" indent="-244316">
                <a:lnSpc>
                  <a:spcPts val="3240"/>
                </a:lnSpc>
              </a:pPr>
              <a:endParaRPr lang="en-US" sz="2700" b="1" dirty="0">
                <a:solidFill>
                  <a:srgbClr val="000000"/>
                </a:solidFill>
                <a:latin typeface="Times New Roman Bold"/>
                <a:ea typeface="Times New Roman Bold"/>
                <a:cs typeface="Times New Roman Bold"/>
                <a:sym typeface="Times New Roman Bold"/>
              </a:endParaRPr>
            </a:p>
            <a:p>
              <a:pPr marL="945832" lvl="2"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Breach of Confidentiality</a:t>
              </a:r>
            </a:p>
            <a:p>
              <a:pPr marL="945832" lvl="2"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Organizational Impact</a:t>
              </a: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p:txBody>
        </p:sp>
      </p:gr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1" y="1138128"/>
            <a:ext cx="9148872" cy="9148872"/>
          </a:xfrm>
          <a:custGeom>
            <a:avLst/>
            <a:gdLst/>
            <a:ahLst/>
            <a:cxnLst/>
            <a:rect l="l" t="t" r="r" b="b"/>
            <a:pathLst>
              <a:path w="9148872" h="9148872">
                <a:moveTo>
                  <a:pt x="0" y="0"/>
                </a:moveTo>
                <a:lnTo>
                  <a:pt x="9148873" y="0"/>
                </a:lnTo>
                <a:lnTo>
                  <a:pt x="9148873" y="9148872"/>
                </a:lnTo>
                <a:lnTo>
                  <a:pt x="0" y="914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9296400" y="1714500"/>
            <a:ext cx="8229600" cy="4916329"/>
          </a:xfrm>
          <a:prstGeom prst="rect">
            <a:avLst/>
          </a:prstGeom>
        </p:spPr>
        <p:txBody>
          <a:bodyPr lIns="0" tIns="0" rIns="0" bIns="0" rtlCol="0" anchor="b"/>
          <a:lstStyle/>
          <a:p>
            <a:pPr algn="l">
              <a:lnSpc>
                <a:spcPts val="8640"/>
              </a:lnSpc>
            </a:pPr>
            <a:r>
              <a:rPr lang="en-US" sz="9000" b="1" spc="150" dirty="0">
                <a:solidFill>
                  <a:srgbClr val="000000"/>
                </a:solidFill>
                <a:latin typeface="Times New Roman Bold"/>
                <a:ea typeface="Times New Roman Bold"/>
                <a:cs typeface="Times New Roman Bold"/>
                <a:sym typeface="Times New Roman Bold"/>
              </a:rPr>
              <a:t>Ethical Code</a:t>
            </a:r>
          </a:p>
          <a:p>
            <a:pPr algn="l">
              <a:lnSpc>
                <a:spcPts val="8640"/>
              </a:lnSpc>
            </a:pPr>
            <a:r>
              <a:rPr lang="en-US" sz="9000" b="1" spc="150" dirty="0">
                <a:solidFill>
                  <a:srgbClr val="000000"/>
                </a:solidFill>
                <a:latin typeface="Times New Roman Bold"/>
                <a:ea typeface="Times New Roman Bold"/>
                <a:cs typeface="Times New Roman Bold"/>
                <a:sym typeface="Times New Roman Bold"/>
              </a:rPr>
              <a:t>Violation 2</a:t>
            </a:r>
          </a:p>
          <a:p>
            <a:pPr algn="l">
              <a:lnSpc>
                <a:spcPts val="8640"/>
              </a:lnSpc>
            </a:pPr>
            <a:endParaRPr lang="en-US" sz="9000" b="1" spc="150" dirty="0">
              <a:solidFill>
                <a:srgbClr val="000000"/>
              </a:solidFill>
              <a:latin typeface="Times New Roman Bold"/>
              <a:ea typeface="Times New Roman Bold"/>
              <a:cs typeface="Times New Roman Bold"/>
              <a:sym typeface="Times New Roman Bold"/>
            </a:endParaRP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13305060" y="0"/>
            <a:ext cx="4987812" cy="4987812"/>
          </a:xfrm>
          <a:custGeom>
            <a:avLst/>
            <a:gdLst/>
            <a:ahLst/>
            <a:cxnLst/>
            <a:rect l="l" t="t" r="r" b="b"/>
            <a:pathLst>
              <a:path w="4987812" h="4987812">
                <a:moveTo>
                  <a:pt x="0" y="0"/>
                </a:moveTo>
                <a:lnTo>
                  <a:pt x="4987812" y="0"/>
                </a:lnTo>
                <a:lnTo>
                  <a:pt x="4987812" y="4987812"/>
                </a:lnTo>
                <a:lnTo>
                  <a:pt x="0" y="49878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685800" y="940593"/>
            <a:ext cx="8252462" cy="2227607"/>
          </a:xfrm>
          <a:prstGeom prst="rect">
            <a:avLst/>
          </a:prstGeom>
        </p:spPr>
        <p:txBody>
          <a:bodyPr lIns="0" tIns="0" rIns="0" bIns="0" rtlCol="0" anchor="b"/>
          <a:lstStyle/>
          <a:p>
            <a:pPr algn="l">
              <a:lnSpc>
                <a:spcPts val="6336"/>
              </a:lnSpc>
            </a:pPr>
            <a:r>
              <a:rPr lang="en-US" sz="6600" b="1" spc="150" dirty="0">
                <a:solidFill>
                  <a:srgbClr val="000000"/>
                </a:solidFill>
                <a:latin typeface="Times New Roman Bold"/>
                <a:ea typeface="Times New Roman Bold"/>
                <a:cs typeface="Times New Roman Bold"/>
                <a:sym typeface="Times New Roman Bold"/>
              </a:rPr>
              <a:t>Violation 2</a:t>
            </a:r>
          </a:p>
          <a:p>
            <a:pPr algn="l">
              <a:lnSpc>
                <a:spcPts val="6336"/>
              </a:lnSpc>
            </a:pPr>
            <a:endParaRPr lang="en-US" sz="6600" b="1" spc="150" dirty="0">
              <a:solidFill>
                <a:srgbClr val="000000"/>
              </a:solidFill>
              <a:latin typeface="Times New Roman Bold"/>
              <a:ea typeface="Times New Roman Bold"/>
              <a:cs typeface="Times New Roman Bold"/>
              <a:sym typeface="Times New Roman Bold"/>
            </a:endParaRPr>
          </a:p>
        </p:txBody>
      </p:sp>
      <p:grpSp>
        <p:nvGrpSpPr>
          <p:cNvPr id="6" name="Group 6"/>
          <p:cNvGrpSpPr/>
          <p:nvPr/>
        </p:nvGrpSpPr>
        <p:grpSpPr>
          <a:xfrm>
            <a:off x="891540" y="3168200"/>
            <a:ext cx="14700234" cy="5697988"/>
            <a:chOff x="0" y="-402377"/>
            <a:chExt cx="19600312" cy="7597317"/>
          </a:xfrm>
        </p:grpSpPr>
        <p:sp>
          <p:nvSpPr>
            <p:cNvPr id="7" name="Freeform 7"/>
            <p:cNvSpPr/>
            <p:nvPr/>
          </p:nvSpPr>
          <p:spPr>
            <a:xfrm>
              <a:off x="0" y="0"/>
              <a:ext cx="18858632" cy="7194940"/>
            </a:xfrm>
            <a:custGeom>
              <a:avLst/>
              <a:gdLst/>
              <a:ahLst/>
              <a:cxnLst/>
              <a:rect l="l" t="t" r="r" b="b"/>
              <a:pathLst>
                <a:path w="18858632" h="7194940">
                  <a:moveTo>
                    <a:pt x="0" y="0"/>
                  </a:moveTo>
                  <a:lnTo>
                    <a:pt x="18858632" y="0"/>
                  </a:lnTo>
                  <a:lnTo>
                    <a:pt x="18858632" y="7194940"/>
                  </a:lnTo>
                  <a:lnTo>
                    <a:pt x="0" y="7194940"/>
                  </a:lnTo>
                  <a:close/>
                </a:path>
              </a:pathLst>
            </a:custGeom>
            <a:solidFill>
              <a:srgbClr val="000000">
                <a:alpha val="0"/>
              </a:srgbClr>
            </a:solidFill>
          </p:spPr>
          <p:txBody>
            <a:bodyPr/>
            <a:lstStyle/>
            <a:p>
              <a:endParaRPr lang="en-US"/>
            </a:p>
          </p:txBody>
        </p:sp>
        <p:sp>
          <p:nvSpPr>
            <p:cNvPr id="8" name="TextBox 8"/>
            <p:cNvSpPr txBox="1"/>
            <p:nvPr/>
          </p:nvSpPr>
          <p:spPr>
            <a:xfrm>
              <a:off x="741680" y="-402377"/>
              <a:ext cx="18858632" cy="7366391"/>
            </a:xfrm>
            <a:prstGeom prst="rect">
              <a:avLst/>
            </a:prstGeom>
          </p:spPr>
          <p:txBody>
            <a:bodyPr lIns="0" tIns="0" rIns="0" bIns="0" rtlCol="0" anchor="t"/>
            <a:lstStyle/>
            <a:p>
              <a:pPr algn="l">
                <a:lnSpc>
                  <a:spcPts val="7704"/>
                </a:lnSpc>
              </a:pPr>
              <a:r>
                <a:rPr lang="en-US" sz="6000" dirty="0">
                  <a:solidFill>
                    <a:srgbClr val="FF0000"/>
                  </a:solidFill>
                  <a:latin typeface="Times New Roman"/>
                  <a:ea typeface="Times New Roman"/>
                  <a:cs typeface="Times New Roman"/>
                  <a:sym typeface="Times New Roman"/>
                </a:rPr>
                <a:t>IEEE I.1</a:t>
              </a:r>
            </a:p>
            <a:p>
              <a:pPr algn="l">
                <a:lnSpc>
                  <a:spcPts val="3466"/>
                </a:lnSpc>
              </a:pPr>
              <a:r>
                <a:rPr lang="en-US" sz="2700" dirty="0">
                  <a:solidFill>
                    <a:srgbClr val="000000"/>
                  </a:solidFill>
                  <a:latin typeface="Times New Roman" panose="02020603050405020304" pitchFamily="18" charset="0"/>
                  <a:ea typeface="Aptos"/>
                  <a:cs typeface="Times New Roman" panose="02020603050405020304" pitchFamily="18" charset="0"/>
                  <a:sym typeface="Aptos"/>
                </a:rPr>
                <a:t>To hold paramount the safety, health, and welfare of the public, to strive to comply with ethical design and sustainable development practices, to protect the privacy of others, and to disclose promptly factors that might endanger the public or the environment;</a:t>
              </a:r>
            </a:p>
          </p:txBody>
        </p:sp>
      </p:grpSp>
      <p:grpSp>
        <p:nvGrpSpPr>
          <p:cNvPr id="9" name="Group 9"/>
          <p:cNvGrpSpPr/>
          <p:nvPr/>
        </p:nvGrpSpPr>
        <p:grpSpPr>
          <a:xfrm>
            <a:off x="891540" y="9498330"/>
            <a:ext cx="784860" cy="371477"/>
            <a:chOff x="0" y="0"/>
            <a:chExt cx="1046480" cy="495302"/>
          </a:xfrm>
        </p:grpSpPr>
        <p:sp>
          <p:nvSpPr>
            <p:cNvPr id="10" name="Freeform 10"/>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11" name="TextBox 11"/>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891540" y="9498330"/>
            <a:ext cx="784860" cy="371477"/>
            <a:chOff x="0" y="0"/>
            <a:chExt cx="1046480" cy="495302"/>
          </a:xfrm>
        </p:grpSpPr>
        <p:sp>
          <p:nvSpPr>
            <p:cNvPr id="3" name="Freeform 3"/>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4" name="TextBox 4"/>
            <p:cNvSpPr txBox="1"/>
            <p:nvPr/>
          </p:nvSpPr>
          <p:spPr>
            <a:xfrm>
              <a:off x="0" y="-38100"/>
              <a:ext cx="1046480" cy="533402"/>
            </a:xfrm>
            <a:prstGeom prst="rect">
              <a:avLst/>
            </a:prstGeom>
          </p:spPr>
          <p:txBody>
            <a:bodyPr lIns="0" tIns="0" rIns="0" bIns="0" rtlCol="0" anchor="t"/>
            <a:lstStyle/>
            <a:p>
              <a:pPr algn="l">
                <a:lnSpc>
                  <a:spcPts val="1980"/>
                </a:lnSpc>
              </a:pPr>
              <a:r>
                <a:rPr lang="en-US" sz="1650" b="1">
                  <a:solidFill>
                    <a:srgbClr val="000000"/>
                  </a:solidFill>
                  <a:latin typeface="Times New Roman Bold"/>
                  <a:ea typeface="Times New Roman Bold"/>
                  <a:cs typeface="Times New Roman Bold"/>
                  <a:sym typeface="Times New Roman Bold"/>
                </a:rPr>
                <a:t>16</a:t>
              </a:r>
            </a:p>
          </p:txBody>
        </p:sp>
      </p:grpSp>
      <p:grpSp>
        <p:nvGrpSpPr>
          <p:cNvPr id="5" name="Group 5"/>
          <p:cNvGrpSpPr/>
          <p:nvPr/>
        </p:nvGrpSpPr>
        <p:grpSpPr>
          <a:xfrm>
            <a:off x="483808" y="421431"/>
            <a:ext cx="17811566" cy="9647160"/>
            <a:chOff x="-903327" y="-504892"/>
            <a:chExt cx="23748756" cy="12862880"/>
          </a:xfrm>
        </p:grpSpPr>
        <p:sp>
          <p:nvSpPr>
            <p:cNvPr id="6" name="Freeform 6"/>
            <p:cNvSpPr/>
            <p:nvPr/>
          </p:nvSpPr>
          <p:spPr>
            <a:xfrm>
              <a:off x="0" y="0"/>
              <a:ext cx="19458387" cy="12357988"/>
            </a:xfrm>
            <a:custGeom>
              <a:avLst/>
              <a:gdLst/>
              <a:ahLst/>
              <a:cxnLst/>
              <a:rect l="l" t="t" r="r" b="b"/>
              <a:pathLst>
                <a:path w="19458387" h="12357988">
                  <a:moveTo>
                    <a:pt x="0" y="0"/>
                  </a:moveTo>
                  <a:lnTo>
                    <a:pt x="19458387" y="0"/>
                  </a:lnTo>
                  <a:lnTo>
                    <a:pt x="19458387" y="12357988"/>
                  </a:lnTo>
                  <a:lnTo>
                    <a:pt x="0" y="12357988"/>
                  </a:lnTo>
                  <a:close/>
                </a:path>
              </a:pathLst>
            </a:custGeom>
            <a:solidFill>
              <a:srgbClr val="000000">
                <a:alpha val="0"/>
              </a:srgbClr>
            </a:solidFill>
          </p:spPr>
          <p:txBody>
            <a:bodyPr/>
            <a:lstStyle/>
            <a:p>
              <a:endParaRPr lang="en-US"/>
            </a:p>
          </p:txBody>
        </p:sp>
        <p:sp>
          <p:nvSpPr>
            <p:cNvPr id="7" name="TextBox 7"/>
            <p:cNvSpPr txBox="1"/>
            <p:nvPr/>
          </p:nvSpPr>
          <p:spPr>
            <a:xfrm>
              <a:off x="-903327" y="-504892"/>
              <a:ext cx="23748756" cy="12662789"/>
            </a:xfrm>
            <a:prstGeom prst="rect">
              <a:avLst/>
            </a:prstGeom>
          </p:spPr>
          <p:txBody>
            <a:bodyPr lIns="0" tIns="0" rIns="0" bIns="0" rtlCol="0" anchor="t"/>
            <a:lstStyle/>
            <a:p>
              <a:pPr marL="897027" lvl="1" indent="-571500" algn="l">
                <a:lnSpc>
                  <a:spcPct val="150000"/>
                </a:lnSpc>
                <a:buFont typeface="Wingdings" panose="05000000000000000000" pitchFamily="2" charset="2"/>
                <a:buChar char="v"/>
              </a:pPr>
              <a:r>
                <a:rPr lang="en-US" sz="3600" b="1" dirty="0">
                  <a:solidFill>
                    <a:srgbClr val="000000"/>
                  </a:solidFill>
                  <a:latin typeface="Times New Roman Bold"/>
                  <a:ea typeface="Times New Roman Bold"/>
                  <a:cs typeface="Times New Roman Bold"/>
                  <a:sym typeface="Times New Roman Bold"/>
                </a:rPr>
                <a:t>Implications for the Professional Field</a:t>
              </a:r>
            </a:p>
            <a:p>
              <a:pPr marL="945832" lvl="2" indent="-244316">
                <a:lnSpc>
                  <a:spcPct val="150000"/>
                </a:lnSpc>
                <a:buAutoNum type="arabicPeriod"/>
              </a:pPr>
              <a:r>
                <a:rPr lang="en-US" sz="2700" dirty="0">
                  <a:solidFill>
                    <a:srgbClr val="000000"/>
                  </a:solidFill>
                  <a:latin typeface="Times New Roman"/>
                  <a:ea typeface="Times New Roman"/>
                  <a:cs typeface="Times New Roman"/>
                  <a:sym typeface="Times New Roman"/>
                </a:rPr>
                <a:t> Public Safety and Welfare:</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Priority of Public Interest: Engineers must always put the public’s well-being before company profit or personal gain.</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Disclosure Responsibilities: Any risks to users or their data must be disclosed promptly to prevent harm.</a:t>
              </a:r>
            </a:p>
            <a:p>
              <a:pPr lvl="1">
                <a:lnSpc>
                  <a:spcPct val="150000"/>
                </a:lnSpc>
              </a:pPr>
              <a:r>
                <a:rPr lang="en-US" sz="2700" dirty="0">
                  <a:solidFill>
                    <a:srgbClr val="000000"/>
                  </a:solidFill>
                  <a:latin typeface="Times New Roman"/>
                  <a:ea typeface="Times New Roman"/>
                  <a:cs typeface="Times New Roman"/>
                  <a:sym typeface="Times New Roman"/>
                </a:rPr>
                <a:t>   2. Privacy Protection:</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Safeguarding User Data: Protect user data and privacy</a:t>
              </a: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897255" lvl="1" indent="-571500" algn="l">
                <a:lnSpc>
                  <a:spcPts val="4320"/>
                </a:lnSpc>
                <a:buFont typeface="Wingdings" panose="05000000000000000000" pitchFamily="2" charset="2"/>
                <a:buChar char="v"/>
              </a:pPr>
              <a:r>
                <a:rPr lang="en-US" sz="3600" b="1" dirty="0">
                  <a:solidFill>
                    <a:srgbClr val="000000"/>
                  </a:solidFill>
                  <a:latin typeface="Times New Roman Bold"/>
                  <a:ea typeface="Times New Roman Bold"/>
                  <a:cs typeface="Times New Roman Bold"/>
                  <a:sym typeface="Times New Roman Bold"/>
                </a:rPr>
                <a:t>Application Areas in the Professional Field</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Software and App Development</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Healthcare Technology</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Environmental and Public Health Projects</a:t>
              </a:r>
            </a:p>
            <a:p>
              <a:pPr marL="897255" lvl="1" indent="-571500" algn="l">
                <a:lnSpc>
                  <a:spcPct val="150000"/>
                </a:lnSpc>
                <a:buFont typeface="Wingdings" panose="05000000000000000000" pitchFamily="2" charset="2"/>
                <a:buChar char="v"/>
              </a:pPr>
              <a:r>
                <a:rPr lang="en-US" sz="3600" b="1" dirty="0">
                  <a:solidFill>
                    <a:srgbClr val="000000"/>
                  </a:solidFill>
                  <a:latin typeface="Times New Roman Bold"/>
                  <a:ea typeface="Times New Roman Bold"/>
                  <a:cs typeface="Times New Roman Bold"/>
                  <a:sym typeface="Times New Roman Bold"/>
                </a:rPr>
                <a:t>Application to Marcus’s Case</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Prioritize Safety and Welfare</a:t>
              </a:r>
            </a:p>
            <a:p>
              <a:pPr marL="1403032" lvl="3" indent="-244316">
                <a:lnSpc>
                  <a:spcPts val="3240"/>
                </a:lnSpc>
                <a:buFont typeface="Arial"/>
                <a:buChar char="•"/>
              </a:pPr>
              <a:r>
                <a:rPr lang="en-US" sz="2700" dirty="0">
                  <a:solidFill>
                    <a:srgbClr val="000000"/>
                  </a:solidFill>
                  <a:latin typeface="Times New Roman"/>
                  <a:ea typeface="Times New Roman"/>
                  <a:cs typeface="Times New Roman"/>
                  <a:sym typeface="Times New Roman"/>
                </a:rPr>
                <a:t>Maintain Ethical Standards</a:t>
              </a:r>
            </a:p>
            <a:p>
              <a:pPr marL="1403032" lvl="3" indent="-244316">
                <a:lnSpc>
                  <a:spcPts val="3240"/>
                </a:lnSpc>
                <a:buFont typeface="Arial"/>
                <a:buChar char="•"/>
              </a:pPr>
              <a:r>
                <a:rPr lang="en-US" sz="2700" dirty="0">
                  <a:solidFill>
                    <a:srgbClr val="000000"/>
                  </a:solidFill>
                  <a:latin typeface="Times New Roman"/>
                  <a:ea typeface="Times New Roman"/>
                  <a:cs typeface="Times New Roman"/>
                  <a:sym typeface="Times New Roman"/>
                </a:rPr>
                <a:t>Protect Privacy</a:t>
              </a:r>
            </a:p>
            <a:p>
              <a:pPr marL="1403032" lvl="3" indent="-244316">
                <a:lnSpc>
                  <a:spcPts val="3240"/>
                </a:lnSpc>
                <a:buFont typeface="Arial"/>
                <a:buChar char="•"/>
              </a:pPr>
              <a:r>
                <a:rPr lang="en-US" sz="2700" dirty="0">
                  <a:solidFill>
                    <a:srgbClr val="000000"/>
                  </a:solidFill>
                  <a:latin typeface="Times New Roman"/>
                  <a:ea typeface="Times New Roman"/>
                  <a:cs typeface="Times New Roman"/>
                  <a:sym typeface="Times New Roman"/>
                </a:rPr>
                <a:t>Prompt Disclosure</a:t>
              </a: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p:txBody>
        </p:sp>
      </p:gr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891540" y="9498330"/>
            <a:ext cx="784860" cy="371477"/>
            <a:chOff x="0" y="0"/>
            <a:chExt cx="1046480" cy="495302"/>
          </a:xfrm>
        </p:grpSpPr>
        <p:sp>
          <p:nvSpPr>
            <p:cNvPr id="3" name="Freeform 3"/>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4" name="TextBox 4"/>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grpSp>
        <p:nvGrpSpPr>
          <p:cNvPr id="5" name="Group 5"/>
          <p:cNvGrpSpPr/>
          <p:nvPr/>
        </p:nvGrpSpPr>
        <p:grpSpPr>
          <a:xfrm>
            <a:off x="1283969" y="1026021"/>
            <a:ext cx="12238216" cy="8725465"/>
            <a:chOff x="0" y="0"/>
            <a:chExt cx="16317622" cy="11633954"/>
          </a:xfrm>
        </p:grpSpPr>
        <p:sp>
          <p:nvSpPr>
            <p:cNvPr id="6" name="Freeform 6"/>
            <p:cNvSpPr/>
            <p:nvPr/>
          </p:nvSpPr>
          <p:spPr>
            <a:xfrm>
              <a:off x="0" y="0"/>
              <a:ext cx="16317623" cy="11633954"/>
            </a:xfrm>
            <a:custGeom>
              <a:avLst/>
              <a:gdLst/>
              <a:ahLst/>
              <a:cxnLst/>
              <a:rect l="l" t="t" r="r" b="b"/>
              <a:pathLst>
                <a:path w="16317623" h="11633954">
                  <a:moveTo>
                    <a:pt x="0" y="0"/>
                  </a:moveTo>
                  <a:lnTo>
                    <a:pt x="16317623" y="0"/>
                  </a:lnTo>
                  <a:lnTo>
                    <a:pt x="16317623" y="11633954"/>
                  </a:lnTo>
                  <a:lnTo>
                    <a:pt x="0" y="11633954"/>
                  </a:lnTo>
                  <a:close/>
                </a:path>
              </a:pathLst>
            </a:custGeom>
            <a:solidFill>
              <a:srgbClr val="000000">
                <a:alpha val="0"/>
              </a:srgbClr>
            </a:solidFill>
          </p:spPr>
          <p:txBody>
            <a:bodyPr/>
            <a:lstStyle/>
            <a:p>
              <a:endParaRPr lang="en-US"/>
            </a:p>
          </p:txBody>
        </p:sp>
        <p:sp>
          <p:nvSpPr>
            <p:cNvPr id="7" name="TextBox 7"/>
            <p:cNvSpPr txBox="1"/>
            <p:nvPr/>
          </p:nvSpPr>
          <p:spPr>
            <a:xfrm>
              <a:off x="0" y="-76200"/>
              <a:ext cx="16317622" cy="11710154"/>
            </a:xfrm>
            <a:prstGeom prst="rect">
              <a:avLst/>
            </a:prstGeom>
          </p:spPr>
          <p:txBody>
            <a:bodyPr lIns="0" tIns="0" rIns="0" bIns="0" rtlCol="0" anchor="t"/>
            <a:lstStyle/>
            <a:p>
              <a:pPr marL="897255" lvl="1" indent="-571500" algn="l">
                <a:lnSpc>
                  <a:spcPts val="4320"/>
                </a:lnSpc>
                <a:buFont typeface="Wingdings" panose="05000000000000000000" pitchFamily="2" charset="2"/>
                <a:buChar char="v"/>
              </a:pPr>
              <a:r>
                <a:rPr lang="en-US" sz="3600" b="1" dirty="0">
                  <a:solidFill>
                    <a:srgbClr val="000000"/>
                  </a:solidFill>
                  <a:latin typeface="Times New Roman Bold"/>
                  <a:ea typeface="Times New Roman Bold"/>
                  <a:cs typeface="Times New Roman Bold"/>
                  <a:sym typeface="Times New Roman Bold"/>
                </a:rPr>
                <a:t>Consequences of Violating the Code in the Case Study</a:t>
              </a:r>
            </a:p>
            <a:p>
              <a:pPr marL="488632" lvl="1" indent="-244316" algn="l">
                <a:lnSpc>
                  <a:spcPts val="3240"/>
                </a:lnSpc>
              </a:pPr>
              <a:endParaRPr lang="en-US" sz="3600" b="1" dirty="0">
                <a:solidFill>
                  <a:srgbClr val="000000"/>
                </a:solidFill>
                <a:latin typeface="Times New Roman Bold"/>
                <a:ea typeface="Times New Roman Bold"/>
                <a:cs typeface="Times New Roman Bold"/>
                <a:sym typeface="Times New Roman Bold"/>
              </a:endParaRPr>
            </a:p>
            <a:p>
              <a:pPr marL="945832" lvl="2" indent="-244316">
                <a:lnSpc>
                  <a:spcPts val="3240"/>
                </a:lnSpc>
                <a:buAutoNum type="arabicPeriod"/>
              </a:pPr>
              <a:r>
                <a:rPr lang="en-US" sz="2700" b="1" dirty="0">
                  <a:solidFill>
                    <a:srgbClr val="000000"/>
                  </a:solidFill>
                  <a:latin typeface="Times New Roman Bold"/>
                  <a:ea typeface="Times New Roman Bold"/>
                  <a:cs typeface="Times New Roman Bold"/>
                  <a:sym typeface="Times New Roman Bold"/>
                </a:rPr>
                <a:t>Professional Repercussions:</a:t>
              </a:r>
            </a:p>
            <a:p>
              <a:pPr marL="1403032" lvl="3" indent="-244316">
                <a:lnSpc>
                  <a:spcPts val="3240"/>
                </a:lnSpc>
              </a:pPr>
              <a:endParaRPr lang="en-US" sz="2700" b="1" dirty="0">
                <a:solidFill>
                  <a:srgbClr val="000000"/>
                </a:solidFill>
                <a:latin typeface="Times New Roman Bold"/>
                <a:ea typeface="Times New Roman Bold"/>
                <a:cs typeface="Times New Roman Bold"/>
                <a:sym typeface="Times New Roman Bold"/>
              </a:endParaRP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Loss of Trust and Credibility</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Disciplinary Action</a:t>
              </a:r>
            </a:p>
            <a:p>
              <a:pPr marL="945832" lvl="2" indent="-244316">
                <a:lnSpc>
                  <a:spcPct val="150000"/>
                </a:lnSpc>
              </a:pPr>
              <a:endParaRPr lang="en-US" sz="2700" dirty="0">
                <a:solidFill>
                  <a:srgbClr val="000000"/>
                </a:solidFill>
                <a:latin typeface="Times New Roman"/>
                <a:ea typeface="Times New Roman"/>
                <a:cs typeface="Times New Roman"/>
                <a:sym typeface="Times New Roman"/>
              </a:endParaRPr>
            </a:p>
            <a:p>
              <a:pPr marL="945832" lvl="2" indent="-244316">
                <a:lnSpc>
                  <a:spcPts val="3240"/>
                </a:lnSpc>
              </a:pPr>
              <a:endParaRPr lang="en-US" sz="2700" dirty="0">
                <a:solidFill>
                  <a:srgbClr val="000000"/>
                </a:solidFill>
                <a:latin typeface="Times New Roman"/>
                <a:ea typeface="Times New Roman"/>
                <a:cs typeface="Times New Roman"/>
                <a:sym typeface="Times New Roman"/>
              </a:endParaRPr>
            </a:p>
            <a:p>
              <a:pPr marL="945832" lvl="2" indent="-244316">
                <a:lnSpc>
                  <a:spcPts val="3240"/>
                </a:lnSpc>
              </a:pPr>
              <a:r>
                <a:rPr lang="en-US" sz="2700" b="1" dirty="0">
                  <a:solidFill>
                    <a:srgbClr val="000000"/>
                  </a:solidFill>
                  <a:latin typeface="Times New Roman Bold"/>
                  <a:ea typeface="Times New Roman Bold"/>
                  <a:cs typeface="Times New Roman Bold"/>
                  <a:sym typeface="Times New Roman Bold"/>
                </a:rPr>
                <a:t>2</a:t>
              </a:r>
              <a:r>
                <a:rPr lang="en-US" sz="2700" b="1">
                  <a:solidFill>
                    <a:srgbClr val="000000"/>
                  </a:solidFill>
                  <a:latin typeface="Times New Roman Bold"/>
                  <a:ea typeface="Times New Roman Bold"/>
                  <a:cs typeface="Times New Roman Bold"/>
                  <a:sym typeface="Times New Roman Bold"/>
                </a:rPr>
                <a:t>. </a:t>
              </a:r>
              <a:r>
                <a:rPr lang="en-US" sz="2700" b="1" dirty="0">
                  <a:solidFill>
                    <a:srgbClr val="000000"/>
                  </a:solidFill>
                  <a:latin typeface="Times New Roman Bold"/>
                  <a:ea typeface="Times New Roman Bold"/>
                  <a:cs typeface="Times New Roman Bold"/>
                  <a:sym typeface="Times New Roman Bold"/>
                </a:rPr>
                <a:t>Broader Impact on Public Welfare:</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Harm to Users</a:t>
              </a:r>
            </a:p>
            <a:p>
              <a:pPr marL="1403032" lvl="3" indent="-244316">
                <a:lnSpc>
                  <a:spcPct val="150000"/>
                </a:lnSpc>
                <a:buFont typeface="Arial"/>
                <a:buChar char="•"/>
              </a:pPr>
              <a:r>
                <a:rPr lang="en-US" sz="2700" dirty="0">
                  <a:solidFill>
                    <a:srgbClr val="000000"/>
                  </a:solidFill>
                  <a:latin typeface="Times New Roman"/>
                  <a:ea typeface="Times New Roman"/>
                  <a:cs typeface="Times New Roman"/>
                  <a:sym typeface="Times New Roman"/>
                </a:rPr>
                <a:t>Environmental and Social Risks</a:t>
              </a: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a:p>
              <a:pPr marL="488632" lvl="1" indent="-244316" algn="l">
                <a:lnSpc>
                  <a:spcPts val="3240"/>
                </a:lnSpc>
              </a:pPr>
              <a:endParaRPr lang="en-US" sz="2700" dirty="0">
                <a:solidFill>
                  <a:srgbClr val="000000"/>
                </a:solidFill>
                <a:latin typeface="Times New Roman"/>
                <a:ea typeface="Times New Roman"/>
                <a:cs typeface="Times New Roman"/>
                <a:sym typeface="Times New Roman"/>
              </a:endParaRPr>
            </a:p>
          </p:txBody>
        </p:sp>
      </p:gr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1" y="1138128"/>
            <a:ext cx="9148872" cy="9148872"/>
          </a:xfrm>
          <a:custGeom>
            <a:avLst/>
            <a:gdLst/>
            <a:ahLst/>
            <a:cxnLst/>
            <a:rect l="l" t="t" r="r" b="b"/>
            <a:pathLst>
              <a:path w="9148872" h="9148872">
                <a:moveTo>
                  <a:pt x="0" y="0"/>
                </a:moveTo>
                <a:lnTo>
                  <a:pt x="9148873" y="0"/>
                </a:lnTo>
                <a:lnTo>
                  <a:pt x="9148873" y="9148872"/>
                </a:lnTo>
                <a:lnTo>
                  <a:pt x="0" y="914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9464856" y="617219"/>
            <a:ext cx="8229600" cy="4937760"/>
            <a:chOff x="0" y="0"/>
            <a:chExt cx="10972800" cy="6583680"/>
          </a:xfrm>
        </p:grpSpPr>
        <p:sp>
          <p:nvSpPr>
            <p:cNvPr id="4" name="Freeform 4"/>
            <p:cNvSpPr/>
            <p:nvPr/>
          </p:nvSpPr>
          <p:spPr>
            <a:xfrm>
              <a:off x="0" y="0"/>
              <a:ext cx="10972800" cy="6583680"/>
            </a:xfrm>
            <a:custGeom>
              <a:avLst/>
              <a:gdLst/>
              <a:ahLst/>
              <a:cxnLst/>
              <a:rect l="l" t="t" r="r" b="b"/>
              <a:pathLst>
                <a:path w="10972800" h="6583680">
                  <a:moveTo>
                    <a:pt x="0" y="0"/>
                  </a:moveTo>
                  <a:lnTo>
                    <a:pt x="10972800" y="0"/>
                  </a:lnTo>
                  <a:lnTo>
                    <a:pt x="10972800" y="6583680"/>
                  </a:lnTo>
                  <a:lnTo>
                    <a:pt x="0" y="6583680"/>
                  </a:lnTo>
                  <a:close/>
                </a:path>
              </a:pathLst>
            </a:custGeom>
            <a:solidFill>
              <a:srgbClr val="000000">
                <a:alpha val="0"/>
              </a:srgbClr>
            </a:solidFill>
          </p:spPr>
          <p:txBody>
            <a:bodyPr/>
            <a:lstStyle/>
            <a:p>
              <a:endParaRPr lang="en-US"/>
            </a:p>
          </p:txBody>
        </p:sp>
        <p:sp>
          <p:nvSpPr>
            <p:cNvPr id="5" name="TextBox 5"/>
            <p:cNvSpPr txBox="1"/>
            <p:nvPr/>
          </p:nvSpPr>
          <p:spPr>
            <a:xfrm>
              <a:off x="0" y="28575"/>
              <a:ext cx="10972800" cy="6555105"/>
            </a:xfrm>
            <a:prstGeom prst="rect">
              <a:avLst/>
            </a:prstGeom>
          </p:spPr>
          <p:txBody>
            <a:bodyPr lIns="0" tIns="0" rIns="0" bIns="0" rtlCol="0" anchor="b"/>
            <a:lstStyle/>
            <a:p>
              <a:pPr algn="l">
                <a:lnSpc>
                  <a:spcPts val="8640"/>
                </a:lnSpc>
              </a:pPr>
              <a:r>
                <a:rPr lang="en-US" sz="9000" b="1" spc="150">
                  <a:solidFill>
                    <a:srgbClr val="000000"/>
                  </a:solidFill>
                  <a:latin typeface="Times New Roman Bold"/>
                  <a:ea typeface="Times New Roman Bold"/>
                  <a:cs typeface="Times New Roman Bold"/>
                  <a:sym typeface="Times New Roman Bold"/>
                </a:rPr>
                <a:t>Ethical Dilemma </a:t>
              </a:r>
            </a:p>
          </p:txBody>
        </p:sp>
      </p:gr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891540" y="303600"/>
            <a:ext cx="16459200" cy="2355487"/>
            <a:chOff x="0" y="0"/>
            <a:chExt cx="21945600" cy="3140650"/>
          </a:xfrm>
        </p:grpSpPr>
        <p:sp>
          <p:nvSpPr>
            <p:cNvPr id="3" name="Freeform 3"/>
            <p:cNvSpPr/>
            <p:nvPr/>
          </p:nvSpPr>
          <p:spPr>
            <a:xfrm>
              <a:off x="0" y="0"/>
              <a:ext cx="21945600" cy="3140650"/>
            </a:xfrm>
            <a:custGeom>
              <a:avLst/>
              <a:gdLst/>
              <a:ahLst/>
              <a:cxnLst/>
              <a:rect l="l" t="t" r="r" b="b"/>
              <a:pathLst>
                <a:path w="21945600" h="3140650">
                  <a:moveTo>
                    <a:pt x="0" y="0"/>
                  </a:moveTo>
                  <a:lnTo>
                    <a:pt x="21945600" y="0"/>
                  </a:lnTo>
                  <a:lnTo>
                    <a:pt x="21945600" y="3140650"/>
                  </a:lnTo>
                  <a:lnTo>
                    <a:pt x="0" y="3140650"/>
                  </a:lnTo>
                  <a:close/>
                </a:path>
              </a:pathLst>
            </a:custGeom>
            <a:solidFill>
              <a:srgbClr val="000000">
                <a:alpha val="0"/>
              </a:srgbClr>
            </a:solidFill>
          </p:spPr>
          <p:txBody>
            <a:bodyPr/>
            <a:lstStyle/>
            <a:p>
              <a:endParaRPr lang="en-US"/>
            </a:p>
          </p:txBody>
        </p:sp>
        <p:sp>
          <p:nvSpPr>
            <p:cNvPr id="4" name="TextBox 4"/>
            <p:cNvSpPr txBox="1"/>
            <p:nvPr/>
          </p:nvSpPr>
          <p:spPr>
            <a:xfrm>
              <a:off x="0" y="19050"/>
              <a:ext cx="21945600" cy="3121600"/>
            </a:xfrm>
            <a:prstGeom prst="rect">
              <a:avLst/>
            </a:prstGeom>
          </p:spPr>
          <p:txBody>
            <a:bodyPr lIns="0" tIns="0" rIns="0" bIns="0" rtlCol="0" anchor="b"/>
            <a:lstStyle/>
            <a:p>
              <a:pPr algn="l">
                <a:lnSpc>
                  <a:spcPts val="6336"/>
                </a:lnSpc>
              </a:pPr>
              <a:r>
                <a:rPr lang="en-US" sz="6600" b="1" spc="150" dirty="0">
                  <a:solidFill>
                    <a:srgbClr val="000000"/>
                  </a:solidFill>
                  <a:latin typeface="Times New Roman Bold"/>
                  <a:ea typeface="Times New Roman Bold"/>
                  <a:cs typeface="Times New Roman Bold"/>
                  <a:sym typeface="Times New Roman Bold"/>
                </a:rPr>
                <a:t>                            </a:t>
              </a:r>
              <a:r>
                <a:rPr lang="en-US" sz="8800" b="1" spc="150" dirty="0">
                  <a:solidFill>
                    <a:srgbClr val="000000"/>
                  </a:solidFill>
                  <a:latin typeface="Times New Roman Bold"/>
                  <a:ea typeface="Times New Roman Bold"/>
                  <a:cs typeface="Times New Roman Bold"/>
                  <a:sym typeface="Times New Roman Bold"/>
                </a:rPr>
                <a:t>Overview</a:t>
              </a:r>
            </a:p>
          </p:txBody>
        </p:sp>
      </p:grpSp>
      <p:grpSp>
        <p:nvGrpSpPr>
          <p:cNvPr id="5" name="Group 5"/>
          <p:cNvGrpSpPr/>
          <p:nvPr/>
        </p:nvGrpSpPr>
        <p:grpSpPr>
          <a:xfrm>
            <a:off x="891540" y="3915910"/>
            <a:ext cx="8919598" cy="4755148"/>
            <a:chOff x="0" y="0"/>
            <a:chExt cx="11892798" cy="6340198"/>
          </a:xfrm>
        </p:grpSpPr>
        <p:sp>
          <p:nvSpPr>
            <p:cNvPr id="6" name="Freeform 6"/>
            <p:cNvSpPr/>
            <p:nvPr/>
          </p:nvSpPr>
          <p:spPr>
            <a:xfrm>
              <a:off x="0" y="0"/>
              <a:ext cx="11892798" cy="6340198"/>
            </a:xfrm>
            <a:custGeom>
              <a:avLst/>
              <a:gdLst/>
              <a:ahLst/>
              <a:cxnLst/>
              <a:rect l="l" t="t" r="r" b="b"/>
              <a:pathLst>
                <a:path w="11892798" h="6340198">
                  <a:moveTo>
                    <a:pt x="0" y="0"/>
                  </a:moveTo>
                  <a:lnTo>
                    <a:pt x="11892798" y="0"/>
                  </a:lnTo>
                  <a:lnTo>
                    <a:pt x="11892798" y="6340198"/>
                  </a:lnTo>
                  <a:lnTo>
                    <a:pt x="0" y="6340198"/>
                  </a:lnTo>
                  <a:close/>
                </a:path>
              </a:pathLst>
            </a:custGeom>
            <a:solidFill>
              <a:srgbClr val="000000">
                <a:alpha val="0"/>
              </a:srgbClr>
            </a:solidFill>
          </p:spPr>
          <p:txBody>
            <a:bodyPr/>
            <a:lstStyle/>
            <a:p>
              <a:endParaRPr lang="en-US"/>
            </a:p>
          </p:txBody>
        </p:sp>
        <p:sp>
          <p:nvSpPr>
            <p:cNvPr id="7" name="TextBox 7"/>
            <p:cNvSpPr txBox="1"/>
            <p:nvPr/>
          </p:nvSpPr>
          <p:spPr>
            <a:xfrm>
              <a:off x="0" y="-85725"/>
              <a:ext cx="11892798" cy="6425923"/>
            </a:xfrm>
            <a:prstGeom prst="rect">
              <a:avLst/>
            </a:prstGeom>
          </p:spPr>
          <p:txBody>
            <a:bodyPr lIns="0" tIns="0" rIns="0" bIns="0" rtlCol="0" anchor="ctr"/>
            <a:lstStyle/>
            <a:p>
              <a:pPr marL="678656" lvl="1" indent="-339328" algn="just">
                <a:lnSpc>
                  <a:spcPts val="4500"/>
                </a:lnSpc>
                <a:buFont typeface="Arial"/>
                <a:buChar char="•"/>
              </a:pPr>
              <a:r>
                <a:rPr lang="en-US" sz="3750">
                  <a:solidFill>
                    <a:srgbClr val="000000"/>
                  </a:solidFill>
                  <a:latin typeface="Times New Roman"/>
                  <a:ea typeface="Times New Roman"/>
                  <a:cs typeface="Times New Roman"/>
                  <a:sym typeface="Times New Roman"/>
                </a:rPr>
                <a:t>Marcus was asked to share personal user info with the marketing teams.</a:t>
              </a:r>
            </a:p>
            <a:p>
              <a:pPr marL="678656" lvl="1" indent="-339328" algn="just">
                <a:lnSpc>
                  <a:spcPts val="4500"/>
                </a:lnSpc>
              </a:pPr>
              <a:endParaRPr lang="en-US" sz="3750">
                <a:solidFill>
                  <a:srgbClr val="000000"/>
                </a:solidFill>
                <a:latin typeface="Times New Roman"/>
                <a:ea typeface="Times New Roman"/>
                <a:cs typeface="Times New Roman"/>
                <a:sym typeface="Times New Roman"/>
              </a:endParaRPr>
            </a:p>
            <a:p>
              <a:pPr marL="678656" lvl="1" indent="-339328" algn="just">
                <a:lnSpc>
                  <a:spcPts val="4500"/>
                </a:lnSpc>
                <a:buFont typeface="Arial"/>
                <a:buChar char="•"/>
              </a:pPr>
              <a:r>
                <a:rPr lang="en-US" sz="3750">
                  <a:solidFill>
                    <a:srgbClr val="000000"/>
                  </a:solidFill>
                  <a:latin typeface="Times New Roman"/>
                  <a:ea typeface="Times New Roman"/>
                  <a:cs typeface="Times New Roman"/>
                  <a:sym typeface="Times New Roman"/>
                </a:rPr>
                <a:t>He was aware that user privacy should be protected.</a:t>
              </a:r>
            </a:p>
            <a:p>
              <a:pPr marL="678656" lvl="1" indent="-339328" algn="just">
                <a:lnSpc>
                  <a:spcPts val="4500"/>
                </a:lnSpc>
              </a:pPr>
              <a:endParaRPr lang="en-US" sz="3750">
                <a:solidFill>
                  <a:srgbClr val="000000"/>
                </a:solidFill>
                <a:latin typeface="Times New Roman"/>
                <a:ea typeface="Times New Roman"/>
                <a:cs typeface="Times New Roman"/>
                <a:sym typeface="Times New Roman"/>
              </a:endParaRPr>
            </a:p>
            <a:p>
              <a:pPr marL="678656" lvl="1" indent="-339328" algn="just">
                <a:lnSpc>
                  <a:spcPts val="4500"/>
                </a:lnSpc>
                <a:buFont typeface="Arial"/>
                <a:buChar char="•"/>
              </a:pPr>
              <a:r>
                <a:rPr lang="en-US" sz="3750">
                  <a:solidFill>
                    <a:srgbClr val="000000"/>
                  </a:solidFill>
                  <a:latin typeface="Times New Roman"/>
                  <a:ea typeface="Times New Roman"/>
                  <a:cs typeface="Times New Roman"/>
                  <a:sym typeface="Times New Roman"/>
                </a:rPr>
                <a:t>He must choose between obeying his company or doing what is right.</a:t>
              </a:r>
            </a:p>
          </p:txBody>
        </p:sp>
      </p:grpSp>
      <p:sp>
        <p:nvSpPr>
          <p:cNvPr id="8" name="Freeform 8"/>
          <p:cNvSpPr/>
          <p:nvPr/>
        </p:nvSpPr>
        <p:spPr>
          <a:xfrm>
            <a:off x="10860834" y="4405215"/>
            <a:ext cx="6731766" cy="3782397"/>
          </a:xfrm>
          <a:custGeom>
            <a:avLst/>
            <a:gdLst/>
            <a:ahLst/>
            <a:cxnLst/>
            <a:rect l="l" t="t" r="r" b="b"/>
            <a:pathLst>
              <a:path w="6731766" h="3782397">
                <a:moveTo>
                  <a:pt x="0" y="0"/>
                </a:moveTo>
                <a:lnTo>
                  <a:pt x="6731766" y="0"/>
                </a:lnTo>
                <a:lnTo>
                  <a:pt x="6731766" y="3782397"/>
                </a:lnTo>
                <a:lnTo>
                  <a:pt x="0" y="3782397"/>
                </a:lnTo>
                <a:lnTo>
                  <a:pt x="0" y="0"/>
                </a:lnTo>
                <a:close/>
              </a:path>
            </a:pathLst>
          </a:custGeom>
          <a:blipFill>
            <a:blip r:embed="rId2"/>
            <a:stretch>
              <a:fillRect/>
            </a:stretch>
          </a:blipFill>
        </p:spPr>
        <p:txBody>
          <a:bodyPr/>
          <a:lstStyle/>
          <a:p>
            <a:endParaRPr lang="en-US"/>
          </a:p>
        </p:txBody>
      </p:sp>
      <p:grpSp>
        <p:nvGrpSpPr>
          <p:cNvPr id="9" name="Group 9"/>
          <p:cNvGrpSpPr/>
          <p:nvPr/>
        </p:nvGrpSpPr>
        <p:grpSpPr>
          <a:xfrm>
            <a:off x="891540" y="9498330"/>
            <a:ext cx="784860" cy="371477"/>
            <a:chOff x="0" y="0"/>
            <a:chExt cx="1046480" cy="495302"/>
          </a:xfrm>
        </p:grpSpPr>
        <p:sp>
          <p:nvSpPr>
            <p:cNvPr id="10" name="Freeform 10"/>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11" name="TextBox 11"/>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891540" y="303600"/>
            <a:ext cx="16459200" cy="2355487"/>
            <a:chOff x="0" y="0"/>
            <a:chExt cx="21945600" cy="3140650"/>
          </a:xfrm>
        </p:grpSpPr>
        <p:sp>
          <p:nvSpPr>
            <p:cNvPr id="3" name="Freeform 3"/>
            <p:cNvSpPr/>
            <p:nvPr/>
          </p:nvSpPr>
          <p:spPr>
            <a:xfrm>
              <a:off x="0" y="0"/>
              <a:ext cx="21945600" cy="3140650"/>
            </a:xfrm>
            <a:custGeom>
              <a:avLst/>
              <a:gdLst/>
              <a:ahLst/>
              <a:cxnLst/>
              <a:rect l="l" t="t" r="r" b="b"/>
              <a:pathLst>
                <a:path w="21945600" h="3140650">
                  <a:moveTo>
                    <a:pt x="0" y="0"/>
                  </a:moveTo>
                  <a:lnTo>
                    <a:pt x="21945600" y="0"/>
                  </a:lnTo>
                  <a:lnTo>
                    <a:pt x="21945600" y="3140650"/>
                  </a:lnTo>
                  <a:lnTo>
                    <a:pt x="0" y="3140650"/>
                  </a:lnTo>
                  <a:close/>
                </a:path>
              </a:pathLst>
            </a:custGeom>
            <a:solidFill>
              <a:srgbClr val="000000">
                <a:alpha val="0"/>
              </a:srgbClr>
            </a:solidFill>
          </p:spPr>
          <p:txBody>
            <a:bodyPr/>
            <a:lstStyle/>
            <a:p>
              <a:endParaRPr lang="en-US"/>
            </a:p>
          </p:txBody>
        </p:sp>
        <p:sp>
          <p:nvSpPr>
            <p:cNvPr id="4" name="TextBox 4"/>
            <p:cNvSpPr txBox="1"/>
            <p:nvPr/>
          </p:nvSpPr>
          <p:spPr>
            <a:xfrm>
              <a:off x="0" y="19050"/>
              <a:ext cx="21945600" cy="3121600"/>
            </a:xfrm>
            <a:prstGeom prst="rect">
              <a:avLst/>
            </a:prstGeom>
          </p:spPr>
          <p:txBody>
            <a:bodyPr lIns="0" tIns="0" rIns="0" bIns="0" rtlCol="0" anchor="b"/>
            <a:lstStyle/>
            <a:p>
              <a:pPr algn="l">
                <a:lnSpc>
                  <a:spcPts val="6336"/>
                </a:lnSpc>
              </a:pPr>
              <a:r>
                <a:rPr lang="en-US" sz="8800" b="1" spc="150" dirty="0">
                  <a:solidFill>
                    <a:srgbClr val="000000"/>
                  </a:solidFill>
                  <a:latin typeface="Times New Roman Bold"/>
                  <a:ea typeface="Times New Roman Bold"/>
                  <a:cs typeface="Times New Roman Bold"/>
                  <a:sym typeface="Times New Roman Bold"/>
                </a:rPr>
                <a:t>           Conflict of Interests</a:t>
              </a:r>
            </a:p>
          </p:txBody>
        </p:sp>
      </p:grpSp>
      <p:grpSp>
        <p:nvGrpSpPr>
          <p:cNvPr id="5" name="Group 5"/>
          <p:cNvGrpSpPr/>
          <p:nvPr/>
        </p:nvGrpSpPr>
        <p:grpSpPr>
          <a:xfrm>
            <a:off x="891540" y="4209129"/>
            <a:ext cx="8975583" cy="4178067"/>
            <a:chOff x="0" y="0"/>
            <a:chExt cx="11967444" cy="5570756"/>
          </a:xfrm>
        </p:grpSpPr>
        <p:sp>
          <p:nvSpPr>
            <p:cNvPr id="6" name="Freeform 6"/>
            <p:cNvSpPr/>
            <p:nvPr/>
          </p:nvSpPr>
          <p:spPr>
            <a:xfrm>
              <a:off x="0" y="0"/>
              <a:ext cx="11967444" cy="5570756"/>
            </a:xfrm>
            <a:custGeom>
              <a:avLst/>
              <a:gdLst/>
              <a:ahLst/>
              <a:cxnLst/>
              <a:rect l="l" t="t" r="r" b="b"/>
              <a:pathLst>
                <a:path w="11967444" h="5570756">
                  <a:moveTo>
                    <a:pt x="0" y="0"/>
                  </a:moveTo>
                  <a:lnTo>
                    <a:pt x="11967444" y="0"/>
                  </a:lnTo>
                  <a:lnTo>
                    <a:pt x="11967444" y="5570756"/>
                  </a:lnTo>
                  <a:lnTo>
                    <a:pt x="0" y="5570756"/>
                  </a:lnTo>
                  <a:close/>
                </a:path>
              </a:pathLst>
            </a:custGeom>
            <a:solidFill>
              <a:srgbClr val="000000">
                <a:alpha val="0"/>
              </a:srgbClr>
            </a:solidFill>
          </p:spPr>
          <p:txBody>
            <a:bodyPr/>
            <a:lstStyle/>
            <a:p>
              <a:endParaRPr lang="en-US"/>
            </a:p>
          </p:txBody>
        </p:sp>
        <p:sp>
          <p:nvSpPr>
            <p:cNvPr id="7" name="TextBox 7"/>
            <p:cNvSpPr txBox="1"/>
            <p:nvPr/>
          </p:nvSpPr>
          <p:spPr>
            <a:xfrm>
              <a:off x="0" y="-85725"/>
              <a:ext cx="11967444" cy="5656481"/>
            </a:xfrm>
            <a:prstGeom prst="rect">
              <a:avLst/>
            </a:prstGeom>
          </p:spPr>
          <p:txBody>
            <a:bodyPr lIns="0" tIns="0" rIns="0" bIns="0" rtlCol="0" anchor="ctr"/>
            <a:lstStyle/>
            <a:p>
              <a:pPr marL="678656" lvl="1" indent="-339328" algn="l">
                <a:lnSpc>
                  <a:spcPts val="4500"/>
                </a:lnSpc>
                <a:buFont typeface="Arial"/>
                <a:buChar char="•"/>
              </a:pPr>
              <a:r>
                <a:rPr lang="en-US" sz="3750">
                  <a:solidFill>
                    <a:srgbClr val="000000"/>
                  </a:solidFill>
                  <a:latin typeface="Times New Roman"/>
                  <a:ea typeface="Times New Roman"/>
                  <a:cs typeface="Times New Roman"/>
                  <a:sym typeface="Times New Roman"/>
                </a:rPr>
                <a:t>Sharing data helps the company but effects user trust.</a:t>
              </a:r>
            </a:p>
            <a:p>
              <a:pPr marL="678656" lvl="1" indent="-339328" algn="l">
                <a:lnSpc>
                  <a:spcPts val="4500"/>
                </a:lnSpc>
              </a:pPr>
              <a:endParaRPr lang="en-US" sz="3750">
                <a:solidFill>
                  <a:srgbClr val="000000"/>
                </a:solidFill>
                <a:latin typeface="Times New Roman"/>
                <a:ea typeface="Times New Roman"/>
                <a:cs typeface="Times New Roman"/>
                <a:sym typeface="Times New Roman"/>
              </a:endParaRPr>
            </a:p>
            <a:p>
              <a:pPr marL="678656" lvl="1" indent="-339328" algn="l">
                <a:lnSpc>
                  <a:spcPts val="4500"/>
                </a:lnSpc>
                <a:buFont typeface="Arial"/>
                <a:buChar char="•"/>
              </a:pPr>
              <a:r>
                <a:rPr lang="en-US" sz="3750">
                  <a:solidFill>
                    <a:srgbClr val="000000"/>
                  </a:solidFill>
                  <a:latin typeface="Times New Roman"/>
                  <a:ea typeface="Times New Roman"/>
                  <a:cs typeface="Times New Roman"/>
                  <a:sym typeface="Times New Roman"/>
                </a:rPr>
                <a:t>Refusing might cause problems at work.</a:t>
              </a:r>
            </a:p>
            <a:p>
              <a:pPr marL="678656" lvl="1" indent="-339328" algn="l">
                <a:lnSpc>
                  <a:spcPts val="4500"/>
                </a:lnSpc>
              </a:pPr>
              <a:endParaRPr lang="en-US" sz="3750">
                <a:solidFill>
                  <a:srgbClr val="000000"/>
                </a:solidFill>
                <a:latin typeface="Times New Roman"/>
                <a:ea typeface="Times New Roman"/>
                <a:cs typeface="Times New Roman"/>
                <a:sym typeface="Times New Roman"/>
              </a:endParaRPr>
            </a:p>
            <a:p>
              <a:pPr marL="678656" lvl="1" indent="-339328" algn="l">
                <a:lnSpc>
                  <a:spcPts val="4500"/>
                </a:lnSpc>
                <a:buFont typeface="Arial"/>
                <a:buChar char="•"/>
              </a:pPr>
              <a:r>
                <a:rPr lang="en-US" sz="3750">
                  <a:solidFill>
                    <a:srgbClr val="000000"/>
                  </a:solidFill>
                  <a:latin typeface="Times New Roman"/>
                  <a:ea typeface="Times New Roman"/>
                  <a:cs typeface="Times New Roman"/>
                  <a:sym typeface="Times New Roman"/>
                </a:rPr>
                <a:t>This creates a conflict between company requirements and ethical responsibility.</a:t>
              </a:r>
            </a:p>
          </p:txBody>
        </p:sp>
      </p:grpSp>
      <p:sp>
        <p:nvSpPr>
          <p:cNvPr id="8" name="Freeform 8"/>
          <p:cNvSpPr/>
          <p:nvPr/>
        </p:nvSpPr>
        <p:spPr>
          <a:xfrm>
            <a:off x="11217582" y="3974839"/>
            <a:ext cx="4412357" cy="4412356"/>
          </a:xfrm>
          <a:custGeom>
            <a:avLst/>
            <a:gdLst/>
            <a:ahLst/>
            <a:cxnLst/>
            <a:rect l="l" t="t" r="r" b="b"/>
            <a:pathLst>
              <a:path w="4412357" h="4412356">
                <a:moveTo>
                  <a:pt x="0" y="0"/>
                </a:moveTo>
                <a:lnTo>
                  <a:pt x="4412356" y="0"/>
                </a:lnTo>
                <a:lnTo>
                  <a:pt x="4412356" y="4412357"/>
                </a:lnTo>
                <a:lnTo>
                  <a:pt x="0" y="4412357"/>
                </a:lnTo>
                <a:lnTo>
                  <a:pt x="0" y="0"/>
                </a:lnTo>
                <a:close/>
              </a:path>
            </a:pathLst>
          </a:custGeom>
          <a:blipFill>
            <a:blip r:embed="rId2"/>
            <a:stretch>
              <a:fillRect/>
            </a:stretch>
          </a:blipFill>
        </p:spPr>
        <p:txBody>
          <a:bodyPr/>
          <a:lstStyle/>
          <a:p>
            <a:endParaRPr lang="en-US"/>
          </a:p>
        </p:txBody>
      </p:sp>
      <p:grpSp>
        <p:nvGrpSpPr>
          <p:cNvPr id="9" name="Group 9"/>
          <p:cNvGrpSpPr/>
          <p:nvPr/>
        </p:nvGrpSpPr>
        <p:grpSpPr>
          <a:xfrm>
            <a:off x="891540" y="9498330"/>
            <a:ext cx="784860" cy="371477"/>
            <a:chOff x="0" y="0"/>
            <a:chExt cx="1046480" cy="495302"/>
          </a:xfrm>
        </p:grpSpPr>
        <p:sp>
          <p:nvSpPr>
            <p:cNvPr id="10" name="Freeform 10"/>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11" name="TextBox 11"/>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891540" y="303600"/>
            <a:ext cx="16459200" cy="2355487"/>
            <a:chOff x="0" y="0"/>
            <a:chExt cx="21945600" cy="3140650"/>
          </a:xfrm>
        </p:grpSpPr>
        <p:sp>
          <p:nvSpPr>
            <p:cNvPr id="3" name="Freeform 3"/>
            <p:cNvSpPr/>
            <p:nvPr/>
          </p:nvSpPr>
          <p:spPr>
            <a:xfrm>
              <a:off x="0" y="0"/>
              <a:ext cx="21945600" cy="3140650"/>
            </a:xfrm>
            <a:custGeom>
              <a:avLst/>
              <a:gdLst/>
              <a:ahLst/>
              <a:cxnLst/>
              <a:rect l="l" t="t" r="r" b="b"/>
              <a:pathLst>
                <a:path w="21945600" h="3140650">
                  <a:moveTo>
                    <a:pt x="0" y="0"/>
                  </a:moveTo>
                  <a:lnTo>
                    <a:pt x="21945600" y="0"/>
                  </a:lnTo>
                  <a:lnTo>
                    <a:pt x="21945600" y="3140650"/>
                  </a:lnTo>
                  <a:lnTo>
                    <a:pt x="0" y="3140650"/>
                  </a:lnTo>
                  <a:close/>
                </a:path>
              </a:pathLst>
            </a:custGeom>
            <a:solidFill>
              <a:srgbClr val="000000">
                <a:alpha val="0"/>
              </a:srgbClr>
            </a:solidFill>
          </p:spPr>
          <p:txBody>
            <a:bodyPr/>
            <a:lstStyle/>
            <a:p>
              <a:endParaRPr lang="en-US"/>
            </a:p>
          </p:txBody>
        </p:sp>
        <p:sp>
          <p:nvSpPr>
            <p:cNvPr id="4" name="TextBox 4"/>
            <p:cNvSpPr txBox="1"/>
            <p:nvPr/>
          </p:nvSpPr>
          <p:spPr>
            <a:xfrm>
              <a:off x="0" y="19050"/>
              <a:ext cx="21945600" cy="3121600"/>
            </a:xfrm>
            <a:prstGeom prst="rect">
              <a:avLst/>
            </a:prstGeom>
          </p:spPr>
          <p:txBody>
            <a:bodyPr lIns="0" tIns="0" rIns="0" bIns="0" rtlCol="0" anchor="b"/>
            <a:lstStyle/>
            <a:p>
              <a:pPr algn="l">
                <a:lnSpc>
                  <a:spcPts val="6336"/>
                </a:lnSpc>
              </a:pPr>
              <a:r>
                <a:rPr lang="en-US" sz="8800" b="1" spc="150" dirty="0">
                  <a:solidFill>
                    <a:srgbClr val="000000"/>
                  </a:solidFill>
                  <a:latin typeface="Times New Roman Bold"/>
                  <a:ea typeface="Times New Roman Bold"/>
                  <a:cs typeface="Times New Roman Bold"/>
                  <a:sym typeface="Times New Roman Bold"/>
                </a:rPr>
                <a:t>     Stakeholders and Concerns</a:t>
              </a:r>
            </a:p>
          </p:txBody>
        </p:sp>
      </p:grpSp>
      <p:grpSp>
        <p:nvGrpSpPr>
          <p:cNvPr id="5" name="Group 5"/>
          <p:cNvGrpSpPr/>
          <p:nvPr/>
        </p:nvGrpSpPr>
        <p:grpSpPr>
          <a:xfrm>
            <a:off x="1283970" y="3659602"/>
            <a:ext cx="9202156" cy="5138890"/>
            <a:chOff x="0" y="0"/>
            <a:chExt cx="11353326" cy="6340198"/>
          </a:xfrm>
        </p:grpSpPr>
        <p:sp>
          <p:nvSpPr>
            <p:cNvPr id="6" name="Freeform 6"/>
            <p:cNvSpPr/>
            <p:nvPr/>
          </p:nvSpPr>
          <p:spPr>
            <a:xfrm>
              <a:off x="0" y="0"/>
              <a:ext cx="11353326" cy="6340198"/>
            </a:xfrm>
            <a:custGeom>
              <a:avLst/>
              <a:gdLst/>
              <a:ahLst/>
              <a:cxnLst/>
              <a:rect l="l" t="t" r="r" b="b"/>
              <a:pathLst>
                <a:path w="11353326" h="6340198">
                  <a:moveTo>
                    <a:pt x="0" y="0"/>
                  </a:moveTo>
                  <a:lnTo>
                    <a:pt x="11353326" y="0"/>
                  </a:lnTo>
                  <a:lnTo>
                    <a:pt x="11353326" y="6340198"/>
                  </a:lnTo>
                  <a:lnTo>
                    <a:pt x="0" y="6340198"/>
                  </a:lnTo>
                  <a:close/>
                </a:path>
              </a:pathLst>
            </a:custGeom>
            <a:solidFill>
              <a:srgbClr val="000000">
                <a:alpha val="0"/>
              </a:srgbClr>
            </a:solidFill>
          </p:spPr>
          <p:txBody>
            <a:bodyPr/>
            <a:lstStyle/>
            <a:p>
              <a:endParaRPr lang="en-US"/>
            </a:p>
          </p:txBody>
        </p:sp>
        <p:sp>
          <p:nvSpPr>
            <p:cNvPr id="7" name="TextBox 7"/>
            <p:cNvSpPr txBox="1"/>
            <p:nvPr/>
          </p:nvSpPr>
          <p:spPr>
            <a:xfrm>
              <a:off x="0" y="-85725"/>
              <a:ext cx="11353326" cy="6425923"/>
            </a:xfrm>
            <a:prstGeom prst="rect">
              <a:avLst/>
            </a:prstGeom>
          </p:spPr>
          <p:txBody>
            <a:bodyPr lIns="0" tIns="0" rIns="0" bIns="0" rtlCol="0" anchor="ctr"/>
            <a:lstStyle/>
            <a:p>
              <a:pPr marL="678656" lvl="1" indent="-339328" algn="just">
                <a:lnSpc>
                  <a:spcPts val="4500"/>
                </a:lnSpc>
                <a:buFont typeface="Arial"/>
                <a:buChar char="•"/>
              </a:pPr>
              <a:r>
                <a:rPr lang="en-US" sz="3750" dirty="0">
                  <a:solidFill>
                    <a:srgbClr val="000000"/>
                  </a:solidFill>
                  <a:latin typeface="Times New Roman"/>
                  <a:ea typeface="Times New Roman"/>
                  <a:cs typeface="Times New Roman"/>
                  <a:sym typeface="Times New Roman"/>
                </a:rPr>
                <a:t>Affected parties: Marcus, the company, app users, and legal owners.</a:t>
              </a:r>
            </a:p>
            <a:p>
              <a:pPr marL="678656" lvl="1" indent="-339328" algn="just">
                <a:lnSpc>
                  <a:spcPts val="4500"/>
                </a:lnSpc>
              </a:pPr>
              <a:endParaRPr lang="en-US" sz="3750" dirty="0">
                <a:solidFill>
                  <a:srgbClr val="000000"/>
                </a:solidFill>
                <a:latin typeface="Times New Roman"/>
                <a:ea typeface="Times New Roman"/>
                <a:cs typeface="Times New Roman"/>
                <a:sym typeface="Times New Roman"/>
              </a:endParaRPr>
            </a:p>
            <a:p>
              <a:pPr marL="678656" lvl="1" indent="-339328" algn="just">
                <a:lnSpc>
                  <a:spcPts val="4500"/>
                </a:lnSpc>
                <a:buFont typeface="Arial"/>
                <a:buChar char="•"/>
              </a:pPr>
              <a:r>
                <a:rPr lang="en-US" sz="3750" dirty="0">
                  <a:solidFill>
                    <a:srgbClr val="000000"/>
                  </a:solidFill>
                  <a:latin typeface="Times New Roman"/>
                  <a:ea typeface="Times New Roman"/>
                  <a:cs typeface="Times New Roman"/>
                  <a:sym typeface="Times New Roman"/>
                </a:rPr>
                <a:t>The biggest concern: protecting sensitive user information.</a:t>
              </a:r>
            </a:p>
            <a:p>
              <a:pPr marL="678656" lvl="1" indent="-339328" algn="just">
                <a:lnSpc>
                  <a:spcPts val="4500"/>
                </a:lnSpc>
              </a:pPr>
              <a:endParaRPr lang="en-US" sz="3750" dirty="0">
                <a:solidFill>
                  <a:srgbClr val="000000"/>
                </a:solidFill>
                <a:latin typeface="Times New Roman"/>
                <a:ea typeface="Times New Roman"/>
                <a:cs typeface="Times New Roman"/>
                <a:sym typeface="Times New Roman"/>
              </a:endParaRPr>
            </a:p>
            <a:p>
              <a:pPr marL="678656" lvl="1" indent="-339328" algn="just">
                <a:lnSpc>
                  <a:spcPts val="4500"/>
                </a:lnSpc>
                <a:buFont typeface="Arial"/>
                <a:buChar char="•"/>
              </a:pPr>
              <a:r>
                <a:rPr lang="en-US" sz="3750" dirty="0">
                  <a:solidFill>
                    <a:srgbClr val="000000"/>
                  </a:solidFill>
                  <a:latin typeface="Times New Roman"/>
                  <a:ea typeface="Times New Roman"/>
                  <a:cs typeface="Times New Roman"/>
                  <a:sym typeface="Times New Roman"/>
                </a:rPr>
                <a:t>Engineers must follow ethical guidelines and prioritize privacy.</a:t>
              </a:r>
            </a:p>
          </p:txBody>
        </p:sp>
      </p:grpSp>
      <p:sp>
        <p:nvSpPr>
          <p:cNvPr id="8" name="Freeform 8"/>
          <p:cNvSpPr/>
          <p:nvPr/>
        </p:nvSpPr>
        <p:spPr>
          <a:xfrm>
            <a:off x="11431957" y="3146426"/>
            <a:ext cx="5587891" cy="5587891"/>
          </a:xfrm>
          <a:custGeom>
            <a:avLst/>
            <a:gdLst/>
            <a:ahLst/>
            <a:cxnLst/>
            <a:rect l="l" t="t" r="r" b="b"/>
            <a:pathLst>
              <a:path w="5587891" h="5587891">
                <a:moveTo>
                  <a:pt x="0" y="0"/>
                </a:moveTo>
                <a:lnTo>
                  <a:pt x="5587892" y="0"/>
                </a:lnTo>
                <a:lnTo>
                  <a:pt x="5587892" y="5587891"/>
                </a:lnTo>
                <a:lnTo>
                  <a:pt x="0" y="5587891"/>
                </a:lnTo>
                <a:lnTo>
                  <a:pt x="0" y="0"/>
                </a:lnTo>
                <a:close/>
              </a:path>
            </a:pathLst>
          </a:custGeom>
          <a:blipFill>
            <a:blip r:embed="rId2"/>
            <a:stretch>
              <a:fillRect/>
            </a:stretch>
          </a:blipFill>
        </p:spPr>
        <p:txBody>
          <a:bodyPr/>
          <a:lstStyle/>
          <a:p>
            <a:endParaRPr lang="en-US"/>
          </a:p>
        </p:txBody>
      </p:sp>
      <p:grpSp>
        <p:nvGrpSpPr>
          <p:cNvPr id="9" name="Group 9"/>
          <p:cNvGrpSpPr/>
          <p:nvPr/>
        </p:nvGrpSpPr>
        <p:grpSpPr>
          <a:xfrm>
            <a:off x="891540" y="9498330"/>
            <a:ext cx="784860" cy="371477"/>
            <a:chOff x="0" y="0"/>
            <a:chExt cx="1046480" cy="495302"/>
          </a:xfrm>
        </p:grpSpPr>
        <p:sp>
          <p:nvSpPr>
            <p:cNvPr id="10" name="Freeform 10"/>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11" name="TextBox 11"/>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49044"/>
            <a:ext cx="16459200" cy="2355487"/>
            <a:chOff x="0" y="0"/>
            <a:chExt cx="21945600" cy="3140650"/>
          </a:xfrm>
        </p:grpSpPr>
        <p:sp>
          <p:nvSpPr>
            <p:cNvPr id="3" name="Freeform 3"/>
            <p:cNvSpPr/>
            <p:nvPr/>
          </p:nvSpPr>
          <p:spPr>
            <a:xfrm>
              <a:off x="0" y="0"/>
              <a:ext cx="21945600" cy="3140650"/>
            </a:xfrm>
            <a:custGeom>
              <a:avLst/>
              <a:gdLst/>
              <a:ahLst/>
              <a:cxnLst/>
              <a:rect l="l" t="t" r="r" b="b"/>
              <a:pathLst>
                <a:path w="21945600" h="3140650">
                  <a:moveTo>
                    <a:pt x="0" y="0"/>
                  </a:moveTo>
                  <a:lnTo>
                    <a:pt x="21945600" y="0"/>
                  </a:lnTo>
                  <a:lnTo>
                    <a:pt x="21945600" y="3140650"/>
                  </a:lnTo>
                  <a:lnTo>
                    <a:pt x="0" y="3140650"/>
                  </a:lnTo>
                  <a:close/>
                </a:path>
              </a:pathLst>
            </a:custGeom>
            <a:solidFill>
              <a:srgbClr val="000000">
                <a:alpha val="0"/>
              </a:srgbClr>
            </a:solidFill>
          </p:spPr>
          <p:txBody>
            <a:bodyPr/>
            <a:lstStyle/>
            <a:p>
              <a:endParaRPr lang="en-US"/>
            </a:p>
          </p:txBody>
        </p:sp>
        <p:sp>
          <p:nvSpPr>
            <p:cNvPr id="4" name="TextBox 4"/>
            <p:cNvSpPr txBox="1"/>
            <p:nvPr/>
          </p:nvSpPr>
          <p:spPr>
            <a:xfrm>
              <a:off x="0" y="19050"/>
              <a:ext cx="21945600" cy="3121600"/>
            </a:xfrm>
            <a:prstGeom prst="rect">
              <a:avLst/>
            </a:prstGeom>
          </p:spPr>
          <p:txBody>
            <a:bodyPr lIns="0" tIns="0" rIns="0" bIns="0" rtlCol="0" anchor="b"/>
            <a:lstStyle/>
            <a:p>
              <a:pPr algn="l">
                <a:lnSpc>
                  <a:spcPts val="6336"/>
                </a:lnSpc>
              </a:pPr>
              <a:r>
                <a:rPr lang="en-US" sz="8800" b="1" spc="150" dirty="0">
                  <a:solidFill>
                    <a:srgbClr val="000000"/>
                  </a:solidFill>
                  <a:latin typeface="Times New Roman Bold"/>
                  <a:ea typeface="Times New Roman Bold"/>
                  <a:cs typeface="Times New Roman Bold"/>
                  <a:sym typeface="Times New Roman Bold"/>
                </a:rPr>
                <a:t>         Ethical Responsibility</a:t>
              </a:r>
            </a:p>
          </p:txBody>
        </p:sp>
      </p:grpSp>
      <p:grpSp>
        <p:nvGrpSpPr>
          <p:cNvPr id="5" name="Group 5"/>
          <p:cNvGrpSpPr/>
          <p:nvPr/>
        </p:nvGrpSpPr>
        <p:grpSpPr>
          <a:xfrm>
            <a:off x="1313994" y="2855687"/>
            <a:ext cx="7807146" cy="6446044"/>
            <a:chOff x="0" y="0"/>
            <a:chExt cx="10409528" cy="8594725"/>
          </a:xfrm>
        </p:grpSpPr>
        <p:sp>
          <p:nvSpPr>
            <p:cNvPr id="6" name="Freeform 6"/>
            <p:cNvSpPr/>
            <p:nvPr/>
          </p:nvSpPr>
          <p:spPr>
            <a:xfrm>
              <a:off x="0" y="0"/>
              <a:ext cx="10409528" cy="8594725"/>
            </a:xfrm>
            <a:custGeom>
              <a:avLst/>
              <a:gdLst/>
              <a:ahLst/>
              <a:cxnLst/>
              <a:rect l="l" t="t" r="r" b="b"/>
              <a:pathLst>
                <a:path w="10409528" h="8594725">
                  <a:moveTo>
                    <a:pt x="0" y="0"/>
                  </a:moveTo>
                  <a:lnTo>
                    <a:pt x="10409528" y="0"/>
                  </a:lnTo>
                  <a:lnTo>
                    <a:pt x="10409528" y="8594725"/>
                  </a:lnTo>
                  <a:lnTo>
                    <a:pt x="0" y="8594725"/>
                  </a:lnTo>
                  <a:close/>
                </a:path>
              </a:pathLst>
            </a:custGeom>
            <a:solidFill>
              <a:srgbClr val="000000">
                <a:alpha val="0"/>
              </a:srgbClr>
            </a:solidFill>
          </p:spPr>
          <p:txBody>
            <a:bodyPr/>
            <a:lstStyle/>
            <a:p>
              <a:endParaRPr lang="en-US"/>
            </a:p>
          </p:txBody>
        </p:sp>
        <p:sp>
          <p:nvSpPr>
            <p:cNvPr id="7" name="TextBox 7"/>
            <p:cNvSpPr txBox="1"/>
            <p:nvPr/>
          </p:nvSpPr>
          <p:spPr>
            <a:xfrm>
              <a:off x="0" y="-85725"/>
              <a:ext cx="10409528" cy="8680450"/>
            </a:xfrm>
            <a:prstGeom prst="rect">
              <a:avLst/>
            </a:prstGeom>
          </p:spPr>
          <p:txBody>
            <a:bodyPr lIns="0" tIns="0" rIns="0" bIns="0" rtlCol="0" anchor="ctr"/>
            <a:lstStyle/>
            <a:p>
              <a:pPr algn="l">
                <a:lnSpc>
                  <a:spcPts val="4500"/>
                </a:lnSpc>
              </a:pPr>
              <a:r>
                <a:rPr lang="en-US" sz="3750">
                  <a:solidFill>
                    <a:srgbClr val="000000"/>
                  </a:solidFill>
                  <a:latin typeface="Times New Roman"/>
                  <a:ea typeface="Times New Roman"/>
                  <a:cs typeface="Times New Roman"/>
                  <a:sym typeface="Times New Roman"/>
                </a:rPr>
                <a:t>•Ethics require Marcus to act with honesty and integrity.</a:t>
              </a:r>
            </a:p>
            <a:p>
              <a:pPr algn="l">
                <a:lnSpc>
                  <a:spcPts val="4500"/>
                </a:lnSpc>
              </a:pPr>
              <a:endParaRPr lang="en-US" sz="3750">
                <a:solidFill>
                  <a:srgbClr val="000000"/>
                </a:solidFill>
                <a:latin typeface="Times New Roman"/>
                <a:ea typeface="Times New Roman"/>
                <a:cs typeface="Times New Roman"/>
                <a:sym typeface="Times New Roman"/>
              </a:endParaRPr>
            </a:p>
            <a:p>
              <a:pPr algn="l">
                <a:lnSpc>
                  <a:spcPts val="4500"/>
                </a:lnSpc>
              </a:pPr>
              <a:r>
                <a:rPr lang="en-US" sz="3750">
                  <a:solidFill>
                    <a:srgbClr val="000000"/>
                  </a:solidFill>
                  <a:latin typeface="Times New Roman"/>
                  <a:ea typeface="Times New Roman"/>
                  <a:cs typeface="Times New Roman"/>
                  <a:sym typeface="Times New Roman"/>
                </a:rPr>
                <a:t>•He must carefully weigh the impact of his decisions on all stakeholders, including users and the company</a:t>
              </a:r>
            </a:p>
            <a:p>
              <a:pPr algn="l">
                <a:lnSpc>
                  <a:spcPts val="4500"/>
                </a:lnSpc>
              </a:pPr>
              <a:endParaRPr lang="en-US" sz="3750">
                <a:solidFill>
                  <a:srgbClr val="000000"/>
                </a:solidFill>
                <a:latin typeface="Times New Roman"/>
                <a:ea typeface="Times New Roman"/>
                <a:cs typeface="Times New Roman"/>
                <a:sym typeface="Times New Roman"/>
              </a:endParaRPr>
            </a:p>
            <a:p>
              <a:pPr algn="l">
                <a:lnSpc>
                  <a:spcPts val="4500"/>
                </a:lnSpc>
              </a:pPr>
              <a:r>
                <a:rPr lang="en-US" sz="3750">
                  <a:solidFill>
                    <a:srgbClr val="000000"/>
                  </a:solidFill>
                  <a:latin typeface="Times New Roman"/>
                  <a:ea typeface="Times New Roman"/>
                  <a:cs typeface="Times New Roman"/>
                  <a:sym typeface="Times New Roman"/>
                </a:rPr>
                <a:t>•Balancing loyalty to the company with responsibility to the public creates a difficult ethical challenge.</a:t>
              </a:r>
            </a:p>
            <a:p>
              <a:pPr algn="l">
                <a:lnSpc>
                  <a:spcPts val="4500"/>
                </a:lnSpc>
              </a:pPr>
              <a:endParaRPr lang="en-US" sz="3750">
                <a:solidFill>
                  <a:srgbClr val="000000"/>
                </a:solidFill>
                <a:latin typeface="Times New Roman"/>
                <a:ea typeface="Times New Roman"/>
                <a:cs typeface="Times New Roman"/>
                <a:sym typeface="Times New Roman"/>
              </a:endParaRPr>
            </a:p>
          </p:txBody>
        </p:sp>
      </p:grpSp>
      <p:sp>
        <p:nvSpPr>
          <p:cNvPr id="8" name="Freeform 8"/>
          <p:cNvSpPr/>
          <p:nvPr/>
        </p:nvSpPr>
        <p:spPr>
          <a:xfrm>
            <a:off x="9439897" y="3920587"/>
            <a:ext cx="8145759" cy="4229529"/>
          </a:xfrm>
          <a:custGeom>
            <a:avLst/>
            <a:gdLst/>
            <a:ahLst/>
            <a:cxnLst/>
            <a:rect l="l" t="t" r="r" b="b"/>
            <a:pathLst>
              <a:path w="8145759" h="4229529">
                <a:moveTo>
                  <a:pt x="0" y="0"/>
                </a:moveTo>
                <a:lnTo>
                  <a:pt x="8145759" y="0"/>
                </a:lnTo>
                <a:lnTo>
                  <a:pt x="8145759" y="4229529"/>
                </a:lnTo>
                <a:lnTo>
                  <a:pt x="0" y="4229529"/>
                </a:lnTo>
                <a:lnTo>
                  <a:pt x="0" y="0"/>
                </a:lnTo>
                <a:close/>
              </a:path>
            </a:pathLst>
          </a:custGeom>
          <a:blipFill>
            <a:blip r:embed="rId2"/>
            <a:stretch>
              <a:fillRect/>
            </a:stretch>
          </a:blipFill>
        </p:spPr>
        <p:txBody>
          <a:bodyPr/>
          <a:lstStyle/>
          <a:p>
            <a:endParaRPr lang="en-US"/>
          </a:p>
        </p:txBody>
      </p:sp>
      <p:grpSp>
        <p:nvGrpSpPr>
          <p:cNvPr id="9" name="Group 9"/>
          <p:cNvGrpSpPr/>
          <p:nvPr/>
        </p:nvGrpSpPr>
        <p:grpSpPr>
          <a:xfrm>
            <a:off x="891540" y="9498330"/>
            <a:ext cx="784860" cy="371477"/>
            <a:chOff x="0" y="0"/>
            <a:chExt cx="1046480" cy="495302"/>
          </a:xfrm>
        </p:grpSpPr>
        <p:sp>
          <p:nvSpPr>
            <p:cNvPr id="10" name="Freeform 10"/>
            <p:cNvSpPr/>
            <p:nvPr/>
          </p:nvSpPr>
          <p:spPr>
            <a:xfrm>
              <a:off x="0" y="0"/>
              <a:ext cx="1046480" cy="495302"/>
            </a:xfrm>
            <a:custGeom>
              <a:avLst/>
              <a:gdLst/>
              <a:ahLst/>
              <a:cxnLst/>
              <a:rect l="l" t="t" r="r" b="b"/>
              <a:pathLst>
                <a:path w="1046480" h="495302">
                  <a:moveTo>
                    <a:pt x="0" y="0"/>
                  </a:moveTo>
                  <a:lnTo>
                    <a:pt x="1046480" y="0"/>
                  </a:lnTo>
                  <a:lnTo>
                    <a:pt x="1046480" y="495302"/>
                  </a:lnTo>
                  <a:lnTo>
                    <a:pt x="0" y="495302"/>
                  </a:lnTo>
                  <a:close/>
                </a:path>
              </a:pathLst>
            </a:custGeom>
            <a:solidFill>
              <a:srgbClr val="000000">
                <a:alpha val="0"/>
              </a:srgbClr>
            </a:solidFill>
          </p:spPr>
          <p:txBody>
            <a:bodyPr/>
            <a:lstStyle/>
            <a:p>
              <a:endParaRPr lang="en-US"/>
            </a:p>
          </p:txBody>
        </p:sp>
        <p:sp>
          <p:nvSpPr>
            <p:cNvPr id="11" name="TextBox 11"/>
            <p:cNvSpPr txBox="1"/>
            <p:nvPr/>
          </p:nvSpPr>
          <p:spPr>
            <a:xfrm>
              <a:off x="0" y="-38100"/>
              <a:ext cx="1046480" cy="533402"/>
            </a:xfrm>
            <a:prstGeom prst="rect">
              <a:avLst/>
            </a:prstGeom>
          </p:spPr>
          <p:txBody>
            <a:bodyPr lIns="0" tIns="0" rIns="0" bIns="0" rtlCol="0" anchor="t"/>
            <a:lstStyle/>
            <a:p>
              <a:pPr algn="l">
                <a:lnSpc>
                  <a:spcPts val="1980"/>
                </a:lnSpc>
              </a:pPr>
              <a:endParaRPr lang="en-US" sz="1650" b="1" dirty="0">
                <a:solidFill>
                  <a:srgbClr val="000000"/>
                </a:solidFill>
                <a:latin typeface="Times New Roman Bold"/>
                <a:ea typeface="Times New Roman Bold"/>
                <a:cs typeface="Times New Roman Bold"/>
                <a:sym typeface="Times New Roman Bold"/>
              </a:endParaRPr>
            </a:p>
          </p:txBody>
        </p:sp>
      </p:gr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12068198" y="237015"/>
            <a:ext cx="6200137" cy="3387537"/>
          </a:xfrm>
          <a:custGeom>
            <a:avLst/>
            <a:gdLst/>
            <a:ahLst/>
            <a:cxnLst/>
            <a:rect l="l" t="t" r="r" b="b"/>
            <a:pathLst>
              <a:path w="6200137" h="3387537">
                <a:moveTo>
                  <a:pt x="0" y="0"/>
                </a:moveTo>
                <a:lnTo>
                  <a:pt x="6200137" y="0"/>
                </a:lnTo>
                <a:lnTo>
                  <a:pt x="6200137" y="3387537"/>
                </a:lnTo>
                <a:lnTo>
                  <a:pt x="0" y="3387537"/>
                </a:lnTo>
                <a:lnTo>
                  <a:pt x="0" y="0"/>
                </a:lnTo>
                <a:close/>
              </a:path>
            </a:pathLst>
          </a:custGeom>
          <a:blipFill>
            <a:blip r:embed="rId2">
              <a:extLst>
                <a:ext uri="{96DAC541-7B7A-43D3-8B79-37D633B846F1}">
                  <asvg:svgBlip xmlns:asvg="http://schemas.microsoft.com/office/drawing/2016/SVG/main" r:embed="rId3"/>
                </a:ext>
              </a:extLst>
            </a:blip>
            <a:stretch>
              <a:fillRect t="-887" b="-887"/>
            </a:stretch>
          </a:blipFill>
        </p:spPr>
        <p:txBody>
          <a:bodyPr/>
          <a:lstStyle/>
          <a:p>
            <a:endParaRPr lang="en-US"/>
          </a:p>
        </p:txBody>
      </p:sp>
      <p:sp>
        <p:nvSpPr>
          <p:cNvPr id="3" name="Freeform 3"/>
          <p:cNvSpPr/>
          <p:nvPr/>
        </p:nvSpPr>
        <p:spPr>
          <a:xfrm>
            <a:off x="12696170" y="8051066"/>
            <a:ext cx="538084" cy="1654227"/>
          </a:xfrm>
          <a:custGeom>
            <a:avLst/>
            <a:gdLst/>
            <a:ahLst/>
            <a:cxnLst/>
            <a:rect l="l" t="t" r="r" b="b"/>
            <a:pathLst>
              <a:path w="538084" h="1654227">
                <a:moveTo>
                  <a:pt x="0" y="0"/>
                </a:moveTo>
                <a:lnTo>
                  <a:pt x="538084" y="0"/>
                </a:lnTo>
                <a:lnTo>
                  <a:pt x="538084" y="1654226"/>
                </a:lnTo>
                <a:lnTo>
                  <a:pt x="0" y="1654226"/>
                </a:lnTo>
                <a:lnTo>
                  <a:pt x="0" y="0"/>
                </a:lnTo>
                <a:close/>
              </a:path>
            </a:pathLst>
          </a:custGeom>
          <a:blipFill>
            <a:blip r:embed="rId4">
              <a:extLst>
                <a:ext uri="{96DAC541-7B7A-43D3-8B79-37D633B846F1}">
                  <asvg:svgBlip xmlns:asvg="http://schemas.microsoft.com/office/drawing/2016/SVG/main" r:embed="rId5"/>
                </a:ext>
              </a:extLst>
            </a:blip>
            <a:stretch>
              <a:fillRect l="-354" r="-354"/>
            </a:stretch>
          </a:blipFill>
        </p:spPr>
        <p:txBody>
          <a:bodyPr/>
          <a:lstStyle/>
          <a:p>
            <a:endParaRPr lang="en-US"/>
          </a:p>
        </p:txBody>
      </p:sp>
      <p:sp>
        <p:nvSpPr>
          <p:cNvPr id="4" name="Freeform 4"/>
          <p:cNvSpPr/>
          <p:nvPr/>
        </p:nvSpPr>
        <p:spPr>
          <a:xfrm>
            <a:off x="1028700" y="8498058"/>
            <a:ext cx="760244" cy="760243"/>
          </a:xfrm>
          <a:custGeom>
            <a:avLst/>
            <a:gdLst/>
            <a:ahLst/>
            <a:cxnLst/>
            <a:rect l="l" t="t" r="r" b="b"/>
            <a:pathLst>
              <a:path w="760244" h="760243">
                <a:moveTo>
                  <a:pt x="0" y="0"/>
                </a:moveTo>
                <a:lnTo>
                  <a:pt x="760244" y="0"/>
                </a:lnTo>
                <a:lnTo>
                  <a:pt x="760244" y="760244"/>
                </a:lnTo>
                <a:lnTo>
                  <a:pt x="0" y="760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5" name="Group 5"/>
          <p:cNvGrpSpPr/>
          <p:nvPr/>
        </p:nvGrpSpPr>
        <p:grpSpPr>
          <a:xfrm>
            <a:off x="249883" y="237015"/>
            <a:ext cx="11058425" cy="2498217"/>
            <a:chOff x="0" y="0"/>
            <a:chExt cx="14744566" cy="3330956"/>
          </a:xfrm>
        </p:grpSpPr>
        <p:sp>
          <p:nvSpPr>
            <p:cNvPr id="6" name="Freeform 6"/>
            <p:cNvSpPr/>
            <p:nvPr/>
          </p:nvSpPr>
          <p:spPr>
            <a:xfrm>
              <a:off x="0" y="0"/>
              <a:ext cx="14744567" cy="3330956"/>
            </a:xfrm>
            <a:custGeom>
              <a:avLst/>
              <a:gdLst/>
              <a:ahLst/>
              <a:cxnLst/>
              <a:rect l="l" t="t" r="r" b="b"/>
              <a:pathLst>
                <a:path w="14744567" h="3330956">
                  <a:moveTo>
                    <a:pt x="0" y="0"/>
                  </a:moveTo>
                  <a:lnTo>
                    <a:pt x="14744567" y="0"/>
                  </a:lnTo>
                  <a:lnTo>
                    <a:pt x="14744567" y="3330956"/>
                  </a:lnTo>
                  <a:lnTo>
                    <a:pt x="0" y="3330956"/>
                  </a:lnTo>
                  <a:close/>
                </a:path>
              </a:pathLst>
            </a:custGeom>
            <a:solidFill>
              <a:srgbClr val="000000">
                <a:alpha val="0"/>
              </a:srgbClr>
            </a:solidFill>
          </p:spPr>
          <p:txBody>
            <a:bodyPr/>
            <a:lstStyle/>
            <a:p>
              <a:endParaRPr lang="en-US"/>
            </a:p>
          </p:txBody>
        </p:sp>
        <p:sp>
          <p:nvSpPr>
            <p:cNvPr id="7" name="TextBox 7"/>
            <p:cNvSpPr txBox="1"/>
            <p:nvPr/>
          </p:nvSpPr>
          <p:spPr>
            <a:xfrm>
              <a:off x="0" y="-295275"/>
              <a:ext cx="14744566" cy="3626231"/>
            </a:xfrm>
            <a:prstGeom prst="rect">
              <a:avLst/>
            </a:prstGeom>
          </p:spPr>
          <p:txBody>
            <a:bodyPr lIns="0" tIns="0" rIns="0" bIns="0" rtlCol="0" anchor="t"/>
            <a:lstStyle/>
            <a:p>
              <a:pPr algn="ctr">
                <a:lnSpc>
                  <a:spcPts val="9660"/>
                </a:lnSpc>
              </a:pPr>
              <a:r>
                <a:rPr lang="en-US" sz="6600" b="1" dirty="0">
                  <a:solidFill>
                    <a:srgbClr val="202C43"/>
                  </a:solidFill>
                  <a:latin typeface="Times New Roman Bold"/>
                  <a:ea typeface="Times New Roman Bold"/>
                  <a:cs typeface="Times New Roman Bold"/>
                  <a:sym typeface="Times New Roman Bold"/>
                </a:rPr>
                <a:t>RESOLVING ETHICAL DILEMMA</a:t>
              </a:r>
            </a:p>
          </p:txBody>
        </p:sp>
      </p:grpSp>
      <p:grpSp>
        <p:nvGrpSpPr>
          <p:cNvPr id="8" name="Group 8"/>
          <p:cNvGrpSpPr/>
          <p:nvPr/>
        </p:nvGrpSpPr>
        <p:grpSpPr>
          <a:xfrm>
            <a:off x="1788943" y="8500353"/>
            <a:ext cx="10710013" cy="650562"/>
            <a:chOff x="0" y="0"/>
            <a:chExt cx="14280018" cy="867416"/>
          </a:xfrm>
        </p:grpSpPr>
        <p:sp>
          <p:nvSpPr>
            <p:cNvPr id="9" name="Freeform 9"/>
            <p:cNvSpPr/>
            <p:nvPr/>
          </p:nvSpPr>
          <p:spPr>
            <a:xfrm>
              <a:off x="0" y="0"/>
              <a:ext cx="14280018" cy="867416"/>
            </a:xfrm>
            <a:custGeom>
              <a:avLst/>
              <a:gdLst/>
              <a:ahLst/>
              <a:cxnLst/>
              <a:rect l="l" t="t" r="r" b="b"/>
              <a:pathLst>
                <a:path w="14280018" h="867416">
                  <a:moveTo>
                    <a:pt x="0" y="0"/>
                  </a:moveTo>
                  <a:lnTo>
                    <a:pt x="14280018" y="0"/>
                  </a:lnTo>
                  <a:lnTo>
                    <a:pt x="14280018" y="867416"/>
                  </a:lnTo>
                  <a:lnTo>
                    <a:pt x="0" y="867416"/>
                  </a:lnTo>
                  <a:close/>
                </a:path>
              </a:pathLst>
            </a:custGeom>
            <a:solidFill>
              <a:srgbClr val="000000">
                <a:alpha val="0"/>
              </a:srgbClr>
            </a:solidFill>
          </p:spPr>
          <p:txBody>
            <a:bodyPr/>
            <a:lstStyle/>
            <a:p>
              <a:endParaRPr lang="en-US"/>
            </a:p>
          </p:txBody>
        </p:sp>
        <p:sp>
          <p:nvSpPr>
            <p:cNvPr id="10" name="TextBox 10"/>
            <p:cNvSpPr txBox="1"/>
            <p:nvPr/>
          </p:nvSpPr>
          <p:spPr>
            <a:xfrm>
              <a:off x="0" y="-152400"/>
              <a:ext cx="14280018" cy="1019816"/>
            </a:xfrm>
            <a:prstGeom prst="rect">
              <a:avLst/>
            </a:prstGeom>
          </p:spPr>
          <p:txBody>
            <a:bodyPr lIns="0" tIns="0" rIns="0" bIns="0" rtlCol="0" anchor="t"/>
            <a:lstStyle/>
            <a:p>
              <a:pPr algn="ctr">
                <a:lnSpc>
                  <a:spcPts val="5599"/>
                </a:lnSpc>
              </a:pPr>
              <a:r>
                <a:rPr lang="en-US" sz="3999" b="1">
                  <a:solidFill>
                    <a:srgbClr val="000000"/>
                  </a:solidFill>
                  <a:latin typeface="Times New Roman Bold"/>
                  <a:ea typeface="Times New Roman Bold"/>
                  <a:cs typeface="Times New Roman Bold"/>
                  <a:sym typeface="Times New Roman Bold"/>
                </a:rPr>
                <a:t>How Should Marcus Resolve This Dilemma</a:t>
              </a:r>
            </a:p>
          </p:txBody>
        </p:sp>
      </p:grpSp>
      <p:sp>
        <p:nvSpPr>
          <p:cNvPr id="11" name="Freeform 11"/>
          <p:cNvSpPr/>
          <p:nvPr/>
        </p:nvSpPr>
        <p:spPr>
          <a:xfrm>
            <a:off x="1045994" y="4764813"/>
            <a:ext cx="10416099" cy="2386233"/>
          </a:xfrm>
          <a:custGeom>
            <a:avLst/>
            <a:gdLst/>
            <a:ahLst/>
            <a:cxnLst/>
            <a:rect l="l" t="t" r="r" b="b"/>
            <a:pathLst>
              <a:path w="10416099" h="2386233">
                <a:moveTo>
                  <a:pt x="0" y="0"/>
                </a:moveTo>
                <a:lnTo>
                  <a:pt x="10416098" y="0"/>
                </a:lnTo>
                <a:lnTo>
                  <a:pt x="10416098" y="2386233"/>
                </a:lnTo>
                <a:lnTo>
                  <a:pt x="0" y="2386233"/>
                </a:lnTo>
                <a:lnTo>
                  <a:pt x="0" y="0"/>
                </a:lnTo>
                <a:close/>
              </a:path>
            </a:pathLst>
          </a:custGeom>
          <a:blipFill>
            <a:blip r:embed="rId8">
              <a:extLst>
                <a:ext uri="{96DAC541-7B7A-43D3-8B79-37D633B846F1}">
                  <asvg:svgBlip xmlns:asvg="http://schemas.microsoft.com/office/drawing/2016/SVG/main" r:embed="rId9"/>
                </a:ext>
              </a:extLst>
            </a:blip>
            <a:stretch>
              <a:fillRect t="-274" b="-274"/>
            </a:stretch>
          </a:blipFill>
        </p:spPr>
        <p:txBody>
          <a:bodyPr/>
          <a:lstStyle/>
          <a:p>
            <a:endParaRPr lang="en-US"/>
          </a:p>
        </p:txBody>
      </p:sp>
      <p:grpSp>
        <p:nvGrpSpPr>
          <p:cNvPr id="12" name="Group 12"/>
          <p:cNvGrpSpPr/>
          <p:nvPr/>
        </p:nvGrpSpPr>
        <p:grpSpPr>
          <a:xfrm>
            <a:off x="1650372" y="5420084"/>
            <a:ext cx="9207340" cy="526203"/>
            <a:chOff x="0" y="0"/>
            <a:chExt cx="12276454" cy="701604"/>
          </a:xfrm>
        </p:grpSpPr>
        <p:sp>
          <p:nvSpPr>
            <p:cNvPr id="13" name="Freeform 13"/>
            <p:cNvSpPr/>
            <p:nvPr/>
          </p:nvSpPr>
          <p:spPr>
            <a:xfrm>
              <a:off x="0" y="0"/>
              <a:ext cx="12276454" cy="701604"/>
            </a:xfrm>
            <a:custGeom>
              <a:avLst/>
              <a:gdLst/>
              <a:ahLst/>
              <a:cxnLst/>
              <a:rect l="l" t="t" r="r" b="b"/>
              <a:pathLst>
                <a:path w="12276454" h="701604">
                  <a:moveTo>
                    <a:pt x="0" y="0"/>
                  </a:moveTo>
                  <a:lnTo>
                    <a:pt x="12276454" y="0"/>
                  </a:lnTo>
                  <a:lnTo>
                    <a:pt x="12276454" y="701604"/>
                  </a:lnTo>
                  <a:lnTo>
                    <a:pt x="0" y="701604"/>
                  </a:lnTo>
                  <a:close/>
                </a:path>
              </a:pathLst>
            </a:custGeom>
            <a:solidFill>
              <a:srgbClr val="000000">
                <a:alpha val="0"/>
              </a:srgbClr>
            </a:solidFill>
          </p:spPr>
          <p:txBody>
            <a:bodyPr/>
            <a:lstStyle/>
            <a:p>
              <a:endParaRPr lang="en-US"/>
            </a:p>
          </p:txBody>
        </p:sp>
        <p:sp>
          <p:nvSpPr>
            <p:cNvPr id="14" name="TextBox 14"/>
            <p:cNvSpPr txBox="1"/>
            <p:nvPr/>
          </p:nvSpPr>
          <p:spPr>
            <a:xfrm>
              <a:off x="0" y="-123825"/>
              <a:ext cx="12276454" cy="825429"/>
            </a:xfrm>
            <a:prstGeom prst="rect">
              <a:avLst/>
            </a:prstGeom>
          </p:spPr>
          <p:txBody>
            <a:bodyPr lIns="0" tIns="0" rIns="0" bIns="0" rtlCol="0" anchor="t"/>
            <a:lstStyle/>
            <a:p>
              <a:pPr algn="ctr">
                <a:lnSpc>
                  <a:spcPts val="4479"/>
                </a:lnSpc>
              </a:pPr>
              <a:r>
                <a:rPr lang="en-US" sz="3199" b="1">
                  <a:solidFill>
                    <a:srgbClr val="393839"/>
                  </a:solidFill>
                  <a:latin typeface="Times New Roman Bold"/>
                  <a:ea typeface="Times New Roman Bold"/>
                  <a:cs typeface="Times New Roman Bold"/>
                  <a:sym typeface="Times New Roman Bold"/>
                </a:rPr>
                <a:t>Protecting User Privacy vs. Company Interests</a:t>
              </a:r>
            </a:p>
          </p:txBody>
        </p:sp>
      </p:grpSp>
      <p:sp>
        <p:nvSpPr>
          <p:cNvPr id="15" name="Freeform 15"/>
          <p:cNvSpPr/>
          <p:nvPr/>
        </p:nvSpPr>
        <p:spPr>
          <a:xfrm>
            <a:off x="13431468" y="8051066"/>
            <a:ext cx="538084" cy="1654227"/>
          </a:xfrm>
          <a:custGeom>
            <a:avLst/>
            <a:gdLst/>
            <a:ahLst/>
            <a:cxnLst/>
            <a:rect l="l" t="t" r="r" b="b"/>
            <a:pathLst>
              <a:path w="538084" h="1654227">
                <a:moveTo>
                  <a:pt x="0" y="0"/>
                </a:moveTo>
                <a:lnTo>
                  <a:pt x="538084" y="0"/>
                </a:lnTo>
                <a:lnTo>
                  <a:pt x="538084" y="1654226"/>
                </a:lnTo>
                <a:lnTo>
                  <a:pt x="0" y="1654226"/>
                </a:lnTo>
                <a:lnTo>
                  <a:pt x="0" y="0"/>
                </a:lnTo>
                <a:close/>
              </a:path>
            </a:pathLst>
          </a:custGeom>
          <a:blipFill>
            <a:blip r:embed="rId4">
              <a:extLst>
                <a:ext uri="{96DAC541-7B7A-43D3-8B79-37D633B846F1}">
                  <asvg:svgBlip xmlns:asvg="http://schemas.microsoft.com/office/drawing/2016/SVG/main" r:embed="rId5"/>
                </a:ext>
              </a:extLst>
            </a:blip>
            <a:stretch>
              <a:fillRect l="-354" r="-354"/>
            </a:stretch>
          </a:blipFill>
        </p:spPr>
        <p:txBody>
          <a:bodyPr/>
          <a:lstStyle/>
          <a:p>
            <a:endParaRPr lang="en-US"/>
          </a:p>
        </p:txBody>
      </p:sp>
      <p:grpSp>
        <p:nvGrpSpPr>
          <p:cNvPr id="16" name="Group 16"/>
          <p:cNvGrpSpPr/>
          <p:nvPr/>
        </p:nvGrpSpPr>
        <p:grpSpPr>
          <a:xfrm>
            <a:off x="472362" y="9509085"/>
            <a:ext cx="9146331" cy="392415"/>
            <a:chOff x="0" y="0"/>
            <a:chExt cx="12195108" cy="523220"/>
          </a:xfrm>
        </p:grpSpPr>
        <p:sp>
          <p:nvSpPr>
            <p:cNvPr id="17" name="Freeform 17"/>
            <p:cNvSpPr/>
            <p:nvPr/>
          </p:nvSpPr>
          <p:spPr>
            <a:xfrm>
              <a:off x="0" y="0"/>
              <a:ext cx="12195108" cy="523220"/>
            </a:xfrm>
            <a:custGeom>
              <a:avLst/>
              <a:gdLst/>
              <a:ahLst/>
              <a:cxnLst/>
              <a:rect l="l" t="t" r="r" b="b"/>
              <a:pathLst>
                <a:path w="12195108" h="523220">
                  <a:moveTo>
                    <a:pt x="0" y="0"/>
                  </a:moveTo>
                  <a:lnTo>
                    <a:pt x="12195108" y="0"/>
                  </a:lnTo>
                  <a:lnTo>
                    <a:pt x="12195108" y="523220"/>
                  </a:lnTo>
                  <a:lnTo>
                    <a:pt x="0" y="523220"/>
                  </a:lnTo>
                  <a:close/>
                </a:path>
              </a:pathLst>
            </a:custGeom>
            <a:solidFill>
              <a:srgbClr val="000000">
                <a:alpha val="0"/>
              </a:srgbClr>
            </a:solidFill>
          </p:spPr>
          <p:txBody>
            <a:bodyPr/>
            <a:lstStyle/>
            <a:p>
              <a:endParaRPr lang="en-US"/>
            </a:p>
          </p:txBody>
        </p:sp>
        <p:sp>
          <p:nvSpPr>
            <p:cNvPr id="18" name="TextBox 18"/>
            <p:cNvSpPr txBox="1"/>
            <p:nvPr/>
          </p:nvSpPr>
          <p:spPr>
            <a:xfrm>
              <a:off x="0" y="-28575"/>
              <a:ext cx="12195108" cy="551795"/>
            </a:xfrm>
            <a:prstGeom prst="rect">
              <a:avLst/>
            </a:prstGeom>
          </p:spPr>
          <p:txBody>
            <a:bodyPr lIns="0" tIns="0" rIns="0" bIns="0" rtlCol="0" anchor="t"/>
            <a:lstStyle/>
            <a:p>
              <a:pPr algn="l">
                <a:lnSpc>
                  <a:spcPts val="1980"/>
                </a:lnSpc>
              </a:pPr>
              <a:endParaRPr lang="en-US" sz="1650" dirty="0">
                <a:solidFill>
                  <a:srgbClr val="000000"/>
                </a:solidFill>
                <a:latin typeface="Calibri (MS)"/>
                <a:ea typeface="Calibri (MS)"/>
                <a:cs typeface="Calibri (MS)"/>
                <a:sym typeface="Calibri (MS)"/>
              </a:endParaRPr>
            </a:p>
          </p:txBody>
        </p:sp>
      </p:gr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rot="-10800000">
            <a:off x="13530228" y="0"/>
            <a:ext cx="4757774" cy="4757774"/>
          </a:xfrm>
          <a:custGeom>
            <a:avLst/>
            <a:gdLst/>
            <a:ahLst/>
            <a:cxnLst/>
            <a:rect l="l" t="t" r="r" b="b"/>
            <a:pathLst>
              <a:path w="4757774" h="4757774">
                <a:moveTo>
                  <a:pt x="0" y="0"/>
                </a:moveTo>
                <a:lnTo>
                  <a:pt x="4757774" y="0"/>
                </a:lnTo>
                <a:lnTo>
                  <a:pt x="4757774" y="4757774"/>
                </a:lnTo>
                <a:lnTo>
                  <a:pt x="0" y="47577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5400000">
            <a:off x="9253143" y="3021123"/>
            <a:ext cx="931233" cy="407758"/>
          </a:xfrm>
          <a:custGeom>
            <a:avLst/>
            <a:gdLst/>
            <a:ahLst/>
            <a:cxnLst/>
            <a:rect l="l" t="t" r="r" b="b"/>
            <a:pathLst>
              <a:path w="931233" h="407758">
                <a:moveTo>
                  <a:pt x="0" y="0"/>
                </a:moveTo>
                <a:lnTo>
                  <a:pt x="931233" y="0"/>
                </a:lnTo>
                <a:lnTo>
                  <a:pt x="931233" y="407758"/>
                </a:lnTo>
                <a:lnTo>
                  <a:pt x="0" y="407758"/>
                </a:lnTo>
                <a:lnTo>
                  <a:pt x="0" y="0"/>
                </a:lnTo>
                <a:close/>
              </a:path>
            </a:pathLst>
          </a:custGeom>
          <a:blipFill>
            <a:blip r:embed="rId4">
              <a:extLst>
                <a:ext uri="{96DAC541-7B7A-43D3-8B79-37D633B846F1}">
                  <asvg:svgBlip xmlns:asvg="http://schemas.microsoft.com/office/drawing/2016/SVG/main" r:embed="rId5"/>
                </a:ext>
              </a:extLst>
            </a:blip>
            <a:stretch>
              <a:fillRect t="-103" b="-103"/>
            </a:stretch>
          </a:blipFill>
        </p:spPr>
        <p:txBody>
          <a:bodyPr/>
          <a:lstStyle/>
          <a:p>
            <a:endParaRPr lang="en-US"/>
          </a:p>
        </p:txBody>
      </p:sp>
      <p:sp>
        <p:nvSpPr>
          <p:cNvPr id="4" name="Freeform 4"/>
          <p:cNvSpPr/>
          <p:nvPr/>
        </p:nvSpPr>
        <p:spPr>
          <a:xfrm rot="5400000">
            <a:off x="9253143" y="5476356"/>
            <a:ext cx="931233" cy="407758"/>
          </a:xfrm>
          <a:custGeom>
            <a:avLst/>
            <a:gdLst/>
            <a:ahLst/>
            <a:cxnLst/>
            <a:rect l="l" t="t" r="r" b="b"/>
            <a:pathLst>
              <a:path w="931233" h="407758">
                <a:moveTo>
                  <a:pt x="0" y="0"/>
                </a:moveTo>
                <a:lnTo>
                  <a:pt x="931233" y="0"/>
                </a:lnTo>
                <a:lnTo>
                  <a:pt x="931233" y="407758"/>
                </a:lnTo>
                <a:lnTo>
                  <a:pt x="0" y="407758"/>
                </a:lnTo>
                <a:lnTo>
                  <a:pt x="0" y="0"/>
                </a:lnTo>
                <a:close/>
              </a:path>
            </a:pathLst>
          </a:custGeom>
          <a:blipFill>
            <a:blip r:embed="rId4">
              <a:extLst>
                <a:ext uri="{96DAC541-7B7A-43D3-8B79-37D633B846F1}">
                  <asvg:svgBlip xmlns:asvg="http://schemas.microsoft.com/office/drawing/2016/SVG/main" r:embed="rId5"/>
                </a:ext>
              </a:extLst>
            </a:blip>
            <a:stretch>
              <a:fillRect t="-103" b="-103"/>
            </a:stretch>
          </a:blipFill>
        </p:spPr>
        <p:txBody>
          <a:bodyPr/>
          <a:lstStyle/>
          <a:p>
            <a:endParaRPr lang="en-US"/>
          </a:p>
        </p:txBody>
      </p:sp>
      <p:sp>
        <p:nvSpPr>
          <p:cNvPr id="5" name="Freeform 5"/>
          <p:cNvSpPr/>
          <p:nvPr/>
        </p:nvSpPr>
        <p:spPr>
          <a:xfrm rot="5400000">
            <a:off x="9275781" y="7979206"/>
            <a:ext cx="931233" cy="407758"/>
          </a:xfrm>
          <a:custGeom>
            <a:avLst/>
            <a:gdLst/>
            <a:ahLst/>
            <a:cxnLst/>
            <a:rect l="l" t="t" r="r" b="b"/>
            <a:pathLst>
              <a:path w="931233" h="407758">
                <a:moveTo>
                  <a:pt x="0" y="0"/>
                </a:moveTo>
                <a:lnTo>
                  <a:pt x="931233" y="0"/>
                </a:lnTo>
                <a:lnTo>
                  <a:pt x="931233" y="407759"/>
                </a:lnTo>
                <a:lnTo>
                  <a:pt x="0" y="407759"/>
                </a:lnTo>
                <a:lnTo>
                  <a:pt x="0" y="0"/>
                </a:lnTo>
                <a:close/>
              </a:path>
            </a:pathLst>
          </a:custGeom>
          <a:blipFill>
            <a:blip r:embed="rId4">
              <a:extLst>
                <a:ext uri="{96DAC541-7B7A-43D3-8B79-37D633B846F1}">
                  <asvg:svgBlip xmlns:asvg="http://schemas.microsoft.com/office/drawing/2016/SVG/main" r:embed="rId5"/>
                </a:ext>
              </a:extLst>
            </a:blip>
            <a:stretch>
              <a:fillRect t="-103" b="-103"/>
            </a:stretch>
          </a:blipFill>
        </p:spPr>
        <p:txBody>
          <a:bodyPr/>
          <a:lstStyle/>
          <a:p>
            <a:endParaRPr lang="en-US"/>
          </a:p>
        </p:txBody>
      </p:sp>
      <p:sp>
        <p:nvSpPr>
          <p:cNvPr id="6" name="Freeform 6"/>
          <p:cNvSpPr/>
          <p:nvPr/>
        </p:nvSpPr>
        <p:spPr>
          <a:xfrm>
            <a:off x="6968767" y="1420833"/>
            <a:ext cx="5545260" cy="1338552"/>
          </a:xfrm>
          <a:custGeom>
            <a:avLst/>
            <a:gdLst/>
            <a:ahLst/>
            <a:cxnLst/>
            <a:rect l="l" t="t" r="r" b="b"/>
            <a:pathLst>
              <a:path w="5545260" h="1338552">
                <a:moveTo>
                  <a:pt x="0" y="0"/>
                </a:moveTo>
                <a:lnTo>
                  <a:pt x="5545260" y="0"/>
                </a:lnTo>
                <a:lnTo>
                  <a:pt x="5545260" y="1338552"/>
                </a:lnTo>
                <a:lnTo>
                  <a:pt x="0" y="1338552"/>
                </a:lnTo>
                <a:lnTo>
                  <a:pt x="0" y="0"/>
                </a:lnTo>
                <a:close/>
              </a:path>
            </a:pathLst>
          </a:custGeom>
          <a:blipFill>
            <a:blip r:embed="rId6">
              <a:extLst>
                <a:ext uri="{96DAC541-7B7A-43D3-8B79-37D633B846F1}">
                  <asvg:svgBlip xmlns:asvg="http://schemas.microsoft.com/office/drawing/2016/SVG/main" r:embed="rId7"/>
                </a:ext>
              </a:extLst>
            </a:blip>
            <a:stretch>
              <a:fillRect t="-96" b="-96"/>
            </a:stretch>
          </a:blipFill>
        </p:spPr>
        <p:txBody>
          <a:bodyPr/>
          <a:lstStyle/>
          <a:p>
            <a:endParaRPr lang="en-US"/>
          </a:p>
        </p:txBody>
      </p:sp>
      <p:grpSp>
        <p:nvGrpSpPr>
          <p:cNvPr id="7" name="Group 7"/>
          <p:cNvGrpSpPr/>
          <p:nvPr/>
        </p:nvGrpSpPr>
        <p:grpSpPr>
          <a:xfrm>
            <a:off x="8051610" y="1710526"/>
            <a:ext cx="2926537" cy="1538883"/>
            <a:chOff x="0" y="0"/>
            <a:chExt cx="3902050" cy="2051844"/>
          </a:xfrm>
        </p:grpSpPr>
        <p:sp>
          <p:nvSpPr>
            <p:cNvPr id="8" name="Freeform 8"/>
            <p:cNvSpPr/>
            <p:nvPr/>
          </p:nvSpPr>
          <p:spPr>
            <a:xfrm>
              <a:off x="0" y="0"/>
              <a:ext cx="3902050" cy="2051844"/>
            </a:xfrm>
            <a:custGeom>
              <a:avLst/>
              <a:gdLst/>
              <a:ahLst/>
              <a:cxnLst/>
              <a:rect l="l" t="t" r="r" b="b"/>
              <a:pathLst>
                <a:path w="3902050" h="2051844">
                  <a:moveTo>
                    <a:pt x="0" y="0"/>
                  </a:moveTo>
                  <a:lnTo>
                    <a:pt x="3902050" y="0"/>
                  </a:lnTo>
                  <a:lnTo>
                    <a:pt x="3902050" y="2051844"/>
                  </a:lnTo>
                  <a:lnTo>
                    <a:pt x="0" y="2051844"/>
                  </a:lnTo>
                  <a:close/>
                </a:path>
              </a:pathLst>
            </a:custGeom>
            <a:solidFill>
              <a:srgbClr val="000000">
                <a:alpha val="0"/>
              </a:srgbClr>
            </a:solidFill>
          </p:spPr>
          <p:txBody>
            <a:bodyPr/>
            <a:lstStyle/>
            <a:p>
              <a:endParaRPr lang="en-US"/>
            </a:p>
          </p:txBody>
        </p:sp>
        <p:sp>
          <p:nvSpPr>
            <p:cNvPr id="9" name="TextBox 9"/>
            <p:cNvSpPr txBox="1"/>
            <p:nvPr/>
          </p:nvSpPr>
          <p:spPr>
            <a:xfrm>
              <a:off x="0" y="0"/>
              <a:ext cx="3902050" cy="2051844"/>
            </a:xfrm>
            <a:prstGeom prst="rect">
              <a:avLst/>
            </a:prstGeom>
          </p:spPr>
          <p:txBody>
            <a:bodyPr lIns="0" tIns="0" rIns="0" bIns="0" rtlCol="0" anchor="t"/>
            <a:lstStyle/>
            <a:p>
              <a:pPr algn="ctr">
                <a:lnSpc>
                  <a:spcPts val="2998"/>
                </a:lnSpc>
              </a:pPr>
              <a:r>
                <a:rPr lang="en-US" sz="2998">
                  <a:solidFill>
                    <a:srgbClr val="263238"/>
                  </a:solidFill>
                  <a:latin typeface="Times New Roman"/>
                  <a:ea typeface="Times New Roman"/>
                  <a:cs typeface="Times New Roman"/>
                  <a:sym typeface="Times New Roman"/>
                </a:rPr>
                <a:t>1. Recognize the Dilemma</a:t>
              </a:r>
            </a:p>
            <a:p>
              <a:pPr algn="ctr">
                <a:lnSpc>
                  <a:spcPts val="2998"/>
                </a:lnSpc>
              </a:pPr>
              <a:endParaRPr lang="en-US" sz="2998">
                <a:solidFill>
                  <a:srgbClr val="263238"/>
                </a:solidFill>
                <a:latin typeface="Times New Roman"/>
                <a:ea typeface="Times New Roman"/>
                <a:cs typeface="Times New Roman"/>
                <a:sym typeface="Times New Roman"/>
              </a:endParaRPr>
            </a:p>
            <a:p>
              <a:pPr algn="ctr">
                <a:lnSpc>
                  <a:spcPts val="2998"/>
                </a:lnSpc>
              </a:pPr>
              <a:endParaRPr lang="en-US" sz="2998">
                <a:solidFill>
                  <a:srgbClr val="263238"/>
                </a:solidFill>
                <a:latin typeface="Times New Roman"/>
                <a:ea typeface="Times New Roman"/>
                <a:cs typeface="Times New Roman"/>
                <a:sym typeface="Times New Roman"/>
              </a:endParaRPr>
            </a:p>
          </p:txBody>
        </p:sp>
      </p:grpSp>
      <p:sp>
        <p:nvSpPr>
          <p:cNvPr id="10" name="Freeform 10"/>
          <p:cNvSpPr/>
          <p:nvPr/>
        </p:nvSpPr>
        <p:spPr>
          <a:xfrm>
            <a:off x="7116932" y="3690618"/>
            <a:ext cx="5545260" cy="1338552"/>
          </a:xfrm>
          <a:custGeom>
            <a:avLst/>
            <a:gdLst/>
            <a:ahLst/>
            <a:cxnLst/>
            <a:rect l="l" t="t" r="r" b="b"/>
            <a:pathLst>
              <a:path w="5545260" h="1338552">
                <a:moveTo>
                  <a:pt x="0" y="0"/>
                </a:moveTo>
                <a:lnTo>
                  <a:pt x="5545260" y="0"/>
                </a:lnTo>
                <a:lnTo>
                  <a:pt x="5545260" y="1338552"/>
                </a:lnTo>
                <a:lnTo>
                  <a:pt x="0" y="1338552"/>
                </a:lnTo>
                <a:lnTo>
                  <a:pt x="0" y="0"/>
                </a:lnTo>
                <a:close/>
              </a:path>
            </a:pathLst>
          </a:custGeom>
          <a:blipFill>
            <a:blip r:embed="rId6">
              <a:extLst>
                <a:ext uri="{96DAC541-7B7A-43D3-8B79-37D633B846F1}">
                  <asvg:svgBlip xmlns:asvg="http://schemas.microsoft.com/office/drawing/2016/SVG/main" r:embed="rId7"/>
                </a:ext>
              </a:extLst>
            </a:blip>
            <a:stretch>
              <a:fillRect t="-96" b="-96"/>
            </a:stretch>
          </a:blipFill>
        </p:spPr>
        <p:txBody>
          <a:bodyPr/>
          <a:lstStyle/>
          <a:p>
            <a:endParaRPr lang="en-US"/>
          </a:p>
        </p:txBody>
      </p:sp>
      <p:grpSp>
        <p:nvGrpSpPr>
          <p:cNvPr id="11" name="Group 11"/>
          <p:cNvGrpSpPr/>
          <p:nvPr/>
        </p:nvGrpSpPr>
        <p:grpSpPr>
          <a:xfrm>
            <a:off x="7172646" y="4183682"/>
            <a:ext cx="5545260" cy="384720"/>
            <a:chOff x="0" y="0"/>
            <a:chExt cx="7393680" cy="512960"/>
          </a:xfrm>
        </p:grpSpPr>
        <p:sp>
          <p:nvSpPr>
            <p:cNvPr id="12" name="Freeform 12"/>
            <p:cNvSpPr/>
            <p:nvPr/>
          </p:nvSpPr>
          <p:spPr>
            <a:xfrm>
              <a:off x="0" y="0"/>
              <a:ext cx="7393680" cy="512960"/>
            </a:xfrm>
            <a:custGeom>
              <a:avLst/>
              <a:gdLst/>
              <a:ahLst/>
              <a:cxnLst/>
              <a:rect l="l" t="t" r="r" b="b"/>
              <a:pathLst>
                <a:path w="7393680" h="512960">
                  <a:moveTo>
                    <a:pt x="0" y="0"/>
                  </a:moveTo>
                  <a:lnTo>
                    <a:pt x="7393680" y="0"/>
                  </a:lnTo>
                  <a:lnTo>
                    <a:pt x="7393680" y="512960"/>
                  </a:lnTo>
                  <a:lnTo>
                    <a:pt x="0" y="512960"/>
                  </a:lnTo>
                  <a:close/>
                </a:path>
              </a:pathLst>
            </a:custGeom>
            <a:solidFill>
              <a:srgbClr val="000000">
                <a:alpha val="0"/>
              </a:srgbClr>
            </a:solidFill>
          </p:spPr>
          <p:txBody>
            <a:bodyPr/>
            <a:lstStyle/>
            <a:p>
              <a:endParaRPr lang="en-US"/>
            </a:p>
          </p:txBody>
        </p:sp>
        <p:sp>
          <p:nvSpPr>
            <p:cNvPr id="13" name="TextBox 13"/>
            <p:cNvSpPr txBox="1"/>
            <p:nvPr/>
          </p:nvSpPr>
          <p:spPr>
            <a:xfrm>
              <a:off x="0" y="0"/>
              <a:ext cx="7393680" cy="512960"/>
            </a:xfrm>
            <a:prstGeom prst="rect">
              <a:avLst/>
            </a:prstGeom>
          </p:spPr>
          <p:txBody>
            <a:bodyPr lIns="0" tIns="0" rIns="0" bIns="0" rtlCol="0" anchor="t"/>
            <a:lstStyle/>
            <a:p>
              <a:pPr algn="ctr">
                <a:lnSpc>
                  <a:spcPts val="2998"/>
                </a:lnSpc>
              </a:pPr>
              <a:r>
                <a:rPr lang="en-US" sz="2998">
                  <a:solidFill>
                    <a:srgbClr val="000000"/>
                  </a:solidFill>
                  <a:latin typeface="Times New Roman"/>
                  <a:ea typeface="Times New Roman"/>
                  <a:cs typeface="Times New Roman"/>
                  <a:sym typeface="Times New Roman"/>
                </a:rPr>
                <a:t>2. Gather Facts &amp; Analyze</a:t>
              </a:r>
            </a:p>
          </p:txBody>
        </p:sp>
      </p:grpSp>
      <p:sp>
        <p:nvSpPr>
          <p:cNvPr id="14" name="Freeform 14"/>
          <p:cNvSpPr/>
          <p:nvPr/>
        </p:nvSpPr>
        <p:spPr>
          <a:xfrm>
            <a:off x="7172646" y="6145850"/>
            <a:ext cx="5545260" cy="1338552"/>
          </a:xfrm>
          <a:custGeom>
            <a:avLst/>
            <a:gdLst/>
            <a:ahLst/>
            <a:cxnLst/>
            <a:rect l="l" t="t" r="r" b="b"/>
            <a:pathLst>
              <a:path w="5545260" h="1338552">
                <a:moveTo>
                  <a:pt x="0" y="0"/>
                </a:moveTo>
                <a:lnTo>
                  <a:pt x="5545260" y="0"/>
                </a:lnTo>
                <a:lnTo>
                  <a:pt x="5545260" y="1338552"/>
                </a:lnTo>
                <a:lnTo>
                  <a:pt x="0" y="1338552"/>
                </a:lnTo>
                <a:lnTo>
                  <a:pt x="0" y="0"/>
                </a:lnTo>
                <a:close/>
              </a:path>
            </a:pathLst>
          </a:custGeom>
          <a:blipFill>
            <a:blip r:embed="rId6">
              <a:extLst>
                <a:ext uri="{96DAC541-7B7A-43D3-8B79-37D633B846F1}">
                  <asvg:svgBlip xmlns:asvg="http://schemas.microsoft.com/office/drawing/2016/SVG/main" r:embed="rId7"/>
                </a:ext>
              </a:extLst>
            </a:blip>
            <a:stretch>
              <a:fillRect t="-96" b="-96"/>
            </a:stretch>
          </a:blipFill>
        </p:spPr>
        <p:txBody>
          <a:bodyPr/>
          <a:lstStyle/>
          <a:p>
            <a:endParaRPr lang="en-US"/>
          </a:p>
        </p:txBody>
      </p:sp>
      <p:grpSp>
        <p:nvGrpSpPr>
          <p:cNvPr id="15" name="Group 15"/>
          <p:cNvGrpSpPr/>
          <p:nvPr/>
        </p:nvGrpSpPr>
        <p:grpSpPr>
          <a:xfrm>
            <a:off x="7816008" y="6374451"/>
            <a:ext cx="4258537" cy="1538883"/>
            <a:chOff x="0" y="0"/>
            <a:chExt cx="5678050" cy="2051844"/>
          </a:xfrm>
        </p:grpSpPr>
        <p:sp>
          <p:nvSpPr>
            <p:cNvPr id="16" name="Freeform 16"/>
            <p:cNvSpPr/>
            <p:nvPr/>
          </p:nvSpPr>
          <p:spPr>
            <a:xfrm>
              <a:off x="0" y="0"/>
              <a:ext cx="5678050" cy="2051844"/>
            </a:xfrm>
            <a:custGeom>
              <a:avLst/>
              <a:gdLst/>
              <a:ahLst/>
              <a:cxnLst/>
              <a:rect l="l" t="t" r="r" b="b"/>
              <a:pathLst>
                <a:path w="5678050" h="2051844">
                  <a:moveTo>
                    <a:pt x="0" y="0"/>
                  </a:moveTo>
                  <a:lnTo>
                    <a:pt x="5678050" y="0"/>
                  </a:lnTo>
                  <a:lnTo>
                    <a:pt x="5678050" y="2051844"/>
                  </a:lnTo>
                  <a:lnTo>
                    <a:pt x="0" y="2051844"/>
                  </a:lnTo>
                  <a:close/>
                </a:path>
              </a:pathLst>
            </a:custGeom>
            <a:solidFill>
              <a:srgbClr val="000000">
                <a:alpha val="0"/>
              </a:srgbClr>
            </a:solidFill>
          </p:spPr>
          <p:txBody>
            <a:bodyPr/>
            <a:lstStyle/>
            <a:p>
              <a:endParaRPr lang="en-US"/>
            </a:p>
          </p:txBody>
        </p:sp>
        <p:sp>
          <p:nvSpPr>
            <p:cNvPr id="17" name="TextBox 17"/>
            <p:cNvSpPr txBox="1"/>
            <p:nvPr/>
          </p:nvSpPr>
          <p:spPr>
            <a:xfrm>
              <a:off x="0" y="0"/>
              <a:ext cx="5678050" cy="2051844"/>
            </a:xfrm>
            <a:prstGeom prst="rect">
              <a:avLst/>
            </a:prstGeom>
          </p:spPr>
          <p:txBody>
            <a:bodyPr lIns="0" tIns="0" rIns="0" bIns="0" rtlCol="0" anchor="t"/>
            <a:lstStyle/>
            <a:p>
              <a:pPr algn="ctr">
                <a:lnSpc>
                  <a:spcPts val="2998"/>
                </a:lnSpc>
              </a:pPr>
              <a:r>
                <a:rPr lang="en-US" sz="2998">
                  <a:solidFill>
                    <a:srgbClr val="202C43"/>
                  </a:solidFill>
                  <a:latin typeface="Times New Roman"/>
                  <a:ea typeface="Times New Roman"/>
                  <a:cs typeface="Times New Roman"/>
                  <a:sym typeface="Times New Roman"/>
                </a:rPr>
                <a:t>3. Consider Options &amp; Evaluate</a:t>
              </a:r>
            </a:p>
            <a:p>
              <a:pPr algn="ctr">
                <a:lnSpc>
                  <a:spcPts val="2998"/>
                </a:lnSpc>
              </a:pPr>
              <a:endParaRPr lang="en-US" sz="2998">
                <a:solidFill>
                  <a:srgbClr val="202C43"/>
                </a:solidFill>
                <a:latin typeface="Times New Roman"/>
                <a:ea typeface="Times New Roman"/>
                <a:cs typeface="Times New Roman"/>
                <a:sym typeface="Times New Roman"/>
              </a:endParaRPr>
            </a:p>
            <a:p>
              <a:pPr algn="ctr">
                <a:lnSpc>
                  <a:spcPts val="2998"/>
                </a:lnSpc>
              </a:pPr>
              <a:endParaRPr lang="en-US" sz="2998">
                <a:solidFill>
                  <a:srgbClr val="202C43"/>
                </a:solidFill>
                <a:latin typeface="Times New Roman"/>
                <a:ea typeface="Times New Roman"/>
                <a:cs typeface="Times New Roman"/>
                <a:sym typeface="Times New Roman"/>
              </a:endParaRPr>
            </a:p>
          </p:txBody>
        </p:sp>
      </p:grpSp>
      <p:sp>
        <p:nvSpPr>
          <p:cNvPr id="18" name="Freeform 18"/>
          <p:cNvSpPr/>
          <p:nvPr/>
        </p:nvSpPr>
        <p:spPr>
          <a:xfrm>
            <a:off x="7172646" y="8829675"/>
            <a:ext cx="5545260" cy="1338552"/>
          </a:xfrm>
          <a:custGeom>
            <a:avLst/>
            <a:gdLst/>
            <a:ahLst/>
            <a:cxnLst/>
            <a:rect l="l" t="t" r="r" b="b"/>
            <a:pathLst>
              <a:path w="5545260" h="1338552">
                <a:moveTo>
                  <a:pt x="0" y="0"/>
                </a:moveTo>
                <a:lnTo>
                  <a:pt x="5545260" y="0"/>
                </a:lnTo>
                <a:lnTo>
                  <a:pt x="5545260" y="1338552"/>
                </a:lnTo>
                <a:lnTo>
                  <a:pt x="0" y="1338552"/>
                </a:lnTo>
                <a:lnTo>
                  <a:pt x="0" y="0"/>
                </a:lnTo>
                <a:close/>
              </a:path>
            </a:pathLst>
          </a:custGeom>
          <a:blipFill>
            <a:blip r:embed="rId6">
              <a:extLst>
                <a:ext uri="{96DAC541-7B7A-43D3-8B79-37D633B846F1}">
                  <asvg:svgBlip xmlns:asvg="http://schemas.microsoft.com/office/drawing/2016/SVG/main" r:embed="rId7"/>
                </a:ext>
              </a:extLst>
            </a:blip>
            <a:stretch>
              <a:fillRect t="-96" b="-96"/>
            </a:stretch>
          </a:blipFill>
        </p:spPr>
        <p:txBody>
          <a:bodyPr/>
          <a:lstStyle/>
          <a:p>
            <a:endParaRPr lang="en-US"/>
          </a:p>
        </p:txBody>
      </p:sp>
      <p:grpSp>
        <p:nvGrpSpPr>
          <p:cNvPr id="19" name="Group 19"/>
          <p:cNvGrpSpPr/>
          <p:nvPr/>
        </p:nvGrpSpPr>
        <p:grpSpPr>
          <a:xfrm>
            <a:off x="7489416" y="9144000"/>
            <a:ext cx="4585129" cy="769441"/>
            <a:chOff x="0" y="0"/>
            <a:chExt cx="6113506" cy="1025922"/>
          </a:xfrm>
        </p:grpSpPr>
        <p:sp>
          <p:nvSpPr>
            <p:cNvPr id="20" name="Freeform 20"/>
            <p:cNvSpPr/>
            <p:nvPr/>
          </p:nvSpPr>
          <p:spPr>
            <a:xfrm>
              <a:off x="0" y="0"/>
              <a:ext cx="6113506" cy="1025922"/>
            </a:xfrm>
            <a:custGeom>
              <a:avLst/>
              <a:gdLst/>
              <a:ahLst/>
              <a:cxnLst/>
              <a:rect l="l" t="t" r="r" b="b"/>
              <a:pathLst>
                <a:path w="6113506" h="1025922">
                  <a:moveTo>
                    <a:pt x="0" y="0"/>
                  </a:moveTo>
                  <a:lnTo>
                    <a:pt x="6113506" y="0"/>
                  </a:lnTo>
                  <a:lnTo>
                    <a:pt x="6113506" y="1025922"/>
                  </a:lnTo>
                  <a:lnTo>
                    <a:pt x="0" y="1025922"/>
                  </a:lnTo>
                  <a:close/>
                </a:path>
              </a:pathLst>
            </a:custGeom>
            <a:solidFill>
              <a:srgbClr val="000000">
                <a:alpha val="0"/>
              </a:srgbClr>
            </a:solidFill>
          </p:spPr>
          <p:txBody>
            <a:bodyPr/>
            <a:lstStyle/>
            <a:p>
              <a:endParaRPr lang="en-US"/>
            </a:p>
          </p:txBody>
        </p:sp>
        <p:sp>
          <p:nvSpPr>
            <p:cNvPr id="21" name="TextBox 21"/>
            <p:cNvSpPr txBox="1"/>
            <p:nvPr/>
          </p:nvSpPr>
          <p:spPr>
            <a:xfrm>
              <a:off x="0" y="0"/>
              <a:ext cx="6113506" cy="1025922"/>
            </a:xfrm>
            <a:prstGeom prst="rect">
              <a:avLst/>
            </a:prstGeom>
          </p:spPr>
          <p:txBody>
            <a:bodyPr lIns="0" tIns="0" rIns="0" bIns="0" rtlCol="0" anchor="t"/>
            <a:lstStyle/>
            <a:p>
              <a:pPr algn="ctr">
                <a:lnSpc>
                  <a:spcPts val="2998"/>
                </a:lnSpc>
              </a:pPr>
              <a:r>
                <a:rPr lang="en-US" sz="2998">
                  <a:solidFill>
                    <a:srgbClr val="202C43"/>
                  </a:solidFill>
                  <a:latin typeface="Times New Roman"/>
                  <a:ea typeface="Times New Roman"/>
                  <a:cs typeface="Times New Roman"/>
                  <a:sym typeface="Times New Roman"/>
                </a:rPr>
                <a:t>4. Make a Decision &amp; Reflect</a:t>
              </a:r>
            </a:p>
            <a:p>
              <a:pPr algn="ctr">
                <a:lnSpc>
                  <a:spcPts val="2998"/>
                </a:lnSpc>
              </a:pPr>
              <a:endParaRPr lang="en-US" sz="2998">
                <a:solidFill>
                  <a:srgbClr val="202C43"/>
                </a:solidFill>
                <a:latin typeface="Times New Roman"/>
                <a:ea typeface="Times New Roman"/>
                <a:cs typeface="Times New Roman"/>
                <a:sym typeface="Times New Roman"/>
              </a:endParaRPr>
            </a:p>
          </p:txBody>
        </p:sp>
      </p:grpSp>
      <p:grpSp>
        <p:nvGrpSpPr>
          <p:cNvPr id="22" name="Group 22"/>
          <p:cNvGrpSpPr/>
          <p:nvPr/>
        </p:nvGrpSpPr>
        <p:grpSpPr>
          <a:xfrm>
            <a:off x="274815" y="65995"/>
            <a:ext cx="15553590" cy="1222820"/>
            <a:chOff x="0" y="0"/>
            <a:chExt cx="20738120" cy="1630426"/>
          </a:xfrm>
        </p:grpSpPr>
        <p:sp>
          <p:nvSpPr>
            <p:cNvPr id="23" name="Freeform 23"/>
            <p:cNvSpPr/>
            <p:nvPr/>
          </p:nvSpPr>
          <p:spPr>
            <a:xfrm>
              <a:off x="0" y="0"/>
              <a:ext cx="20738120" cy="1630426"/>
            </a:xfrm>
            <a:custGeom>
              <a:avLst/>
              <a:gdLst/>
              <a:ahLst/>
              <a:cxnLst/>
              <a:rect l="l" t="t" r="r" b="b"/>
              <a:pathLst>
                <a:path w="20738120" h="1630426">
                  <a:moveTo>
                    <a:pt x="0" y="0"/>
                  </a:moveTo>
                  <a:lnTo>
                    <a:pt x="20738120" y="0"/>
                  </a:lnTo>
                  <a:lnTo>
                    <a:pt x="20738120" y="1630426"/>
                  </a:lnTo>
                  <a:lnTo>
                    <a:pt x="0" y="1630426"/>
                  </a:lnTo>
                  <a:close/>
                </a:path>
              </a:pathLst>
            </a:custGeom>
            <a:solidFill>
              <a:srgbClr val="000000">
                <a:alpha val="0"/>
              </a:srgbClr>
            </a:solidFill>
          </p:spPr>
          <p:txBody>
            <a:bodyPr/>
            <a:lstStyle/>
            <a:p>
              <a:endParaRPr lang="en-US"/>
            </a:p>
          </p:txBody>
        </p:sp>
        <p:sp>
          <p:nvSpPr>
            <p:cNvPr id="24" name="TextBox 24"/>
            <p:cNvSpPr txBox="1"/>
            <p:nvPr/>
          </p:nvSpPr>
          <p:spPr>
            <a:xfrm>
              <a:off x="0" y="-57150"/>
              <a:ext cx="20738120" cy="1687576"/>
            </a:xfrm>
            <a:prstGeom prst="rect">
              <a:avLst/>
            </a:prstGeom>
          </p:spPr>
          <p:txBody>
            <a:bodyPr lIns="0" tIns="0" rIns="0" bIns="0" rtlCol="0" anchor="t"/>
            <a:lstStyle/>
            <a:p>
              <a:pPr algn="l">
                <a:lnSpc>
                  <a:spcPts val="6867"/>
                </a:lnSpc>
              </a:pPr>
              <a:r>
                <a:rPr lang="en-US" sz="6300" b="1" spc="-264">
                  <a:solidFill>
                    <a:srgbClr val="034383"/>
                  </a:solidFill>
                  <a:latin typeface="Times New Roman Bold"/>
                  <a:ea typeface="Times New Roman Bold"/>
                  <a:cs typeface="Times New Roman Bold"/>
                  <a:sym typeface="Times New Roman Bold"/>
                </a:rPr>
                <a:t>FOUR-STEP ANALYSIS  METHOD :</a:t>
              </a:r>
            </a:p>
          </p:txBody>
        </p:sp>
      </p:grpSp>
      <p:grpSp>
        <p:nvGrpSpPr>
          <p:cNvPr id="25" name="Group 25"/>
          <p:cNvGrpSpPr/>
          <p:nvPr/>
        </p:nvGrpSpPr>
        <p:grpSpPr>
          <a:xfrm>
            <a:off x="530679" y="9528720"/>
            <a:ext cx="9251301" cy="392415"/>
            <a:chOff x="0" y="0"/>
            <a:chExt cx="12335068" cy="523220"/>
          </a:xfrm>
        </p:grpSpPr>
        <p:sp>
          <p:nvSpPr>
            <p:cNvPr id="26" name="Freeform 26"/>
            <p:cNvSpPr/>
            <p:nvPr/>
          </p:nvSpPr>
          <p:spPr>
            <a:xfrm>
              <a:off x="0" y="0"/>
              <a:ext cx="12335068" cy="523220"/>
            </a:xfrm>
            <a:custGeom>
              <a:avLst/>
              <a:gdLst/>
              <a:ahLst/>
              <a:cxnLst/>
              <a:rect l="l" t="t" r="r" b="b"/>
              <a:pathLst>
                <a:path w="12335068" h="523220">
                  <a:moveTo>
                    <a:pt x="0" y="0"/>
                  </a:moveTo>
                  <a:lnTo>
                    <a:pt x="12335068" y="0"/>
                  </a:lnTo>
                  <a:lnTo>
                    <a:pt x="12335068" y="523220"/>
                  </a:lnTo>
                  <a:lnTo>
                    <a:pt x="0" y="523220"/>
                  </a:lnTo>
                  <a:close/>
                </a:path>
              </a:pathLst>
            </a:custGeom>
            <a:solidFill>
              <a:srgbClr val="000000">
                <a:alpha val="0"/>
              </a:srgbClr>
            </a:solidFill>
          </p:spPr>
          <p:txBody>
            <a:bodyPr/>
            <a:lstStyle/>
            <a:p>
              <a:endParaRPr lang="en-US"/>
            </a:p>
          </p:txBody>
        </p:sp>
        <p:sp>
          <p:nvSpPr>
            <p:cNvPr id="27" name="TextBox 27"/>
            <p:cNvSpPr txBox="1"/>
            <p:nvPr/>
          </p:nvSpPr>
          <p:spPr>
            <a:xfrm>
              <a:off x="0" y="-28575"/>
              <a:ext cx="12335068" cy="551795"/>
            </a:xfrm>
            <a:prstGeom prst="rect">
              <a:avLst/>
            </a:prstGeom>
          </p:spPr>
          <p:txBody>
            <a:bodyPr lIns="0" tIns="0" rIns="0" bIns="0" rtlCol="0" anchor="t"/>
            <a:lstStyle/>
            <a:p>
              <a:pPr algn="l">
                <a:lnSpc>
                  <a:spcPts val="1980"/>
                </a:lnSpc>
              </a:pPr>
              <a:endParaRPr lang="en-US" sz="1650" dirty="0">
                <a:solidFill>
                  <a:srgbClr val="000000"/>
                </a:solidFill>
                <a:latin typeface="Calibri (MS)"/>
                <a:ea typeface="Calibri (MS)"/>
                <a:cs typeface="Calibri (MS)"/>
                <a:sym typeface="Calibri (MS)"/>
              </a:endParaRPr>
            </a:p>
          </p:txBody>
        </p:sp>
      </p:gr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2192041" y="1801096"/>
            <a:ext cx="14140280" cy="7912775"/>
          </a:xfrm>
          <a:custGeom>
            <a:avLst/>
            <a:gdLst/>
            <a:ahLst/>
            <a:cxnLst/>
            <a:rect l="l" t="t" r="r" b="b"/>
            <a:pathLst>
              <a:path w="14140280" h="7912775">
                <a:moveTo>
                  <a:pt x="0" y="0"/>
                </a:moveTo>
                <a:lnTo>
                  <a:pt x="14140280" y="0"/>
                </a:lnTo>
                <a:lnTo>
                  <a:pt x="14140280" y="7912775"/>
                </a:lnTo>
                <a:lnTo>
                  <a:pt x="0" y="79127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2273896" y="1692600"/>
            <a:ext cx="13995619" cy="7948941"/>
            <a:chOff x="0" y="0"/>
            <a:chExt cx="18660826" cy="10598588"/>
          </a:xfrm>
        </p:grpSpPr>
        <p:sp>
          <p:nvSpPr>
            <p:cNvPr id="4" name="Freeform 4"/>
            <p:cNvSpPr/>
            <p:nvPr/>
          </p:nvSpPr>
          <p:spPr>
            <a:xfrm>
              <a:off x="0" y="0"/>
              <a:ext cx="18660825" cy="10598588"/>
            </a:xfrm>
            <a:custGeom>
              <a:avLst/>
              <a:gdLst/>
              <a:ahLst/>
              <a:cxnLst/>
              <a:rect l="l" t="t" r="r" b="b"/>
              <a:pathLst>
                <a:path w="18660825" h="10598588">
                  <a:moveTo>
                    <a:pt x="0" y="0"/>
                  </a:moveTo>
                  <a:lnTo>
                    <a:pt x="18660825" y="0"/>
                  </a:lnTo>
                  <a:lnTo>
                    <a:pt x="18660825" y="10598588"/>
                  </a:lnTo>
                  <a:lnTo>
                    <a:pt x="0" y="10598588"/>
                  </a:lnTo>
                  <a:close/>
                </a:path>
              </a:pathLst>
            </a:custGeom>
            <a:solidFill>
              <a:srgbClr val="000000">
                <a:alpha val="0"/>
              </a:srgbClr>
            </a:solidFill>
          </p:spPr>
          <p:txBody>
            <a:bodyPr/>
            <a:lstStyle/>
            <a:p>
              <a:endParaRPr lang="en-US"/>
            </a:p>
          </p:txBody>
        </p:sp>
        <p:sp>
          <p:nvSpPr>
            <p:cNvPr id="5" name="TextBox 5"/>
            <p:cNvSpPr txBox="1"/>
            <p:nvPr/>
          </p:nvSpPr>
          <p:spPr>
            <a:xfrm>
              <a:off x="0" y="-104775"/>
              <a:ext cx="18660826" cy="10703363"/>
            </a:xfrm>
            <a:prstGeom prst="rect">
              <a:avLst/>
            </a:prstGeom>
          </p:spPr>
          <p:txBody>
            <a:bodyPr lIns="0" tIns="0" rIns="0" bIns="0" rtlCol="0" anchor="ctr"/>
            <a:lstStyle/>
            <a:p>
              <a:pPr marL="751131" lvl="2" indent="-250377" algn="l">
                <a:lnSpc>
                  <a:spcPts val="3640"/>
                </a:lnSpc>
                <a:buFont typeface="Arial"/>
                <a:buChar char="⚬"/>
              </a:pPr>
              <a:r>
                <a:rPr lang="en-US" sz="3200" dirty="0">
                  <a:solidFill>
                    <a:srgbClr val="000000"/>
                  </a:solidFill>
                  <a:latin typeface="Times New Roman"/>
                  <a:ea typeface="Times New Roman"/>
                  <a:cs typeface="Times New Roman"/>
                  <a:sym typeface="Times New Roman"/>
                </a:rPr>
                <a:t>The marketing department requests access to user data to better target ads.</a:t>
              </a:r>
            </a:p>
            <a:p>
              <a:pPr marL="751131" lvl="2" indent="-250377" algn="l">
                <a:lnSpc>
                  <a:spcPts val="3640"/>
                </a:lnSpc>
              </a:pPr>
              <a:endParaRPr lang="en-US" sz="3200" dirty="0">
                <a:solidFill>
                  <a:srgbClr val="000000"/>
                </a:solidFill>
                <a:latin typeface="Times New Roman"/>
                <a:ea typeface="Times New Roman"/>
                <a:cs typeface="Times New Roman"/>
                <a:sym typeface="Times New Roman"/>
              </a:endParaRPr>
            </a:p>
            <a:p>
              <a:pPr marL="751131" lvl="2" indent="-250377" algn="l">
                <a:lnSpc>
                  <a:spcPts val="3640"/>
                </a:lnSpc>
                <a:buFont typeface="Arial"/>
                <a:buChar char="⚬"/>
              </a:pPr>
              <a:r>
                <a:rPr lang="en-US" sz="3200" dirty="0">
                  <a:solidFill>
                    <a:srgbClr val="000000"/>
                  </a:solidFill>
                  <a:latin typeface="Times New Roman"/>
                  <a:ea typeface="Times New Roman"/>
                  <a:cs typeface="Times New Roman"/>
                  <a:sym typeface="Times New Roman"/>
                </a:rPr>
                <a:t>However, sharing this data violates user privacy and ethical standards.</a:t>
              </a:r>
            </a:p>
            <a:p>
              <a:pPr marL="751131" lvl="2" indent="-250377" algn="l">
                <a:lnSpc>
                  <a:spcPts val="3640"/>
                </a:lnSpc>
              </a:pPr>
              <a:endParaRPr lang="en-US" sz="3200" dirty="0">
                <a:solidFill>
                  <a:srgbClr val="000000"/>
                </a:solidFill>
                <a:latin typeface="Times New Roman"/>
                <a:ea typeface="Times New Roman"/>
                <a:cs typeface="Times New Roman"/>
                <a:sym typeface="Times New Roman"/>
              </a:endParaRPr>
            </a:p>
            <a:p>
              <a:pPr marL="751131" lvl="2" indent="-250377" algn="l">
                <a:lnSpc>
                  <a:spcPts val="3640"/>
                </a:lnSpc>
                <a:buFont typeface="Arial"/>
                <a:buChar char="⚬"/>
              </a:pPr>
              <a:r>
                <a:rPr lang="en-US" sz="3200" dirty="0">
                  <a:solidFill>
                    <a:srgbClr val="000000"/>
                  </a:solidFill>
                  <a:latin typeface="Times New Roman"/>
                  <a:ea typeface="Times New Roman"/>
                  <a:cs typeface="Times New Roman"/>
                  <a:sym typeface="Times New Roman"/>
                </a:rPr>
                <a:t>Marcus is torn between protecting user privacy and supporting company interests.</a:t>
              </a:r>
            </a:p>
            <a:p>
              <a:pPr marL="751131" lvl="2" indent="-250377" algn="ctr">
                <a:lnSpc>
                  <a:spcPts val="3640"/>
                </a:lnSpc>
              </a:pPr>
              <a:endParaRPr lang="en-US" sz="2599" dirty="0">
                <a:solidFill>
                  <a:srgbClr val="000000"/>
                </a:solidFill>
                <a:latin typeface="Times New Roman"/>
                <a:ea typeface="Times New Roman"/>
                <a:cs typeface="Times New Roman"/>
                <a:sym typeface="Times New Roman"/>
              </a:endParaRPr>
            </a:p>
          </p:txBody>
        </p:sp>
      </p:grpSp>
      <p:sp>
        <p:nvSpPr>
          <p:cNvPr id="6" name="Freeform 6"/>
          <p:cNvSpPr/>
          <p:nvPr/>
        </p:nvSpPr>
        <p:spPr>
          <a:xfrm>
            <a:off x="2820954" y="162"/>
            <a:ext cx="12865274" cy="1873264"/>
          </a:xfrm>
          <a:custGeom>
            <a:avLst/>
            <a:gdLst/>
            <a:ahLst/>
            <a:cxnLst/>
            <a:rect l="l" t="t" r="r" b="b"/>
            <a:pathLst>
              <a:path w="12865274" h="1873264">
                <a:moveTo>
                  <a:pt x="0" y="0"/>
                </a:moveTo>
                <a:lnTo>
                  <a:pt x="12865274" y="0"/>
                </a:lnTo>
                <a:lnTo>
                  <a:pt x="12865274" y="1873265"/>
                </a:lnTo>
                <a:lnTo>
                  <a:pt x="0" y="18732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7" name="Group 7"/>
          <p:cNvGrpSpPr/>
          <p:nvPr/>
        </p:nvGrpSpPr>
        <p:grpSpPr>
          <a:xfrm>
            <a:off x="3039406" y="475130"/>
            <a:ext cx="12865275" cy="1244646"/>
            <a:chOff x="0" y="0"/>
            <a:chExt cx="17153700" cy="1659529"/>
          </a:xfrm>
        </p:grpSpPr>
        <p:sp>
          <p:nvSpPr>
            <p:cNvPr id="8" name="Freeform 8"/>
            <p:cNvSpPr/>
            <p:nvPr/>
          </p:nvSpPr>
          <p:spPr>
            <a:xfrm>
              <a:off x="0" y="0"/>
              <a:ext cx="17153700" cy="1659529"/>
            </a:xfrm>
            <a:custGeom>
              <a:avLst/>
              <a:gdLst/>
              <a:ahLst/>
              <a:cxnLst/>
              <a:rect l="l" t="t" r="r" b="b"/>
              <a:pathLst>
                <a:path w="17153700" h="1659529">
                  <a:moveTo>
                    <a:pt x="0" y="0"/>
                  </a:moveTo>
                  <a:lnTo>
                    <a:pt x="17153700" y="0"/>
                  </a:lnTo>
                  <a:lnTo>
                    <a:pt x="17153700" y="1659529"/>
                  </a:lnTo>
                  <a:lnTo>
                    <a:pt x="0" y="1659529"/>
                  </a:lnTo>
                  <a:close/>
                </a:path>
              </a:pathLst>
            </a:custGeom>
            <a:solidFill>
              <a:srgbClr val="000000">
                <a:alpha val="0"/>
              </a:srgbClr>
            </a:solidFill>
          </p:spPr>
          <p:txBody>
            <a:bodyPr/>
            <a:lstStyle/>
            <a:p>
              <a:endParaRPr lang="en-US"/>
            </a:p>
          </p:txBody>
        </p:sp>
        <p:sp>
          <p:nvSpPr>
            <p:cNvPr id="9" name="TextBox 9"/>
            <p:cNvSpPr txBox="1"/>
            <p:nvPr/>
          </p:nvSpPr>
          <p:spPr>
            <a:xfrm>
              <a:off x="0" y="-57150"/>
              <a:ext cx="17153700" cy="1716679"/>
            </a:xfrm>
            <a:prstGeom prst="rect">
              <a:avLst/>
            </a:prstGeom>
          </p:spPr>
          <p:txBody>
            <a:bodyPr lIns="0" tIns="0" rIns="0" bIns="0" rtlCol="0" anchor="t"/>
            <a:lstStyle/>
            <a:p>
              <a:pPr algn="l">
                <a:lnSpc>
                  <a:spcPts val="6923"/>
                </a:lnSpc>
              </a:pPr>
              <a:r>
                <a:rPr lang="en-US" sz="6400">
                  <a:solidFill>
                    <a:srgbClr val="FFFFFF"/>
                  </a:solidFill>
                  <a:latin typeface="Times New Roman"/>
                  <a:ea typeface="Times New Roman"/>
                  <a:cs typeface="Times New Roman"/>
                  <a:sym typeface="Times New Roman"/>
                </a:rPr>
                <a:t>1. RECOGNIZE THE DILEMMA</a:t>
              </a:r>
            </a:p>
          </p:txBody>
        </p:sp>
      </p:grpSp>
      <p:grpSp>
        <p:nvGrpSpPr>
          <p:cNvPr id="10" name="Group 10"/>
          <p:cNvGrpSpPr/>
          <p:nvPr/>
        </p:nvGrpSpPr>
        <p:grpSpPr>
          <a:xfrm>
            <a:off x="2601772" y="2708319"/>
            <a:ext cx="13084457" cy="1029897"/>
            <a:chOff x="0" y="0"/>
            <a:chExt cx="17445942" cy="1373196"/>
          </a:xfrm>
        </p:grpSpPr>
        <p:sp>
          <p:nvSpPr>
            <p:cNvPr id="11" name="Freeform 11"/>
            <p:cNvSpPr/>
            <p:nvPr/>
          </p:nvSpPr>
          <p:spPr>
            <a:xfrm>
              <a:off x="0" y="0"/>
              <a:ext cx="17445943" cy="1373196"/>
            </a:xfrm>
            <a:custGeom>
              <a:avLst/>
              <a:gdLst/>
              <a:ahLst/>
              <a:cxnLst/>
              <a:rect l="l" t="t" r="r" b="b"/>
              <a:pathLst>
                <a:path w="17445943" h="1373196">
                  <a:moveTo>
                    <a:pt x="0" y="0"/>
                  </a:moveTo>
                  <a:lnTo>
                    <a:pt x="17445943" y="0"/>
                  </a:lnTo>
                  <a:lnTo>
                    <a:pt x="17445943" y="1373196"/>
                  </a:lnTo>
                  <a:lnTo>
                    <a:pt x="0" y="1373196"/>
                  </a:lnTo>
                  <a:close/>
                </a:path>
              </a:pathLst>
            </a:custGeom>
            <a:solidFill>
              <a:srgbClr val="000000">
                <a:alpha val="0"/>
              </a:srgbClr>
            </a:solidFill>
          </p:spPr>
          <p:txBody>
            <a:bodyPr/>
            <a:lstStyle/>
            <a:p>
              <a:endParaRPr lang="en-US"/>
            </a:p>
          </p:txBody>
        </p:sp>
        <p:sp>
          <p:nvSpPr>
            <p:cNvPr id="12" name="TextBox 12"/>
            <p:cNvSpPr txBox="1"/>
            <p:nvPr/>
          </p:nvSpPr>
          <p:spPr>
            <a:xfrm>
              <a:off x="0" y="-114300"/>
              <a:ext cx="17445942" cy="1487496"/>
            </a:xfrm>
            <a:prstGeom prst="rect">
              <a:avLst/>
            </a:prstGeom>
          </p:spPr>
          <p:txBody>
            <a:bodyPr lIns="0" tIns="0" rIns="0" bIns="0" rtlCol="0" anchor="t"/>
            <a:lstStyle/>
            <a:p>
              <a:pPr algn="l">
                <a:lnSpc>
                  <a:spcPts val="4198"/>
                </a:lnSpc>
              </a:pPr>
              <a:r>
                <a:rPr lang="en-US" sz="4000" dirty="0">
                  <a:solidFill>
                    <a:srgbClr val="202C43"/>
                  </a:solidFill>
                  <a:latin typeface="Times New Roman"/>
                  <a:ea typeface="Times New Roman"/>
                  <a:cs typeface="Times New Roman"/>
                  <a:sym typeface="Times New Roman"/>
                </a:rPr>
                <a:t>Marcus, a computer engineer is faced with an ethical conflict :</a:t>
              </a:r>
            </a:p>
            <a:p>
              <a:pPr algn="l">
                <a:lnSpc>
                  <a:spcPts val="4198"/>
                </a:lnSpc>
              </a:pPr>
              <a:endParaRPr lang="en-US" sz="2998" dirty="0">
                <a:solidFill>
                  <a:srgbClr val="202C43"/>
                </a:solidFill>
                <a:latin typeface="Times New Roman"/>
                <a:ea typeface="Times New Roman"/>
                <a:cs typeface="Times New Roman"/>
                <a:sym typeface="Times New Roman"/>
              </a:endParaRPr>
            </a:p>
          </p:txBody>
        </p:sp>
      </p:grpSp>
      <p:sp>
        <p:nvSpPr>
          <p:cNvPr id="13" name="Freeform 13"/>
          <p:cNvSpPr/>
          <p:nvPr/>
        </p:nvSpPr>
        <p:spPr>
          <a:xfrm>
            <a:off x="15686227" y="251154"/>
            <a:ext cx="2846140" cy="1692598"/>
          </a:xfrm>
          <a:custGeom>
            <a:avLst/>
            <a:gdLst/>
            <a:ahLst/>
            <a:cxnLst/>
            <a:rect l="l" t="t" r="r" b="b"/>
            <a:pathLst>
              <a:path w="2846140" h="1692598">
                <a:moveTo>
                  <a:pt x="0" y="0"/>
                </a:moveTo>
                <a:lnTo>
                  <a:pt x="2846141" y="0"/>
                </a:lnTo>
                <a:lnTo>
                  <a:pt x="2846141" y="1692598"/>
                </a:lnTo>
                <a:lnTo>
                  <a:pt x="0" y="1692598"/>
                </a:lnTo>
                <a:lnTo>
                  <a:pt x="0" y="0"/>
                </a:lnTo>
                <a:close/>
              </a:path>
            </a:pathLst>
          </a:custGeom>
          <a:blipFill>
            <a:blip r:embed="rId6">
              <a:extLst>
                <a:ext uri="{96DAC541-7B7A-43D3-8B79-37D633B846F1}">
                  <asvg:svgBlip xmlns:asvg="http://schemas.microsoft.com/office/drawing/2016/SVG/main" r:embed="rId7"/>
                </a:ext>
              </a:extLst>
            </a:blip>
            <a:stretch>
              <a:fillRect l="-3456" r="-3456"/>
            </a:stretch>
          </a:blipFill>
        </p:spPr>
        <p:txBody>
          <a:bodyPr/>
          <a:lstStyle/>
          <a:p>
            <a:endParaRPr lang="en-US"/>
          </a:p>
        </p:txBody>
      </p:sp>
      <p:grpSp>
        <p:nvGrpSpPr>
          <p:cNvPr id="14" name="Group 14"/>
          <p:cNvGrpSpPr/>
          <p:nvPr/>
        </p:nvGrpSpPr>
        <p:grpSpPr>
          <a:xfrm>
            <a:off x="681021" y="9387243"/>
            <a:ext cx="9146331" cy="392415"/>
            <a:chOff x="0" y="0"/>
            <a:chExt cx="12195108" cy="523220"/>
          </a:xfrm>
        </p:grpSpPr>
        <p:sp>
          <p:nvSpPr>
            <p:cNvPr id="15" name="Freeform 15"/>
            <p:cNvSpPr/>
            <p:nvPr/>
          </p:nvSpPr>
          <p:spPr>
            <a:xfrm>
              <a:off x="0" y="0"/>
              <a:ext cx="12195108" cy="523220"/>
            </a:xfrm>
            <a:custGeom>
              <a:avLst/>
              <a:gdLst/>
              <a:ahLst/>
              <a:cxnLst/>
              <a:rect l="l" t="t" r="r" b="b"/>
              <a:pathLst>
                <a:path w="12195108" h="523220">
                  <a:moveTo>
                    <a:pt x="0" y="0"/>
                  </a:moveTo>
                  <a:lnTo>
                    <a:pt x="12195108" y="0"/>
                  </a:lnTo>
                  <a:lnTo>
                    <a:pt x="12195108" y="523220"/>
                  </a:lnTo>
                  <a:lnTo>
                    <a:pt x="0" y="523220"/>
                  </a:lnTo>
                  <a:close/>
                </a:path>
              </a:pathLst>
            </a:custGeom>
            <a:solidFill>
              <a:srgbClr val="000000">
                <a:alpha val="0"/>
              </a:srgbClr>
            </a:solidFill>
          </p:spPr>
          <p:txBody>
            <a:bodyPr/>
            <a:lstStyle/>
            <a:p>
              <a:endParaRPr lang="en-US"/>
            </a:p>
          </p:txBody>
        </p:sp>
        <p:sp>
          <p:nvSpPr>
            <p:cNvPr id="16" name="TextBox 16"/>
            <p:cNvSpPr txBox="1"/>
            <p:nvPr/>
          </p:nvSpPr>
          <p:spPr>
            <a:xfrm>
              <a:off x="0" y="-28575"/>
              <a:ext cx="12195108" cy="551795"/>
            </a:xfrm>
            <a:prstGeom prst="rect">
              <a:avLst/>
            </a:prstGeom>
          </p:spPr>
          <p:txBody>
            <a:bodyPr lIns="0" tIns="0" rIns="0" bIns="0" rtlCol="0" anchor="t"/>
            <a:lstStyle/>
            <a:p>
              <a:pPr algn="l">
                <a:lnSpc>
                  <a:spcPts val="1980"/>
                </a:lnSpc>
              </a:pPr>
              <a:endParaRPr lang="en-US" sz="1650" dirty="0">
                <a:solidFill>
                  <a:srgbClr val="000000"/>
                </a:solidFill>
                <a:latin typeface="Calibri (MS)"/>
                <a:ea typeface="Calibri (MS)"/>
                <a:cs typeface="Calibri (MS)"/>
                <a:sym typeface="Calibri (MS)"/>
              </a:endParaRPr>
            </a:p>
          </p:txBody>
        </p:sp>
      </p:grpSp>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2073861" y="1790035"/>
            <a:ext cx="14140280" cy="7912775"/>
          </a:xfrm>
          <a:custGeom>
            <a:avLst/>
            <a:gdLst/>
            <a:ahLst/>
            <a:cxnLst/>
            <a:rect l="l" t="t" r="r" b="b"/>
            <a:pathLst>
              <a:path w="14140280" h="7912775">
                <a:moveTo>
                  <a:pt x="0" y="0"/>
                </a:moveTo>
                <a:lnTo>
                  <a:pt x="14140280" y="0"/>
                </a:lnTo>
                <a:lnTo>
                  <a:pt x="14140280" y="7912775"/>
                </a:lnTo>
                <a:lnTo>
                  <a:pt x="0" y="79127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2146191" y="1681539"/>
            <a:ext cx="13995619" cy="7948941"/>
            <a:chOff x="0" y="0"/>
            <a:chExt cx="18660826" cy="10598588"/>
          </a:xfrm>
        </p:grpSpPr>
        <p:sp>
          <p:nvSpPr>
            <p:cNvPr id="4" name="Freeform 4"/>
            <p:cNvSpPr/>
            <p:nvPr/>
          </p:nvSpPr>
          <p:spPr>
            <a:xfrm>
              <a:off x="0" y="0"/>
              <a:ext cx="18660825" cy="10598588"/>
            </a:xfrm>
            <a:custGeom>
              <a:avLst/>
              <a:gdLst/>
              <a:ahLst/>
              <a:cxnLst/>
              <a:rect l="l" t="t" r="r" b="b"/>
              <a:pathLst>
                <a:path w="18660825" h="10598588">
                  <a:moveTo>
                    <a:pt x="0" y="0"/>
                  </a:moveTo>
                  <a:lnTo>
                    <a:pt x="18660825" y="0"/>
                  </a:lnTo>
                  <a:lnTo>
                    <a:pt x="18660825" y="10598588"/>
                  </a:lnTo>
                  <a:lnTo>
                    <a:pt x="0" y="10598588"/>
                  </a:lnTo>
                  <a:close/>
                </a:path>
              </a:pathLst>
            </a:custGeom>
            <a:solidFill>
              <a:srgbClr val="000000">
                <a:alpha val="0"/>
              </a:srgbClr>
            </a:solidFill>
          </p:spPr>
          <p:txBody>
            <a:bodyPr/>
            <a:lstStyle/>
            <a:p>
              <a:endParaRPr lang="en-US"/>
            </a:p>
          </p:txBody>
        </p:sp>
        <p:sp>
          <p:nvSpPr>
            <p:cNvPr id="5" name="TextBox 5"/>
            <p:cNvSpPr txBox="1"/>
            <p:nvPr/>
          </p:nvSpPr>
          <p:spPr>
            <a:xfrm>
              <a:off x="0" y="-104775"/>
              <a:ext cx="18660826" cy="10703363"/>
            </a:xfrm>
            <a:prstGeom prst="rect">
              <a:avLst/>
            </a:prstGeom>
          </p:spPr>
          <p:txBody>
            <a:bodyPr lIns="0" tIns="0" rIns="0" bIns="0" rtlCol="0" anchor="ctr"/>
            <a:lstStyle/>
            <a:p>
              <a:pPr marL="751131" lvl="2" indent="-250377" algn="l">
                <a:lnSpc>
                  <a:spcPts val="3640"/>
                </a:lnSpc>
                <a:buFont typeface="Arial"/>
                <a:buChar char="⚬"/>
              </a:pPr>
              <a:r>
                <a:rPr lang="en-US" sz="3200" dirty="0">
                  <a:solidFill>
                    <a:srgbClr val="000000"/>
                  </a:solidFill>
                  <a:latin typeface="Times New Roman"/>
                  <a:ea typeface="Times New Roman"/>
                  <a:cs typeface="Times New Roman"/>
                  <a:sym typeface="Times New Roman"/>
                </a:rPr>
                <a:t>The app contains sensitive medical data about users, including prescriptions and doctor visits.</a:t>
              </a:r>
            </a:p>
            <a:p>
              <a:pPr marL="751131" lvl="2" indent="-250377" algn="l">
                <a:lnSpc>
                  <a:spcPts val="3640"/>
                </a:lnSpc>
              </a:pPr>
              <a:endParaRPr lang="en-US" sz="3200" dirty="0">
                <a:solidFill>
                  <a:srgbClr val="000000"/>
                </a:solidFill>
                <a:latin typeface="Times New Roman"/>
                <a:ea typeface="Times New Roman"/>
                <a:cs typeface="Times New Roman"/>
                <a:sym typeface="Times New Roman"/>
              </a:endParaRPr>
            </a:p>
            <a:p>
              <a:pPr marL="751131" lvl="2" indent="-250377" algn="l">
                <a:lnSpc>
                  <a:spcPts val="3640"/>
                </a:lnSpc>
                <a:buFont typeface="Arial"/>
                <a:buChar char="⚬"/>
              </a:pPr>
              <a:r>
                <a:rPr lang="en-US" sz="3200" dirty="0">
                  <a:solidFill>
                    <a:srgbClr val="000000"/>
                  </a:solidFill>
                  <a:latin typeface="Times New Roman"/>
                  <a:ea typeface="Times New Roman"/>
                  <a:cs typeface="Times New Roman"/>
                  <a:sym typeface="Times New Roman"/>
                </a:rPr>
                <a:t>Ethical codes (</a:t>
              </a:r>
              <a:r>
                <a:rPr lang="en-US" sz="3200" b="1" dirty="0">
                  <a:solidFill>
                    <a:srgbClr val="000000"/>
                  </a:solidFill>
                  <a:latin typeface="Times New Roman Bold"/>
                  <a:ea typeface="Times New Roman Bold"/>
                  <a:cs typeface="Times New Roman Bold"/>
                  <a:sym typeface="Times New Roman Bold"/>
                </a:rPr>
                <a:t>IEEE Code 1, NSPE Rule III.4</a:t>
              </a:r>
              <a:r>
                <a:rPr lang="en-US" sz="3200" dirty="0">
                  <a:solidFill>
                    <a:srgbClr val="000000"/>
                  </a:solidFill>
                  <a:latin typeface="Times New Roman"/>
                  <a:ea typeface="Times New Roman"/>
                  <a:cs typeface="Times New Roman"/>
                  <a:sym typeface="Times New Roman"/>
                </a:rPr>
                <a:t>) state that engineers must protect user privacy and not share personal data without consent.</a:t>
              </a:r>
            </a:p>
            <a:p>
              <a:pPr marL="751131" lvl="2" indent="-250377" algn="l">
                <a:lnSpc>
                  <a:spcPts val="3640"/>
                </a:lnSpc>
              </a:pPr>
              <a:endParaRPr lang="en-US" sz="3200" dirty="0">
                <a:solidFill>
                  <a:srgbClr val="000000"/>
                </a:solidFill>
                <a:latin typeface="Times New Roman"/>
                <a:ea typeface="Times New Roman"/>
                <a:cs typeface="Times New Roman"/>
                <a:sym typeface="Times New Roman"/>
              </a:endParaRPr>
            </a:p>
            <a:p>
              <a:pPr marL="751131" lvl="2" indent="-250377" algn="l">
                <a:lnSpc>
                  <a:spcPts val="3640"/>
                </a:lnSpc>
                <a:buFont typeface="Arial"/>
                <a:buChar char="⚬"/>
              </a:pPr>
              <a:r>
                <a:rPr lang="en-US" sz="3200" dirty="0">
                  <a:solidFill>
                    <a:srgbClr val="000000"/>
                  </a:solidFill>
                  <a:latin typeface="Times New Roman"/>
                  <a:ea typeface="Times New Roman"/>
                  <a:cs typeface="Times New Roman"/>
                  <a:sym typeface="Times New Roman"/>
                </a:rPr>
                <a:t>Sharing user data without consent could lead to legal and ethical violations, eroding public trust in the company.</a:t>
              </a:r>
            </a:p>
            <a:p>
              <a:pPr marL="751131" lvl="2" indent="-250377" algn="l">
                <a:lnSpc>
                  <a:spcPts val="3640"/>
                </a:lnSpc>
              </a:pPr>
              <a:endParaRPr lang="en-US" sz="3200" dirty="0">
                <a:solidFill>
                  <a:srgbClr val="000000"/>
                </a:solidFill>
                <a:latin typeface="Times New Roman"/>
                <a:ea typeface="Times New Roman"/>
                <a:cs typeface="Times New Roman"/>
                <a:sym typeface="Times New Roman"/>
              </a:endParaRPr>
            </a:p>
            <a:p>
              <a:pPr marL="751131" lvl="2" indent="-250377" algn="l">
                <a:lnSpc>
                  <a:spcPts val="3640"/>
                </a:lnSpc>
                <a:buFont typeface="Arial"/>
                <a:buChar char="⚬"/>
              </a:pPr>
              <a:r>
                <a:rPr lang="en-US" sz="3200" dirty="0">
                  <a:solidFill>
                    <a:srgbClr val="000000"/>
                  </a:solidFill>
                  <a:latin typeface="Times New Roman"/>
                  <a:ea typeface="Times New Roman"/>
                  <a:cs typeface="Times New Roman"/>
                  <a:sym typeface="Times New Roman"/>
                </a:rPr>
                <a:t>The company has an interest in profitability and effective marketing, but it must balance this with ethical responsibility.</a:t>
              </a:r>
            </a:p>
            <a:p>
              <a:pPr marL="751131" lvl="2" indent="-250377" algn="l">
                <a:lnSpc>
                  <a:spcPts val="3640"/>
                </a:lnSpc>
              </a:pPr>
              <a:endParaRPr lang="en-US" sz="2599" dirty="0">
                <a:solidFill>
                  <a:srgbClr val="000000"/>
                </a:solidFill>
                <a:latin typeface="Times New Roman"/>
                <a:ea typeface="Times New Roman"/>
                <a:cs typeface="Times New Roman"/>
                <a:sym typeface="Times New Roman"/>
              </a:endParaRPr>
            </a:p>
          </p:txBody>
        </p:sp>
      </p:grpSp>
      <p:sp>
        <p:nvSpPr>
          <p:cNvPr id="6" name="Freeform 6"/>
          <p:cNvSpPr/>
          <p:nvPr/>
        </p:nvSpPr>
        <p:spPr>
          <a:xfrm>
            <a:off x="2628900" y="-25546"/>
            <a:ext cx="13373100" cy="1873264"/>
          </a:xfrm>
          <a:custGeom>
            <a:avLst/>
            <a:gdLst/>
            <a:ahLst/>
            <a:cxnLst/>
            <a:rect l="l" t="t" r="r" b="b"/>
            <a:pathLst>
              <a:path w="13373100" h="1873264">
                <a:moveTo>
                  <a:pt x="0" y="0"/>
                </a:moveTo>
                <a:lnTo>
                  <a:pt x="13373100" y="0"/>
                </a:lnTo>
                <a:lnTo>
                  <a:pt x="13373100" y="1873264"/>
                </a:lnTo>
                <a:lnTo>
                  <a:pt x="0" y="18732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7" name="Group 7"/>
          <p:cNvGrpSpPr/>
          <p:nvPr/>
        </p:nvGrpSpPr>
        <p:grpSpPr>
          <a:xfrm>
            <a:off x="3314677" y="388906"/>
            <a:ext cx="13408865" cy="1204636"/>
            <a:chOff x="0" y="0"/>
            <a:chExt cx="17878487" cy="1606181"/>
          </a:xfrm>
        </p:grpSpPr>
        <p:sp>
          <p:nvSpPr>
            <p:cNvPr id="8" name="Freeform 8"/>
            <p:cNvSpPr/>
            <p:nvPr/>
          </p:nvSpPr>
          <p:spPr>
            <a:xfrm>
              <a:off x="0" y="0"/>
              <a:ext cx="17878487" cy="1606181"/>
            </a:xfrm>
            <a:custGeom>
              <a:avLst/>
              <a:gdLst/>
              <a:ahLst/>
              <a:cxnLst/>
              <a:rect l="l" t="t" r="r" b="b"/>
              <a:pathLst>
                <a:path w="17878487" h="1606181">
                  <a:moveTo>
                    <a:pt x="0" y="0"/>
                  </a:moveTo>
                  <a:lnTo>
                    <a:pt x="17878487" y="0"/>
                  </a:lnTo>
                  <a:lnTo>
                    <a:pt x="17878487" y="1606181"/>
                  </a:lnTo>
                  <a:lnTo>
                    <a:pt x="0" y="1606181"/>
                  </a:lnTo>
                  <a:close/>
                </a:path>
              </a:pathLst>
            </a:custGeom>
            <a:solidFill>
              <a:srgbClr val="000000">
                <a:alpha val="0"/>
              </a:srgbClr>
            </a:solidFill>
          </p:spPr>
          <p:txBody>
            <a:bodyPr/>
            <a:lstStyle/>
            <a:p>
              <a:endParaRPr lang="en-US"/>
            </a:p>
          </p:txBody>
        </p:sp>
        <p:sp>
          <p:nvSpPr>
            <p:cNvPr id="9" name="TextBox 9"/>
            <p:cNvSpPr txBox="1"/>
            <p:nvPr/>
          </p:nvSpPr>
          <p:spPr>
            <a:xfrm>
              <a:off x="0" y="0"/>
              <a:ext cx="17878487" cy="1606181"/>
            </a:xfrm>
            <a:prstGeom prst="rect">
              <a:avLst/>
            </a:prstGeom>
          </p:spPr>
          <p:txBody>
            <a:bodyPr lIns="0" tIns="0" rIns="0" bIns="0" rtlCol="0" anchor="t"/>
            <a:lstStyle/>
            <a:p>
              <a:pPr algn="l">
                <a:lnSpc>
                  <a:spcPts val="6181"/>
                </a:lnSpc>
              </a:pPr>
              <a:r>
                <a:rPr lang="en-US" sz="6200">
                  <a:solidFill>
                    <a:srgbClr val="FFFFFF"/>
                  </a:solidFill>
                  <a:latin typeface="Times New Roman"/>
                  <a:ea typeface="Times New Roman"/>
                  <a:cs typeface="Times New Roman"/>
                  <a:sym typeface="Times New Roman"/>
                </a:rPr>
                <a:t>2. GATHER FACTS &amp; ANALYZE</a:t>
              </a:r>
            </a:p>
          </p:txBody>
        </p:sp>
      </p:grpSp>
      <p:grpSp>
        <p:nvGrpSpPr>
          <p:cNvPr id="10" name="Group 10"/>
          <p:cNvGrpSpPr/>
          <p:nvPr/>
        </p:nvGrpSpPr>
        <p:grpSpPr>
          <a:xfrm>
            <a:off x="565876" y="9353506"/>
            <a:ext cx="9144000" cy="392415"/>
            <a:chOff x="0" y="0"/>
            <a:chExt cx="12192000" cy="523220"/>
          </a:xfrm>
        </p:grpSpPr>
        <p:sp>
          <p:nvSpPr>
            <p:cNvPr id="11" name="Freeform 11"/>
            <p:cNvSpPr/>
            <p:nvPr/>
          </p:nvSpPr>
          <p:spPr>
            <a:xfrm>
              <a:off x="0" y="0"/>
              <a:ext cx="12192000" cy="523220"/>
            </a:xfrm>
            <a:custGeom>
              <a:avLst/>
              <a:gdLst/>
              <a:ahLst/>
              <a:cxnLst/>
              <a:rect l="l" t="t" r="r" b="b"/>
              <a:pathLst>
                <a:path w="12192000" h="523220">
                  <a:moveTo>
                    <a:pt x="0" y="0"/>
                  </a:moveTo>
                  <a:lnTo>
                    <a:pt x="12192000" y="0"/>
                  </a:lnTo>
                  <a:lnTo>
                    <a:pt x="12192000" y="523220"/>
                  </a:lnTo>
                  <a:lnTo>
                    <a:pt x="0" y="523220"/>
                  </a:lnTo>
                  <a:close/>
                </a:path>
              </a:pathLst>
            </a:custGeom>
            <a:solidFill>
              <a:srgbClr val="000000">
                <a:alpha val="0"/>
              </a:srgbClr>
            </a:solidFill>
          </p:spPr>
          <p:txBody>
            <a:bodyPr/>
            <a:lstStyle/>
            <a:p>
              <a:endParaRPr lang="en-US"/>
            </a:p>
          </p:txBody>
        </p:sp>
        <p:sp>
          <p:nvSpPr>
            <p:cNvPr id="12" name="TextBox 12"/>
            <p:cNvSpPr txBox="1"/>
            <p:nvPr/>
          </p:nvSpPr>
          <p:spPr>
            <a:xfrm>
              <a:off x="0" y="-28575"/>
              <a:ext cx="12192000" cy="551795"/>
            </a:xfrm>
            <a:prstGeom prst="rect">
              <a:avLst/>
            </a:prstGeom>
          </p:spPr>
          <p:txBody>
            <a:bodyPr lIns="0" tIns="0" rIns="0" bIns="0" rtlCol="0" anchor="t"/>
            <a:lstStyle/>
            <a:p>
              <a:pPr algn="l">
                <a:lnSpc>
                  <a:spcPts val="1980"/>
                </a:lnSpc>
              </a:pPr>
              <a:endParaRPr lang="en-US" sz="1650" dirty="0">
                <a:solidFill>
                  <a:srgbClr val="000000"/>
                </a:solidFill>
                <a:latin typeface="Calibri (MS)"/>
                <a:ea typeface="Calibri (MS)"/>
                <a:cs typeface="Calibri (MS)"/>
                <a:sym typeface="Calibri (MS)"/>
              </a:endParaRPr>
            </a:p>
          </p:txBody>
        </p:sp>
      </p:grpSp>
      <p:sp>
        <p:nvSpPr>
          <p:cNvPr id="13" name="Freeform 13"/>
          <p:cNvSpPr/>
          <p:nvPr/>
        </p:nvSpPr>
        <p:spPr>
          <a:xfrm>
            <a:off x="2064336" y="1790035"/>
            <a:ext cx="1346784" cy="1346784"/>
          </a:xfrm>
          <a:custGeom>
            <a:avLst/>
            <a:gdLst/>
            <a:ahLst/>
            <a:cxnLst/>
            <a:rect l="l" t="t" r="r" b="b"/>
            <a:pathLst>
              <a:path w="1346784" h="1346784">
                <a:moveTo>
                  <a:pt x="0" y="0"/>
                </a:moveTo>
                <a:lnTo>
                  <a:pt x="1346784" y="0"/>
                </a:lnTo>
                <a:lnTo>
                  <a:pt x="1346784" y="1346784"/>
                </a:lnTo>
                <a:lnTo>
                  <a:pt x="0" y="13467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3429000" y="161"/>
            <a:ext cx="10020036" cy="1873264"/>
          </a:xfrm>
          <a:custGeom>
            <a:avLst/>
            <a:gdLst/>
            <a:ahLst/>
            <a:cxnLst/>
            <a:rect l="l" t="t" r="r" b="b"/>
            <a:pathLst>
              <a:path w="10020036" h="1873264">
                <a:moveTo>
                  <a:pt x="0" y="0"/>
                </a:moveTo>
                <a:lnTo>
                  <a:pt x="10020036" y="0"/>
                </a:lnTo>
                <a:lnTo>
                  <a:pt x="10020036" y="1873264"/>
                </a:lnTo>
                <a:lnTo>
                  <a:pt x="0" y="18732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3836991" y="687258"/>
            <a:ext cx="9280791" cy="1492349"/>
            <a:chOff x="0" y="0"/>
            <a:chExt cx="12374388" cy="1989799"/>
          </a:xfrm>
        </p:grpSpPr>
        <p:sp>
          <p:nvSpPr>
            <p:cNvPr id="4" name="Freeform 4"/>
            <p:cNvSpPr/>
            <p:nvPr/>
          </p:nvSpPr>
          <p:spPr>
            <a:xfrm>
              <a:off x="0" y="0"/>
              <a:ext cx="12374388" cy="1989799"/>
            </a:xfrm>
            <a:custGeom>
              <a:avLst/>
              <a:gdLst/>
              <a:ahLst/>
              <a:cxnLst/>
              <a:rect l="l" t="t" r="r" b="b"/>
              <a:pathLst>
                <a:path w="12374388" h="1989799">
                  <a:moveTo>
                    <a:pt x="0" y="0"/>
                  </a:moveTo>
                  <a:lnTo>
                    <a:pt x="12374388" y="0"/>
                  </a:lnTo>
                  <a:lnTo>
                    <a:pt x="12374388" y="1989799"/>
                  </a:lnTo>
                  <a:lnTo>
                    <a:pt x="0" y="1989799"/>
                  </a:lnTo>
                  <a:close/>
                </a:path>
              </a:pathLst>
            </a:custGeom>
            <a:solidFill>
              <a:srgbClr val="000000">
                <a:alpha val="0"/>
              </a:srgbClr>
            </a:solidFill>
          </p:spPr>
          <p:txBody>
            <a:bodyPr/>
            <a:lstStyle/>
            <a:p>
              <a:endParaRPr lang="en-US"/>
            </a:p>
          </p:txBody>
        </p:sp>
        <p:sp>
          <p:nvSpPr>
            <p:cNvPr id="5" name="TextBox 5"/>
            <p:cNvSpPr txBox="1"/>
            <p:nvPr/>
          </p:nvSpPr>
          <p:spPr>
            <a:xfrm>
              <a:off x="0" y="-152400"/>
              <a:ext cx="12374388" cy="2142199"/>
            </a:xfrm>
            <a:prstGeom prst="rect">
              <a:avLst/>
            </a:prstGeom>
          </p:spPr>
          <p:txBody>
            <a:bodyPr lIns="0" tIns="0" rIns="0" bIns="0" rtlCol="0" anchor="t"/>
            <a:lstStyle/>
            <a:p>
              <a:pPr algn="l">
                <a:lnSpc>
                  <a:spcPts val="5460"/>
                </a:lnSpc>
              </a:pPr>
              <a:r>
                <a:rPr lang="en-US" sz="3899">
                  <a:solidFill>
                    <a:srgbClr val="FFFFFF"/>
                  </a:solidFill>
                  <a:latin typeface="Times New Roman"/>
                  <a:ea typeface="Times New Roman"/>
                  <a:cs typeface="Times New Roman"/>
                  <a:sym typeface="Times New Roman"/>
                </a:rPr>
                <a:t>3. CONSIDER OPTIONS &amp; EVALUATE</a:t>
              </a:r>
            </a:p>
            <a:p>
              <a:pPr algn="l">
                <a:lnSpc>
                  <a:spcPts val="6259"/>
                </a:lnSpc>
              </a:pPr>
              <a:endParaRPr lang="en-US" sz="3899">
                <a:solidFill>
                  <a:srgbClr val="FFFFFF"/>
                </a:solidFill>
                <a:latin typeface="Times New Roman"/>
                <a:ea typeface="Times New Roman"/>
                <a:cs typeface="Times New Roman"/>
                <a:sym typeface="Times New Roman"/>
              </a:endParaRPr>
            </a:p>
          </p:txBody>
        </p:sp>
      </p:grpSp>
      <p:grpSp>
        <p:nvGrpSpPr>
          <p:cNvPr id="6" name="Group 6"/>
          <p:cNvGrpSpPr/>
          <p:nvPr/>
        </p:nvGrpSpPr>
        <p:grpSpPr>
          <a:xfrm>
            <a:off x="-4063276" y="2163366"/>
            <a:ext cx="13995619" cy="659570"/>
            <a:chOff x="0" y="0"/>
            <a:chExt cx="18660826" cy="879427"/>
          </a:xfrm>
        </p:grpSpPr>
        <p:sp>
          <p:nvSpPr>
            <p:cNvPr id="7" name="Freeform 7"/>
            <p:cNvSpPr/>
            <p:nvPr/>
          </p:nvSpPr>
          <p:spPr>
            <a:xfrm>
              <a:off x="0" y="0"/>
              <a:ext cx="18660825" cy="879427"/>
            </a:xfrm>
            <a:custGeom>
              <a:avLst/>
              <a:gdLst/>
              <a:ahLst/>
              <a:cxnLst/>
              <a:rect l="l" t="t" r="r" b="b"/>
              <a:pathLst>
                <a:path w="18660825" h="879427">
                  <a:moveTo>
                    <a:pt x="0" y="0"/>
                  </a:moveTo>
                  <a:lnTo>
                    <a:pt x="18660825" y="0"/>
                  </a:lnTo>
                  <a:lnTo>
                    <a:pt x="18660825" y="879427"/>
                  </a:lnTo>
                  <a:lnTo>
                    <a:pt x="0" y="879427"/>
                  </a:lnTo>
                  <a:close/>
                </a:path>
              </a:pathLst>
            </a:custGeom>
            <a:solidFill>
              <a:srgbClr val="000000">
                <a:alpha val="0"/>
              </a:srgbClr>
            </a:solidFill>
          </p:spPr>
          <p:txBody>
            <a:bodyPr/>
            <a:lstStyle/>
            <a:p>
              <a:endParaRPr lang="en-US"/>
            </a:p>
          </p:txBody>
        </p:sp>
        <p:sp>
          <p:nvSpPr>
            <p:cNvPr id="8" name="TextBox 8"/>
            <p:cNvSpPr txBox="1"/>
            <p:nvPr/>
          </p:nvSpPr>
          <p:spPr>
            <a:xfrm>
              <a:off x="0" y="0"/>
              <a:ext cx="18660826" cy="879427"/>
            </a:xfrm>
            <a:prstGeom prst="rect">
              <a:avLst/>
            </a:prstGeom>
          </p:spPr>
          <p:txBody>
            <a:bodyPr lIns="0" tIns="0" rIns="0" bIns="0" rtlCol="0" anchor="t"/>
            <a:lstStyle/>
            <a:p>
              <a:pPr algn="ctr">
                <a:lnSpc>
                  <a:spcPts val="3399"/>
                </a:lnSpc>
              </a:pPr>
              <a:r>
                <a:rPr lang="en-US" sz="3399" b="1">
                  <a:solidFill>
                    <a:srgbClr val="CC3333"/>
                  </a:solidFill>
                  <a:latin typeface="Times New Roman Bold"/>
                  <a:ea typeface="Times New Roman Bold"/>
                  <a:cs typeface="Times New Roman Bold"/>
                  <a:sym typeface="Times New Roman Bold"/>
                </a:rPr>
                <a:t>Possible Courses of Action:</a:t>
              </a:r>
            </a:p>
          </p:txBody>
        </p:sp>
      </p:grpSp>
      <p:grpSp>
        <p:nvGrpSpPr>
          <p:cNvPr id="9" name="Group 9"/>
          <p:cNvGrpSpPr/>
          <p:nvPr/>
        </p:nvGrpSpPr>
        <p:grpSpPr>
          <a:xfrm>
            <a:off x="180956" y="3367894"/>
            <a:ext cx="6363891" cy="558957"/>
            <a:chOff x="0" y="0"/>
            <a:chExt cx="8485188" cy="745275"/>
          </a:xfrm>
        </p:grpSpPr>
        <p:sp>
          <p:nvSpPr>
            <p:cNvPr id="10" name="Freeform 10"/>
            <p:cNvSpPr/>
            <p:nvPr/>
          </p:nvSpPr>
          <p:spPr>
            <a:xfrm>
              <a:off x="0" y="0"/>
              <a:ext cx="8485188" cy="745275"/>
            </a:xfrm>
            <a:custGeom>
              <a:avLst/>
              <a:gdLst/>
              <a:ahLst/>
              <a:cxnLst/>
              <a:rect l="l" t="t" r="r" b="b"/>
              <a:pathLst>
                <a:path w="8485188" h="745275">
                  <a:moveTo>
                    <a:pt x="0" y="0"/>
                  </a:moveTo>
                  <a:lnTo>
                    <a:pt x="8485188" y="0"/>
                  </a:lnTo>
                  <a:lnTo>
                    <a:pt x="8485188" y="745275"/>
                  </a:lnTo>
                  <a:lnTo>
                    <a:pt x="0" y="745275"/>
                  </a:lnTo>
                  <a:close/>
                </a:path>
              </a:pathLst>
            </a:custGeom>
            <a:solidFill>
              <a:srgbClr val="000000">
                <a:alpha val="0"/>
              </a:srgbClr>
            </a:solidFill>
          </p:spPr>
          <p:txBody>
            <a:bodyPr/>
            <a:lstStyle/>
            <a:p>
              <a:endParaRPr lang="en-US"/>
            </a:p>
          </p:txBody>
        </p:sp>
        <p:sp>
          <p:nvSpPr>
            <p:cNvPr id="11" name="TextBox 11"/>
            <p:cNvSpPr txBox="1"/>
            <p:nvPr/>
          </p:nvSpPr>
          <p:spPr>
            <a:xfrm>
              <a:off x="0" y="0"/>
              <a:ext cx="8485188" cy="745275"/>
            </a:xfrm>
            <a:prstGeom prst="rect">
              <a:avLst/>
            </a:prstGeom>
          </p:spPr>
          <p:txBody>
            <a:bodyPr lIns="0" tIns="0" rIns="0" bIns="0" rtlCol="0" anchor="t"/>
            <a:lstStyle/>
            <a:p>
              <a:pPr algn="ctr">
                <a:lnSpc>
                  <a:spcPts val="2899"/>
                </a:lnSpc>
              </a:pPr>
              <a:r>
                <a:rPr lang="en-US" sz="2899" b="1">
                  <a:solidFill>
                    <a:srgbClr val="000000"/>
                  </a:solidFill>
                  <a:latin typeface="Times New Roman Bold"/>
                  <a:ea typeface="Times New Roman Bold"/>
                  <a:cs typeface="Times New Roman Bold"/>
                  <a:sym typeface="Times New Roman Bold"/>
                </a:rPr>
                <a:t>Share user data with marketing  </a:t>
              </a:r>
            </a:p>
          </p:txBody>
        </p:sp>
      </p:grpSp>
      <p:grpSp>
        <p:nvGrpSpPr>
          <p:cNvPr id="12" name="Group 12"/>
          <p:cNvGrpSpPr/>
          <p:nvPr/>
        </p:nvGrpSpPr>
        <p:grpSpPr>
          <a:xfrm>
            <a:off x="7338020" y="3261240"/>
            <a:ext cx="10630844" cy="859195"/>
            <a:chOff x="0" y="0"/>
            <a:chExt cx="14174458" cy="1145594"/>
          </a:xfrm>
        </p:grpSpPr>
        <p:sp>
          <p:nvSpPr>
            <p:cNvPr id="13" name="Freeform 13"/>
            <p:cNvSpPr/>
            <p:nvPr/>
          </p:nvSpPr>
          <p:spPr>
            <a:xfrm>
              <a:off x="0" y="0"/>
              <a:ext cx="14174457" cy="1145594"/>
            </a:xfrm>
            <a:custGeom>
              <a:avLst/>
              <a:gdLst/>
              <a:ahLst/>
              <a:cxnLst/>
              <a:rect l="l" t="t" r="r" b="b"/>
              <a:pathLst>
                <a:path w="14174457" h="1145594">
                  <a:moveTo>
                    <a:pt x="0" y="0"/>
                  </a:moveTo>
                  <a:lnTo>
                    <a:pt x="14174457" y="0"/>
                  </a:lnTo>
                  <a:lnTo>
                    <a:pt x="14174457" y="1145594"/>
                  </a:lnTo>
                  <a:lnTo>
                    <a:pt x="0" y="1145594"/>
                  </a:lnTo>
                  <a:close/>
                </a:path>
              </a:pathLst>
            </a:custGeom>
            <a:solidFill>
              <a:srgbClr val="000000">
                <a:alpha val="0"/>
              </a:srgbClr>
            </a:solidFill>
          </p:spPr>
          <p:txBody>
            <a:bodyPr/>
            <a:lstStyle/>
            <a:p>
              <a:endParaRPr lang="en-US"/>
            </a:p>
          </p:txBody>
        </p:sp>
        <p:sp>
          <p:nvSpPr>
            <p:cNvPr id="14" name="TextBox 14"/>
            <p:cNvSpPr txBox="1"/>
            <p:nvPr/>
          </p:nvSpPr>
          <p:spPr>
            <a:xfrm>
              <a:off x="0" y="0"/>
              <a:ext cx="14174458" cy="1145594"/>
            </a:xfrm>
            <a:prstGeom prst="rect">
              <a:avLst/>
            </a:prstGeom>
          </p:spPr>
          <p:txBody>
            <a:bodyPr lIns="0" tIns="0" rIns="0" bIns="0" rtlCol="0" anchor="t"/>
            <a:lstStyle/>
            <a:p>
              <a:pPr algn="ctr">
                <a:lnSpc>
                  <a:spcPts val="2799"/>
                </a:lnSpc>
              </a:pPr>
              <a:r>
                <a:rPr lang="en-US" sz="2799" b="1">
                  <a:solidFill>
                    <a:srgbClr val="000000"/>
                  </a:solidFill>
                  <a:latin typeface="Times New Roman Bold"/>
                  <a:ea typeface="Times New Roman Bold"/>
                  <a:cs typeface="Times New Roman Bold"/>
                  <a:sym typeface="Times New Roman Bold"/>
                </a:rPr>
                <a:t>Unethical (violates privacy laws and professional ethics).</a:t>
              </a:r>
            </a:p>
          </p:txBody>
        </p:sp>
      </p:grpSp>
      <p:grpSp>
        <p:nvGrpSpPr>
          <p:cNvPr id="15" name="Group 15"/>
          <p:cNvGrpSpPr/>
          <p:nvPr/>
        </p:nvGrpSpPr>
        <p:grpSpPr>
          <a:xfrm>
            <a:off x="217910" y="4100342"/>
            <a:ext cx="5942974" cy="783139"/>
            <a:chOff x="-98543" y="0"/>
            <a:chExt cx="7923965" cy="1044185"/>
          </a:xfrm>
        </p:grpSpPr>
        <p:sp>
          <p:nvSpPr>
            <p:cNvPr id="16" name="Freeform 16"/>
            <p:cNvSpPr/>
            <p:nvPr/>
          </p:nvSpPr>
          <p:spPr>
            <a:xfrm>
              <a:off x="0" y="0"/>
              <a:ext cx="7825422" cy="766944"/>
            </a:xfrm>
            <a:custGeom>
              <a:avLst/>
              <a:gdLst/>
              <a:ahLst/>
              <a:cxnLst/>
              <a:rect l="l" t="t" r="r" b="b"/>
              <a:pathLst>
                <a:path w="7825422" h="766944">
                  <a:moveTo>
                    <a:pt x="0" y="0"/>
                  </a:moveTo>
                  <a:lnTo>
                    <a:pt x="7825422" y="0"/>
                  </a:lnTo>
                  <a:lnTo>
                    <a:pt x="7825422" y="766944"/>
                  </a:lnTo>
                  <a:lnTo>
                    <a:pt x="0" y="766944"/>
                  </a:lnTo>
                  <a:close/>
                </a:path>
              </a:pathLst>
            </a:custGeom>
            <a:solidFill>
              <a:srgbClr val="000000">
                <a:alpha val="0"/>
              </a:srgbClr>
            </a:solidFill>
          </p:spPr>
          <p:txBody>
            <a:bodyPr/>
            <a:lstStyle/>
            <a:p>
              <a:endParaRPr lang="en-US"/>
            </a:p>
          </p:txBody>
        </p:sp>
        <p:sp>
          <p:nvSpPr>
            <p:cNvPr id="17" name="TextBox 17"/>
            <p:cNvSpPr txBox="1"/>
            <p:nvPr/>
          </p:nvSpPr>
          <p:spPr>
            <a:xfrm>
              <a:off x="-98543" y="277241"/>
              <a:ext cx="7825422" cy="766944"/>
            </a:xfrm>
            <a:prstGeom prst="rect">
              <a:avLst/>
            </a:prstGeom>
          </p:spPr>
          <p:txBody>
            <a:bodyPr lIns="0" tIns="0" rIns="0" bIns="0" rtlCol="0" anchor="t"/>
            <a:lstStyle/>
            <a:p>
              <a:pPr algn="ctr">
                <a:lnSpc>
                  <a:spcPts val="2998"/>
                </a:lnSpc>
              </a:pPr>
              <a:r>
                <a:rPr lang="en-US" sz="2998" b="1" dirty="0">
                  <a:solidFill>
                    <a:srgbClr val="000000"/>
                  </a:solidFill>
                  <a:latin typeface="Times New Roman Bold"/>
                  <a:ea typeface="Times New Roman Bold"/>
                  <a:cs typeface="Times New Roman Bold"/>
                  <a:sym typeface="Times New Roman Bold"/>
                </a:rPr>
                <a:t>Deny the request completely</a:t>
              </a:r>
            </a:p>
          </p:txBody>
        </p:sp>
      </p:grpSp>
      <p:grpSp>
        <p:nvGrpSpPr>
          <p:cNvPr id="18" name="Group 18"/>
          <p:cNvGrpSpPr/>
          <p:nvPr/>
        </p:nvGrpSpPr>
        <p:grpSpPr>
          <a:xfrm>
            <a:off x="8333472" y="4392176"/>
            <a:ext cx="9362600" cy="624166"/>
            <a:chOff x="0" y="0"/>
            <a:chExt cx="12483466" cy="832222"/>
          </a:xfrm>
        </p:grpSpPr>
        <p:sp>
          <p:nvSpPr>
            <p:cNvPr id="19" name="Freeform 19"/>
            <p:cNvSpPr/>
            <p:nvPr/>
          </p:nvSpPr>
          <p:spPr>
            <a:xfrm>
              <a:off x="0" y="0"/>
              <a:ext cx="12483466" cy="832222"/>
            </a:xfrm>
            <a:custGeom>
              <a:avLst/>
              <a:gdLst/>
              <a:ahLst/>
              <a:cxnLst/>
              <a:rect l="l" t="t" r="r" b="b"/>
              <a:pathLst>
                <a:path w="12483466" h="832222">
                  <a:moveTo>
                    <a:pt x="0" y="0"/>
                  </a:moveTo>
                  <a:lnTo>
                    <a:pt x="12483466" y="0"/>
                  </a:lnTo>
                  <a:lnTo>
                    <a:pt x="12483466" y="832222"/>
                  </a:lnTo>
                  <a:lnTo>
                    <a:pt x="0" y="832222"/>
                  </a:lnTo>
                  <a:close/>
                </a:path>
              </a:pathLst>
            </a:custGeom>
            <a:solidFill>
              <a:srgbClr val="000000">
                <a:alpha val="0"/>
              </a:srgbClr>
            </a:solidFill>
          </p:spPr>
          <p:txBody>
            <a:bodyPr/>
            <a:lstStyle/>
            <a:p>
              <a:endParaRPr lang="en-US"/>
            </a:p>
          </p:txBody>
        </p:sp>
        <p:sp>
          <p:nvSpPr>
            <p:cNvPr id="20" name="TextBox 20"/>
            <p:cNvSpPr txBox="1"/>
            <p:nvPr/>
          </p:nvSpPr>
          <p:spPr>
            <a:xfrm>
              <a:off x="0" y="0"/>
              <a:ext cx="12483466" cy="832222"/>
            </a:xfrm>
            <a:prstGeom prst="rect">
              <a:avLst/>
            </a:prstGeom>
          </p:spPr>
          <p:txBody>
            <a:bodyPr lIns="0" tIns="0" rIns="0" bIns="0" rtlCol="0" anchor="t"/>
            <a:lstStyle/>
            <a:p>
              <a:pPr algn="l">
                <a:lnSpc>
                  <a:spcPts val="2998"/>
                </a:lnSpc>
              </a:pPr>
              <a:r>
                <a:rPr lang="en-US" sz="2998" b="1">
                  <a:solidFill>
                    <a:srgbClr val="000000"/>
                  </a:solidFill>
                  <a:latin typeface="Times New Roman Bold"/>
                  <a:ea typeface="Times New Roman Bold"/>
                  <a:cs typeface="Times New Roman Bold"/>
                  <a:sym typeface="Times New Roman Bold"/>
                </a:rPr>
                <a:t> Ethical but may create conflicts with management.</a:t>
              </a:r>
            </a:p>
          </p:txBody>
        </p:sp>
      </p:grpSp>
      <p:sp>
        <p:nvSpPr>
          <p:cNvPr id="23" name="TextBox 23"/>
          <p:cNvSpPr txBox="1"/>
          <p:nvPr/>
        </p:nvSpPr>
        <p:spPr>
          <a:xfrm>
            <a:off x="914400" y="5742877"/>
            <a:ext cx="6087396" cy="994217"/>
          </a:xfrm>
          <a:prstGeom prst="rect">
            <a:avLst/>
          </a:prstGeom>
        </p:spPr>
        <p:txBody>
          <a:bodyPr lIns="0" tIns="0" rIns="0" bIns="0" rtlCol="0" anchor="t"/>
          <a:lstStyle/>
          <a:p>
            <a:pPr algn="l">
              <a:lnSpc>
                <a:spcPts val="2998"/>
              </a:lnSpc>
            </a:pPr>
            <a:r>
              <a:rPr lang="en-US" sz="2998" b="1" dirty="0">
                <a:solidFill>
                  <a:srgbClr val="000000"/>
                </a:solidFill>
                <a:latin typeface="Times New Roman Bold"/>
                <a:ea typeface="Times New Roman Bold"/>
                <a:cs typeface="Times New Roman Bold"/>
                <a:sym typeface="Times New Roman Bold"/>
              </a:rPr>
              <a:t>Seek User Consent Before Sharing Data  </a:t>
            </a:r>
          </a:p>
        </p:txBody>
      </p:sp>
      <p:grpSp>
        <p:nvGrpSpPr>
          <p:cNvPr id="24" name="Group 24"/>
          <p:cNvGrpSpPr/>
          <p:nvPr/>
        </p:nvGrpSpPr>
        <p:grpSpPr>
          <a:xfrm>
            <a:off x="8477386" y="5768678"/>
            <a:ext cx="9943299" cy="762139"/>
            <a:chOff x="0" y="0"/>
            <a:chExt cx="13257732" cy="1016186"/>
          </a:xfrm>
        </p:grpSpPr>
        <p:sp>
          <p:nvSpPr>
            <p:cNvPr id="25" name="Freeform 25"/>
            <p:cNvSpPr/>
            <p:nvPr/>
          </p:nvSpPr>
          <p:spPr>
            <a:xfrm>
              <a:off x="0" y="0"/>
              <a:ext cx="13257732" cy="1016186"/>
            </a:xfrm>
            <a:custGeom>
              <a:avLst/>
              <a:gdLst/>
              <a:ahLst/>
              <a:cxnLst/>
              <a:rect l="l" t="t" r="r" b="b"/>
              <a:pathLst>
                <a:path w="13257732" h="1016186">
                  <a:moveTo>
                    <a:pt x="0" y="0"/>
                  </a:moveTo>
                  <a:lnTo>
                    <a:pt x="13257732" y="0"/>
                  </a:lnTo>
                  <a:lnTo>
                    <a:pt x="13257732" y="1016186"/>
                  </a:lnTo>
                  <a:lnTo>
                    <a:pt x="0" y="1016186"/>
                  </a:lnTo>
                  <a:close/>
                </a:path>
              </a:pathLst>
            </a:custGeom>
            <a:solidFill>
              <a:srgbClr val="000000">
                <a:alpha val="0"/>
              </a:srgbClr>
            </a:solidFill>
          </p:spPr>
          <p:txBody>
            <a:bodyPr/>
            <a:lstStyle/>
            <a:p>
              <a:endParaRPr lang="en-US"/>
            </a:p>
          </p:txBody>
        </p:sp>
        <p:sp>
          <p:nvSpPr>
            <p:cNvPr id="26" name="TextBox 26"/>
            <p:cNvSpPr txBox="1"/>
            <p:nvPr/>
          </p:nvSpPr>
          <p:spPr>
            <a:xfrm>
              <a:off x="0" y="0"/>
              <a:ext cx="13257732" cy="1016186"/>
            </a:xfrm>
            <a:prstGeom prst="rect">
              <a:avLst/>
            </a:prstGeom>
          </p:spPr>
          <p:txBody>
            <a:bodyPr lIns="0" tIns="0" rIns="0" bIns="0" rtlCol="0" anchor="t"/>
            <a:lstStyle/>
            <a:p>
              <a:pPr algn="l">
                <a:lnSpc>
                  <a:spcPts val="2998"/>
                </a:lnSpc>
              </a:pPr>
              <a:r>
                <a:rPr lang="en-US" sz="2998" b="1">
                  <a:solidFill>
                    <a:srgbClr val="000000"/>
                  </a:solidFill>
                  <a:latin typeface="Times New Roman Bold"/>
                  <a:ea typeface="Times New Roman Bold"/>
                  <a:cs typeface="Times New Roman Bold"/>
                  <a:sym typeface="Times New Roman Bold"/>
                </a:rPr>
                <a:t>Ensures Ethics, Transparency, and User Rights Protection</a:t>
              </a:r>
            </a:p>
          </p:txBody>
        </p:sp>
      </p:grpSp>
      <p:sp>
        <p:nvSpPr>
          <p:cNvPr id="29" name="TextBox 29"/>
          <p:cNvSpPr txBox="1"/>
          <p:nvPr/>
        </p:nvSpPr>
        <p:spPr>
          <a:xfrm>
            <a:off x="882589" y="6973370"/>
            <a:ext cx="5662258" cy="1065532"/>
          </a:xfrm>
          <a:prstGeom prst="rect">
            <a:avLst/>
          </a:prstGeom>
        </p:spPr>
        <p:txBody>
          <a:bodyPr lIns="0" tIns="0" rIns="0" bIns="0" rtlCol="0" anchor="t"/>
          <a:lstStyle/>
          <a:p>
            <a:pPr algn="l">
              <a:lnSpc>
                <a:spcPts val="2998"/>
              </a:lnSpc>
            </a:pPr>
            <a:r>
              <a:rPr lang="en-US" sz="2998" b="1" dirty="0">
                <a:solidFill>
                  <a:srgbClr val="000000"/>
                </a:solidFill>
                <a:latin typeface="Times New Roman Bold"/>
                <a:ea typeface="Times New Roman Bold"/>
                <a:cs typeface="Times New Roman Bold"/>
                <a:sym typeface="Times New Roman Bold"/>
              </a:rPr>
              <a:t>Propose an alternative, ethical marketing strategy  </a:t>
            </a:r>
          </a:p>
        </p:txBody>
      </p:sp>
      <p:grpSp>
        <p:nvGrpSpPr>
          <p:cNvPr id="30" name="Group 30"/>
          <p:cNvGrpSpPr/>
          <p:nvPr/>
        </p:nvGrpSpPr>
        <p:grpSpPr>
          <a:xfrm>
            <a:off x="8439018" y="7033672"/>
            <a:ext cx="6766917" cy="769442"/>
            <a:chOff x="0" y="0"/>
            <a:chExt cx="9022556" cy="1025922"/>
          </a:xfrm>
        </p:grpSpPr>
        <p:sp>
          <p:nvSpPr>
            <p:cNvPr id="31" name="Freeform 31"/>
            <p:cNvSpPr/>
            <p:nvPr/>
          </p:nvSpPr>
          <p:spPr>
            <a:xfrm>
              <a:off x="0" y="0"/>
              <a:ext cx="9022556" cy="1025922"/>
            </a:xfrm>
            <a:custGeom>
              <a:avLst/>
              <a:gdLst/>
              <a:ahLst/>
              <a:cxnLst/>
              <a:rect l="l" t="t" r="r" b="b"/>
              <a:pathLst>
                <a:path w="9022556" h="1025922">
                  <a:moveTo>
                    <a:pt x="0" y="0"/>
                  </a:moveTo>
                  <a:lnTo>
                    <a:pt x="9022556" y="0"/>
                  </a:lnTo>
                  <a:lnTo>
                    <a:pt x="9022556" y="1025922"/>
                  </a:lnTo>
                  <a:lnTo>
                    <a:pt x="0" y="1025922"/>
                  </a:lnTo>
                  <a:close/>
                </a:path>
              </a:pathLst>
            </a:custGeom>
            <a:solidFill>
              <a:srgbClr val="000000">
                <a:alpha val="0"/>
              </a:srgbClr>
            </a:solidFill>
          </p:spPr>
          <p:txBody>
            <a:bodyPr/>
            <a:lstStyle/>
            <a:p>
              <a:endParaRPr lang="en-US"/>
            </a:p>
          </p:txBody>
        </p:sp>
        <p:sp>
          <p:nvSpPr>
            <p:cNvPr id="32" name="TextBox 32"/>
            <p:cNvSpPr txBox="1"/>
            <p:nvPr/>
          </p:nvSpPr>
          <p:spPr>
            <a:xfrm>
              <a:off x="0" y="0"/>
              <a:ext cx="9022556" cy="1025922"/>
            </a:xfrm>
            <a:prstGeom prst="rect">
              <a:avLst/>
            </a:prstGeom>
          </p:spPr>
          <p:txBody>
            <a:bodyPr lIns="0" tIns="0" rIns="0" bIns="0" rtlCol="0" anchor="t"/>
            <a:lstStyle/>
            <a:p>
              <a:pPr algn="l">
                <a:lnSpc>
                  <a:spcPts val="2998"/>
                </a:lnSpc>
              </a:pPr>
              <a:r>
                <a:rPr lang="en-US" sz="2998" b="1">
                  <a:solidFill>
                    <a:srgbClr val="000000"/>
                  </a:solidFill>
                  <a:latin typeface="Times New Roman Bold"/>
                  <a:ea typeface="Times New Roman Bold"/>
                  <a:cs typeface="Times New Roman Bold"/>
                  <a:sym typeface="Times New Roman Bold"/>
                </a:rPr>
                <a:t>Balances business needs and privacy.</a:t>
              </a:r>
            </a:p>
          </p:txBody>
        </p:sp>
      </p:grpSp>
      <p:sp>
        <p:nvSpPr>
          <p:cNvPr id="36" name="Freeform 36"/>
          <p:cNvSpPr/>
          <p:nvPr/>
        </p:nvSpPr>
        <p:spPr>
          <a:xfrm>
            <a:off x="408617" y="3325395"/>
            <a:ext cx="353483" cy="365443"/>
          </a:xfrm>
          <a:custGeom>
            <a:avLst/>
            <a:gdLst/>
            <a:ahLst/>
            <a:cxnLst/>
            <a:rect l="l" t="t" r="r" b="b"/>
            <a:pathLst>
              <a:path w="353483" h="365443">
                <a:moveTo>
                  <a:pt x="0" y="0"/>
                </a:moveTo>
                <a:lnTo>
                  <a:pt x="353483" y="0"/>
                </a:lnTo>
                <a:lnTo>
                  <a:pt x="353483" y="365443"/>
                </a:lnTo>
                <a:lnTo>
                  <a:pt x="0" y="3654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7" name="Freeform 37"/>
          <p:cNvSpPr/>
          <p:nvPr/>
        </p:nvSpPr>
        <p:spPr>
          <a:xfrm>
            <a:off x="415186" y="4277793"/>
            <a:ext cx="353483" cy="365443"/>
          </a:xfrm>
          <a:custGeom>
            <a:avLst/>
            <a:gdLst/>
            <a:ahLst/>
            <a:cxnLst/>
            <a:rect l="l" t="t" r="r" b="b"/>
            <a:pathLst>
              <a:path w="353483" h="365443">
                <a:moveTo>
                  <a:pt x="0" y="0"/>
                </a:moveTo>
                <a:lnTo>
                  <a:pt x="353483" y="0"/>
                </a:lnTo>
                <a:lnTo>
                  <a:pt x="353483" y="365443"/>
                </a:lnTo>
                <a:lnTo>
                  <a:pt x="0" y="3654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8" name="Freeform 38"/>
          <p:cNvSpPr/>
          <p:nvPr/>
        </p:nvSpPr>
        <p:spPr>
          <a:xfrm>
            <a:off x="419253" y="7033672"/>
            <a:ext cx="353483" cy="365443"/>
          </a:xfrm>
          <a:custGeom>
            <a:avLst/>
            <a:gdLst/>
            <a:ahLst/>
            <a:cxnLst/>
            <a:rect l="l" t="t" r="r" b="b"/>
            <a:pathLst>
              <a:path w="353483" h="365443">
                <a:moveTo>
                  <a:pt x="0" y="0"/>
                </a:moveTo>
                <a:lnTo>
                  <a:pt x="353483" y="0"/>
                </a:lnTo>
                <a:lnTo>
                  <a:pt x="353483" y="365443"/>
                </a:lnTo>
                <a:lnTo>
                  <a:pt x="0" y="3654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9" name="Freeform 39"/>
          <p:cNvSpPr/>
          <p:nvPr/>
        </p:nvSpPr>
        <p:spPr>
          <a:xfrm>
            <a:off x="358268" y="5784305"/>
            <a:ext cx="353483" cy="365443"/>
          </a:xfrm>
          <a:custGeom>
            <a:avLst/>
            <a:gdLst/>
            <a:ahLst/>
            <a:cxnLst/>
            <a:rect l="l" t="t" r="r" b="b"/>
            <a:pathLst>
              <a:path w="353483" h="365443">
                <a:moveTo>
                  <a:pt x="0" y="0"/>
                </a:moveTo>
                <a:lnTo>
                  <a:pt x="353483" y="0"/>
                </a:lnTo>
                <a:lnTo>
                  <a:pt x="353483" y="365442"/>
                </a:lnTo>
                <a:lnTo>
                  <a:pt x="0" y="3654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0" name="Freeform 40"/>
          <p:cNvSpPr/>
          <p:nvPr/>
        </p:nvSpPr>
        <p:spPr>
          <a:xfrm>
            <a:off x="13947472" y="522390"/>
            <a:ext cx="1258463" cy="1351035"/>
          </a:xfrm>
          <a:custGeom>
            <a:avLst/>
            <a:gdLst/>
            <a:ahLst/>
            <a:cxnLst/>
            <a:rect l="l" t="t" r="r" b="b"/>
            <a:pathLst>
              <a:path w="1258463" h="1351035">
                <a:moveTo>
                  <a:pt x="0" y="0"/>
                </a:moveTo>
                <a:lnTo>
                  <a:pt x="1258463" y="0"/>
                </a:lnTo>
                <a:lnTo>
                  <a:pt x="1258463" y="1351035"/>
                </a:lnTo>
                <a:lnTo>
                  <a:pt x="0" y="13510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pic>
        <p:nvPicPr>
          <p:cNvPr id="41" name="Picture 5">
            <a:extLst>
              <a:ext uri="{FF2B5EF4-FFF2-40B4-BE49-F238E27FC236}">
                <a16:creationId xmlns:a16="http://schemas.microsoft.com/office/drawing/2014/main" id="{E226C199-C6DC-5276-90ED-3C034C3C9C59}"/>
              </a:ext>
            </a:extLst>
          </p:cNvPr>
          <p:cNvPicPr>
            <a:picLocks noChangeAspect="1"/>
          </p:cNvPicPr>
          <p:nvPr/>
        </p:nvPicPr>
        <p:blipFill>
          <a:blip r:embed="rId8"/>
          <a:srcRect/>
          <a:stretch>
            <a:fillRect/>
          </a:stretch>
        </p:blipFill>
        <p:spPr>
          <a:xfrm>
            <a:off x="6342569" y="3001565"/>
            <a:ext cx="1990902" cy="895907"/>
          </a:xfrm>
          <a:prstGeom prst="rect">
            <a:avLst/>
          </a:prstGeom>
        </p:spPr>
      </p:pic>
      <p:pic>
        <p:nvPicPr>
          <p:cNvPr id="42" name="Picture 5">
            <a:extLst>
              <a:ext uri="{FF2B5EF4-FFF2-40B4-BE49-F238E27FC236}">
                <a16:creationId xmlns:a16="http://schemas.microsoft.com/office/drawing/2014/main" id="{7A292FF2-2F5F-B1BC-AEAC-43758B54555A}"/>
              </a:ext>
            </a:extLst>
          </p:cNvPr>
          <p:cNvPicPr>
            <a:picLocks noChangeAspect="1"/>
          </p:cNvPicPr>
          <p:nvPr/>
        </p:nvPicPr>
        <p:blipFill>
          <a:blip r:embed="rId8"/>
          <a:srcRect/>
          <a:stretch>
            <a:fillRect/>
          </a:stretch>
        </p:blipFill>
        <p:spPr>
          <a:xfrm>
            <a:off x="6342569" y="4126056"/>
            <a:ext cx="1990902" cy="895907"/>
          </a:xfrm>
          <a:prstGeom prst="rect">
            <a:avLst/>
          </a:prstGeom>
        </p:spPr>
      </p:pic>
      <p:pic>
        <p:nvPicPr>
          <p:cNvPr id="43" name="Picture 5">
            <a:extLst>
              <a:ext uri="{FF2B5EF4-FFF2-40B4-BE49-F238E27FC236}">
                <a16:creationId xmlns:a16="http://schemas.microsoft.com/office/drawing/2014/main" id="{2433A641-82CC-C99A-F0AB-3DDFFD6F313A}"/>
              </a:ext>
            </a:extLst>
          </p:cNvPr>
          <p:cNvPicPr>
            <a:picLocks noChangeAspect="1"/>
          </p:cNvPicPr>
          <p:nvPr/>
        </p:nvPicPr>
        <p:blipFill>
          <a:blip r:embed="rId8"/>
          <a:srcRect/>
          <a:stretch>
            <a:fillRect/>
          </a:stretch>
        </p:blipFill>
        <p:spPr>
          <a:xfrm>
            <a:off x="6486484" y="5506953"/>
            <a:ext cx="1990902" cy="895907"/>
          </a:xfrm>
          <a:prstGeom prst="rect">
            <a:avLst/>
          </a:prstGeom>
        </p:spPr>
      </p:pic>
      <p:pic>
        <p:nvPicPr>
          <p:cNvPr id="44" name="Picture 5">
            <a:extLst>
              <a:ext uri="{FF2B5EF4-FFF2-40B4-BE49-F238E27FC236}">
                <a16:creationId xmlns:a16="http://schemas.microsoft.com/office/drawing/2014/main" id="{DBC78711-60BB-19C7-1CD8-15E73D523520}"/>
              </a:ext>
            </a:extLst>
          </p:cNvPr>
          <p:cNvPicPr>
            <a:picLocks noChangeAspect="1"/>
          </p:cNvPicPr>
          <p:nvPr/>
        </p:nvPicPr>
        <p:blipFill>
          <a:blip r:embed="rId8"/>
          <a:srcRect/>
          <a:stretch>
            <a:fillRect/>
          </a:stretch>
        </p:blipFill>
        <p:spPr>
          <a:xfrm>
            <a:off x="6374598" y="6832368"/>
            <a:ext cx="1990902" cy="895907"/>
          </a:xfrm>
          <a:prstGeom prst="rect">
            <a:avLst/>
          </a:prstGeom>
        </p:spPr>
      </p:pic>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327015" y="1700454"/>
            <a:ext cx="17004616" cy="8019696"/>
          </a:xfrm>
          <a:custGeom>
            <a:avLst/>
            <a:gdLst/>
            <a:ahLst/>
            <a:cxnLst/>
            <a:rect l="l" t="t" r="r" b="b"/>
            <a:pathLst>
              <a:path w="17004616" h="8019696">
                <a:moveTo>
                  <a:pt x="0" y="0"/>
                </a:moveTo>
                <a:lnTo>
                  <a:pt x="17004615" y="0"/>
                </a:lnTo>
                <a:lnTo>
                  <a:pt x="17004615" y="8019696"/>
                </a:lnTo>
                <a:lnTo>
                  <a:pt x="0" y="80196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716366" y="9914"/>
            <a:ext cx="15297539" cy="1606564"/>
          </a:xfrm>
          <a:custGeom>
            <a:avLst/>
            <a:gdLst/>
            <a:ahLst/>
            <a:cxnLst/>
            <a:rect l="l" t="t" r="r" b="b"/>
            <a:pathLst>
              <a:path w="15297539" h="1606564">
                <a:moveTo>
                  <a:pt x="0" y="0"/>
                </a:moveTo>
                <a:lnTo>
                  <a:pt x="15297539" y="0"/>
                </a:lnTo>
                <a:lnTo>
                  <a:pt x="15297539" y="1606564"/>
                </a:lnTo>
                <a:lnTo>
                  <a:pt x="0" y="16065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2361102" y="336889"/>
            <a:ext cx="14652803" cy="1246875"/>
            <a:chOff x="0" y="0"/>
            <a:chExt cx="19537071" cy="1662500"/>
          </a:xfrm>
        </p:grpSpPr>
        <p:sp>
          <p:nvSpPr>
            <p:cNvPr id="5" name="Freeform 5"/>
            <p:cNvSpPr/>
            <p:nvPr/>
          </p:nvSpPr>
          <p:spPr>
            <a:xfrm>
              <a:off x="0" y="0"/>
              <a:ext cx="19537071" cy="1662500"/>
            </a:xfrm>
            <a:custGeom>
              <a:avLst/>
              <a:gdLst/>
              <a:ahLst/>
              <a:cxnLst/>
              <a:rect l="l" t="t" r="r" b="b"/>
              <a:pathLst>
                <a:path w="19537071" h="1662500">
                  <a:moveTo>
                    <a:pt x="0" y="0"/>
                  </a:moveTo>
                  <a:lnTo>
                    <a:pt x="19537071" y="0"/>
                  </a:lnTo>
                  <a:lnTo>
                    <a:pt x="19537071" y="1662500"/>
                  </a:lnTo>
                  <a:lnTo>
                    <a:pt x="0" y="1662500"/>
                  </a:lnTo>
                  <a:close/>
                </a:path>
              </a:pathLst>
            </a:custGeom>
            <a:solidFill>
              <a:srgbClr val="000000">
                <a:alpha val="0"/>
              </a:srgbClr>
            </a:solidFill>
          </p:spPr>
          <p:txBody>
            <a:bodyPr/>
            <a:lstStyle/>
            <a:p>
              <a:endParaRPr lang="en-US"/>
            </a:p>
          </p:txBody>
        </p:sp>
        <p:sp>
          <p:nvSpPr>
            <p:cNvPr id="6" name="TextBox 6"/>
            <p:cNvSpPr txBox="1"/>
            <p:nvPr/>
          </p:nvSpPr>
          <p:spPr>
            <a:xfrm>
              <a:off x="0" y="0"/>
              <a:ext cx="19537071" cy="1662500"/>
            </a:xfrm>
            <a:prstGeom prst="rect">
              <a:avLst/>
            </a:prstGeom>
          </p:spPr>
          <p:txBody>
            <a:bodyPr lIns="0" tIns="0" rIns="0" bIns="0" rtlCol="0" anchor="t"/>
            <a:lstStyle/>
            <a:p>
              <a:pPr algn="l">
                <a:lnSpc>
                  <a:spcPts val="6381"/>
                </a:lnSpc>
              </a:pPr>
              <a:r>
                <a:rPr lang="en-US" sz="6400">
                  <a:solidFill>
                    <a:srgbClr val="FFFFFF"/>
                  </a:solidFill>
                  <a:latin typeface="Times New Roman"/>
                  <a:ea typeface="Times New Roman"/>
                  <a:cs typeface="Times New Roman"/>
                  <a:sym typeface="Times New Roman"/>
                </a:rPr>
                <a:t>4. MAKE A DECISION &amp; REFLECT</a:t>
              </a:r>
            </a:p>
          </p:txBody>
        </p:sp>
      </p:grpSp>
      <p:grpSp>
        <p:nvGrpSpPr>
          <p:cNvPr id="7" name="Group 7"/>
          <p:cNvGrpSpPr/>
          <p:nvPr/>
        </p:nvGrpSpPr>
        <p:grpSpPr>
          <a:xfrm>
            <a:off x="1470972" y="2244475"/>
            <a:ext cx="15788330" cy="6372123"/>
            <a:chOff x="0" y="0"/>
            <a:chExt cx="21051106" cy="8496164"/>
          </a:xfrm>
        </p:grpSpPr>
        <p:sp>
          <p:nvSpPr>
            <p:cNvPr id="8" name="Freeform 8"/>
            <p:cNvSpPr/>
            <p:nvPr/>
          </p:nvSpPr>
          <p:spPr>
            <a:xfrm>
              <a:off x="0" y="0"/>
              <a:ext cx="21051106" cy="8496164"/>
            </a:xfrm>
            <a:custGeom>
              <a:avLst/>
              <a:gdLst/>
              <a:ahLst/>
              <a:cxnLst/>
              <a:rect l="l" t="t" r="r" b="b"/>
              <a:pathLst>
                <a:path w="21051106" h="8496164">
                  <a:moveTo>
                    <a:pt x="0" y="0"/>
                  </a:moveTo>
                  <a:lnTo>
                    <a:pt x="21051106" y="0"/>
                  </a:lnTo>
                  <a:lnTo>
                    <a:pt x="21051106" y="8496164"/>
                  </a:lnTo>
                  <a:lnTo>
                    <a:pt x="0" y="8496164"/>
                  </a:lnTo>
                  <a:close/>
                </a:path>
              </a:pathLst>
            </a:custGeom>
            <a:solidFill>
              <a:srgbClr val="000000">
                <a:alpha val="0"/>
              </a:srgbClr>
            </a:solidFill>
          </p:spPr>
          <p:txBody>
            <a:bodyPr/>
            <a:lstStyle/>
            <a:p>
              <a:endParaRPr lang="en-US"/>
            </a:p>
          </p:txBody>
        </p:sp>
        <p:sp>
          <p:nvSpPr>
            <p:cNvPr id="9" name="TextBox 9"/>
            <p:cNvSpPr txBox="1"/>
            <p:nvPr/>
          </p:nvSpPr>
          <p:spPr>
            <a:xfrm>
              <a:off x="0" y="0"/>
              <a:ext cx="21051106" cy="8496164"/>
            </a:xfrm>
            <a:prstGeom prst="rect">
              <a:avLst/>
            </a:prstGeom>
          </p:spPr>
          <p:txBody>
            <a:bodyPr lIns="0" tIns="0" rIns="0" bIns="0" rtlCol="0" anchor="t"/>
            <a:lstStyle/>
            <a:p>
              <a:pPr algn="l">
                <a:lnSpc>
                  <a:spcPts val="2998"/>
                </a:lnSpc>
              </a:pPr>
              <a:r>
                <a:rPr lang="en-US" sz="2998">
                  <a:solidFill>
                    <a:srgbClr val="E53535"/>
                  </a:solidFill>
                  <a:latin typeface="Times New Roman"/>
                  <a:ea typeface="Times New Roman"/>
                  <a:cs typeface="Times New Roman"/>
                  <a:sym typeface="Times New Roman"/>
                </a:rPr>
                <a:t>Make a Decision : </a:t>
              </a:r>
            </a:p>
            <a:p>
              <a:pPr algn="l">
                <a:lnSpc>
                  <a:spcPts val="2998"/>
                </a:lnSpc>
              </a:pPr>
              <a:endParaRPr lang="en-US" sz="2998">
                <a:solidFill>
                  <a:srgbClr val="E53535"/>
                </a:solidFill>
                <a:latin typeface="Times New Roman"/>
                <a:ea typeface="Times New Roman"/>
                <a:cs typeface="Times New Roman"/>
                <a:sym typeface="Times New Roman"/>
              </a:endParaRPr>
            </a:p>
            <a:p>
              <a:pPr marL="866519" lvl="2" indent="-288840" algn="l">
                <a:lnSpc>
                  <a:spcPts val="3358"/>
                </a:lnSpc>
                <a:buFont typeface="Arial"/>
                <a:buChar char="⚬"/>
              </a:pPr>
              <a:r>
                <a:rPr lang="en-US" sz="2998">
                  <a:solidFill>
                    <a:srgbClr val="000000"/>
                  </a:solidFill>
                  <a:latin typeface="Times New Roman"/>
                  <a:ea typeface="Times New Roman"/>
                  <a:cs typeface="Times New Roman"/>
                  <a:sym typeface="Times New Roman"/>
                </a:rPr>
                <a:t>Marcus must prioritize user privacy by refusing to share identifiable user data, in</a:t>
              </a:r>
            </a:p>
            <a:p>
              <a:pPr marL="866519" lvl="2" indent="-288840" algn="l">
                <a:lnSpc>
                  <a:spcPts val="3358"/>
                </a:lnSpc>
              </a:pPr>
              <a:r>
                <a:rPr lang="en-US" sz="2998">
                  <a:solidFill>
                    <a:srgbClr val="000000"/>
                  </a:solidFill>
                  <a:latin typeface="Times New Roman"/>
                  <a:ea typeface="Times New Roman"/>
                  <a:cs typeface="Times New Roman"/>
                  <a:sym typeface="Times New Roman"/>
                </a:rPr>
                <a:t>     alignment with </a:t>
              </a:r>
              <a:r>
                <a:rPr lang="en-US" sz="2998" b="1">
                  <a:solidFill>
                    <a:srgbClr val="000000"/>
                  </a:solidFill>
                  <a:latin typeface="Times New Roman Bold"/>
                  <a:ea typeface="Times New Roman Bold"/>
                  <a:cs typeface="Times New Roman Bold"/>
                  <a:sym typeface="Times New Roman Bold"/>
                </a:rPr>
                <a:t>IEEE </a:t>
              </a:r>
              <a:r>
                <a:rPr lang="en-US" sz="2998">
                  <a:solidFill>
                    <a:srgbClr val="000000"/>
                  </a:solidFill>
                  <a:latin typeface="Times New Roman"/>
                  <a:ea typeface="Times New Roman"/>
                  <a:cs typeface="Times New Roman"/>
                  <a:sym typeface="Times New Roman"/>
                </a:rPr>
                <a:t>and </a:t>
              </a:r>
              <a:r>
                <a:rPr lang="en-US" sz="2998" b="1">
                  <a:solidFill>
                    <a:srgbClr val="000000"/>
                  </a:solidFill>
                  <a:latin typeface="Times New Roman Bold"/>
                  <a:ea typeface="Times New Roman Bold"/>
                  <a:cs typeface="Times New Roman Bold"/>
                  <a:sym typeface="Times New Roman Bold"/>
                </a:rPr>
                <a:t>NSPE </a:t>
              </a:r>
              <a:r>
                <a:rPr lang="en-US" sz="2998">
                  <a:solidFill>
                    <a:srgbClr val="000000"/>
                  </a:solidFill>
                  <a:latin typeface="Times New Roman"/>
                  <a:ea typeface="Times New Roman"/>
                  <a:cs typeface="Times New Roman"/>
                  <a:sym typeface="Times New Roman"/>
                </a:rPr>
                <a:t>ethical guidelines.</a:t>
              </a:r>
            </a:p>
            <a:p>
              <a:pPr marL="866519" lvl="2" indent="-288840" algn="l">
                <a:lnSpc>
                  <a:spcPts val="3358"/>
                </a:lnSpc>
              </a:pPr>
              <a:endParaRPr lang="en-US" sz="2998">
                <a:solidFill>
                  <a:srgbClr val="000000"/>
                </a:solidFill>
                <a:latin typeface="Times New Roman"/>
                <a:ea typeface="Times New Roman"/>
                <a:cs typeface="Times New Roman"/>
                <a:sym typeface="Times New Roman"/>
              </a:endParaRPr>
            </a:p>
            <a:p>
              <a:pPr marL="866519" lvl="2" indent="-288840" algn="l">
                <a:lnSpc>
                  <a:spcPts val="3358"/>
                </a:lnSpc>
              </a:pPr>
              <a:endParaRPr lang="en-US" sz="2998">
                <a:solidFill>
                  <a:srgbClr val="000000"/>
                </a:solidFill>
                <a:latin typeface="Times New Roman"/>
                <a:ea typeface="Times New Roman"/>
                <a:cs typeface="Times New Roman"/>
                <a:sym typeface="Times New Roman"/>
              </a:endParaRPr>
            </a:p>
            <a:p>
              <a:pPr marL="866519" lvl="2" indent="-288840" algn="l">
                <a:lnSpc>
                  <a:spcPts val="3358"/>
                </a:lnSpc>
                <a:buFont typeface="Arial"/>
                <a:buChar char="⚬"/>
              </a:pPr>
              <a:r>
                <a:rPr lang="en-US" sz="2998">
                  <a:solidFill>
                    <a:srgbClr val="000000"/>
                  </a:solidFill>
                  <a:latin typeface="Times New Roman"/>
                  <a:ea typeface="Times New Roman"/>
                  <a:cs typeface="Times New Roman"/>
                  <a:sym typeface="Times New Roman"/>
                </a:rPr>
                <a:t>He should advocate for ethical data practices, such as using anonymized and aggregated data. </a:t>
              </a:r>
            </a:p>
            <a:p>
              <a:pPr marL="866519" lvl="2" indent="-288840" algn="l">
                <a:lnSpc>
                  <a:spcPts val="3358"/>
                </a:lnSpc>
              </a:pPr>
              <a:endParaRPr lang="en-US" sz="2998">
                <a:solidFill>
                  <a:srgbClr val="000000"/>
                </a:solidFill>
                <a:latin typeface="Times New Roman"/>
                <a:ea typeface="Times New Roman"/>
                <a:cs typeface="Times New Roman"/>
                <a:sym typeface="Times New Roman"/>
              </a:endParaRPr>
            </a:p>
            <a:p>
              <a:pPr marL="866519" lvl="2" indent="-288840" algn="l">
                <a:lnSpc>
                  <a:spcPts val="3358"/>
                </a:lnSpc>
                <a:buFont typeface="Arial"/>
                <a:buChar char="⚬"/>
              </a:pPr>
              <a:r>
                <a:rPr lang="en-US" sz="2998">
                  <a:solidFill>
                    <a:srgbClr val="000000"/>
                  </a:solidFill>
                  <a:latin typeface="Times New Roman"/>
                  <a:ea typeface="Times New Roman"/>
                  <a:cs typeface="Times New Roman"/>
                  <a:sym typeface="Times New Roman"/>
                </a:rPr>
                <a:t>He should   allow users to choose whether their data is shared, ensuring transparency and ethical responsibility.</a:t>
              </a:r>
            </a:p>
            <a:p>
              <a:pPr marL="866519" lvl="2" indent="-288840" algn="l">
                <a:lnSpc>
                  <a:spcPts val="3358"/>
                </a:lnSpc>
              </a:pPr>
              <a:endParaRPr lang="en-US" sz="2998">
                <a:solidFill>
                  <a:srgbClr val="000000"/>
                </a:solidFill>
                <a:latin typeface="Times New Roman"/>
                <a:ea typeface="Times New Roman"/>
                <a:cs typeface="Times New Roman"/>
                <a:sym typeface="Times New Roman"/>
              </a:endParaRPr>
            </a:p>
            <a:p>
              <a:pPr marL="866519" lvl="2" indent="-288840" algn="l">
                <a:lnSpc>
                  <a:spcPts val="3358"/>
                </a:lnSpc>
              </a:pPr>
              <a:endParaRPr lang="en-US" sz="2998">
                <a:solidFill>
                  <a:srgbClr val="000000"/>
                </a:solidFill>
                <a:latin typeface="Times New Roman"/>
                <a:ea typeface="Times New Roman"/>
                <a:cs typeface="Times New Roman"/>
                <a:sym typeface="Times New Roman"/>
              </a:endParaRPr>
            </a:p>
            <a:p>
              <a:pPr marL="866519" lvl="2" indent="-288840" algn="l">
                <a:lnSpc>
                  <a:spcPts val="3358"/>
                </a:lnSpc>
                <a:buFont typeface="Arial"/>
                <a:buChar char="⚬"/>
              </a:pPr>
              <a:r>
                <a:rPr lang="en-US" sz="2998">
                  <a:solidFill>
                    <a:srgbClr val="000000"/>
                  </a:solidFill>
                  <a:latin typeface="Times New Roman"/>
                  <a:ea typeface="Times New Roman"/>
                  <a:cs typeface="Times New Roman"/>
                  <a:sym typeface="Times New Roman"/>
                </a:rPr>
                <a:t>He should propose alternative marketing strategies, like AI-driven insights and contextual advertising. </a:t>
              </a:r>
            </a:p>
          </p:txBody>
        </p:sp>
      </p:grpSp>
      <p:grpSp>
        <p:nvGrpSpPr>
          <p:cNvPr id="10" name="Group 10"/>
          <p:cNvGrpSpPr/>
          <p:nvPr/>
        </p:nvGrpSpPr>
        <p:grpSpPr>
          <a:xfrm>
            <a:off x="836257" y="8939313"/>
            <a:ext cx="9146331" cy="392415"/>
            <a:chOff x="0" y="0"/>
            <a:chExt cx="12195108" cy="523220"/>
          </a:xfrm>
        </p:grpSpPr>
        <p:sp>
          <p:nvSpPr>
            <p:cNvPr id="11" name="Freeform 11"/>
            <p:cNvSpPr/>
            <p:nvPr/>
          </p:nvSpPr>
          <p:spPr>
            <a:xfrm>
              <a:off x="0" y="0"/>
              <a:ext cx="12195108" cy="523220"/>
            </a:xfrm>
            <a:custGeom>
              <a:avLst/>
              <a:gdLst/>
              <a:ahLst/>
              <a:cxnLst/>
              <a:rect l="l" t="t" r="r" b="b"/>
              <a:pathLst>
                <a:path w="12195108" h="523220">
                  <a:moveTo>
                    <a:pt x="0" y="0"/>
                  </a:moveTo>
                  <a:lnTo>
                    <a:pt x="12195108" y="0"/>
                  </a:lnTo>
                  <a:lnTo>
                    <a:pt x="12195108" y="523220"/>
                  </a:lnTo>
                  <a:lnTo>
                    <a:pt x="0" y="523220"/>
                  </a:lnTo>
                  <a:close/>
                </a:path>
              </a:pathLst>
            </a:custGeom>
            <a:solidFill>
              <a:srgbClr val="000000">
                <a:alpha val="0"/>
              </a:srgbClr>
            </a:solidFill>
          </p:spPr>
          <p:txBody>
            <a:bodyPr/>
            <a:lstStyle/>
            <a:p>
              <a:endParaRPr lang="en-US"/>
            </a:p>
          </p:txBody>
        </p:sp>
        <p:sp>
          <p:nvSpPr>
            <p:cNvPr id="12" name="TextBox 12"/>
            <p:cNvSpPr txBox="1"/>
            <p:nvPr/>
          </p:nvSpPr>
          <p:spPr>
            <a:xfrm>
              <a:off x="0" y="-28575"/>
              <a:ext cx="12195108" cy="551795"/>
            </a:xfrm>
            <a:prstGeom prst="rect">
              <a:avLst/>
            </a:prstGeom>
          </p:spPr>
          <p:txBody>
            <a:bodyPr lIns="0" tIns="0" rIns="0" bIns="0" rtlCol="0" anchor="t"/>
            <a:lstStyle/>
            <a:p>
              <a:pPr algn="l">
                <a:lnSpc>
                  <a:spcPts val="1980"/>
                </a:lnSpc>
              </a:pPr>
              <a:endParaRPr lang="en-US" sz="1650" dirty="0">
                <a:solidFill>
                  <a:srgbClr val="000000"/>
                </a:solidFill>
                <a:latin typeface="Calibri (MS)"/>
                <a:ea typeface="Calibri (MS)"/>
                <a:cs typeface="Calibri (MS)"/>
                <a:sym typeface="Calibri (MS)"/>
              </a:endParaRPr>
            </a:p>
          </p:txBody>
        </p:sp>
      </p:grpSp>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441250" y="1393876"/>
            <a:ext cx="4385710" cy="4616649"/>
            <a:chOff x="0" y="0"/>
            <a:chExt cx="5847614" cy="6155532"/>
          </a:xfrm>
        </p:grpSpPr>
        <p:sp>
          <p:nvSpPr>
            <p:cNvPr id="3" name="Freeform 3"/>
            <p:cNvSpPr/>
            <p:nvPr/>
          </p:nvSpPr>
          <p:spPr>
            <a:xfrm>
              <a:off x="0" y="0"/>
              <a:ext cx="5847614" cy="6155532"/>
            </a:xfrm>
            <a:custGeom>
              <a:avLst/>
              <a:gdLst/>
              <a:ahLst/>
              <a:cxnLst/>
              <a:rect l="l" t="t" r="r" b="b"/>
              <a:pathLst>
                <a:path w="5847614" h="6155532">
                  <a:moveTo>
                    <a:pt x="0" y="0"/>
                  </a:moveTo>
                  <a:lnTo>
                    <a:pt x="5847614" y="0"/>
                  </a:lnTo>
                  <a:lnTo>
                    <a:pt x="5847614" y="6155532"/>
                  </a:lnTo>
                  <a:lnTo>
                    <a:pt x="0" y="6155532"/>
                  </a:lnTo>
                  <a:close/>
                </a:path>
              </a:pathLst>
            </a:custGeom>
            <a:solidFill>
              <a:srgbClr val="000000">
                <a:alpha val="0"/>
              </a:srgbClr>
            </a:solidFill>
          </p:spPr>
          <p:txBody>
            <a:bodyPr/>
            <a:lstStyle/>
            <a:p>
              <a:endParaRPr lang="en-US"/>
            </a:p>
          </p:txBody>
        </p:sp>
        <p:sp>
          <p:nvSpPr>
            <p:cNvPr id="4" name="TextBox 4"/>
            <p:cNvSpPr txBox="1"/>
            <p:nvPr/>
          </p:nvSpPr>
          <p:spPr>
            <a:xfrm>
              <a:off x="0" y="0"/>
              <a:ext cx="5847614" cy="6155532"/>
            </a:xfrm>
            <a:prstGeom prst="rect">
              <a:avLst/>
            </a:prstGeom>
          </p:spPr>
          <p:txBody>
            <a:bodyPr lIns="0" tIns="0" rIns="0" bIns="0" rtlCol="0" anchor="t"/>
            <a:lstStyle/>
            <a:p>
              <a:pPr algn="l">
                <a:lnSpc>
                  <a:spcPts val="2998"/>
                </a:lnSpc>
              </a:pPr>
              <a:endParaRPr/>
            </a:p>
            <a:p>
              <a:pPr algn="l">
                <a:lnSpc>
                  <a:spcPts val="2998"/>
                </a:lnSpc>
              </a:pPr>
              <a:r>
                <a:rPr lang="en-US" sz="2998">
                  <a:solidFill>
                    <a:srgbClr val="000000"/>
                  </a:solidFill>
                  <a:latin typeface="Times New Roman"/>
                  <a:ea typeface="Times New Roman"/>
                  <a:cs typeface="Times New Roman"/>
                  <a:sym typeface="Times New Roman"/>
                </a:rPr>
                <a:t>Ethical Integrity</a:t>
              </a:r>
            </a:p>
            <a:p>
              <a:pPr algn="l">
                <a:lnSpc>
                  <a:spcPts val="2998"/>
                </a:lnSpc>
              </a:pPr>
              <a:r>
                <a:rPr lang="en-US" sz="2998">
                  <a:solidFill>
                    <a:srgbClr val="000000"/>
                  </a:solidFill>
                  <a:latin typeface="Times New Roman"/>
                  <a:ea typeface="Times New Roman"/>
                  <a:cs typeface="Times New Roman"/>
                  <a:sym typeface="Times New Roman"/>
                </a:rPr>
                <a:t>                           </a:t>
              </a:r>
            </a:p>
            <a:p>
              <a:pPr algn="l">
                <a:lnSpc>
                  <a:spcPts val="2998"/>
                </a:lnSpc>
              </a:pPr>
              <a:endParaRPr lang="en-US" sz="2998">
                <a:solidFill>
                  <a:srgbClr val="000000"/>
                </a:solidFill>
                <a:latin typeface="Times New Roman"/>
                <a:ea typeface="Times New Roman"/>
                <a:cs typeface="Times New Roman"/>
                <a:sym typeface="Times New Roman"/>
              </a:endParaRPr>
            </a:p>
            <a:p>
              <a:pPr algn="l">
                <a:lnSpc>
                  <a:spcPts val="2998"/>
                </a:lnSpc>
              </a:pPr>
              <a:r>
                <a:rPr lang="en-US" sz="2998">
                  <a:solidFill>
                    <a:srgbClr val="000000"/>
                  </a:solidFill>
                  <a:latin typeface="Times New Roman"/>
                  <a:ea typeface="Times New Roman"/>
                  <a:cs typeface="Times New Roman"/>
                  <a:sym typeface="Times New Roman"/>
                </a:rPr>
                <a:t>Legal Compliance      </a:t>
              </a:r>
            </a:p>
            <a:p>
              <a:pPr algn="l">
                <a:lnSpc>
                  <a:spcPts val="2998"/>
                </a:lnSpc>
              </a:pPr>
              <a:r>
                <a:rPr lang="en-US" sz="2998">
                  <a:solidFill>
                    <a:srgbClr val="000000"/>
                  </a:solidFill>
                  <a:latin typeface="Times New Roman"/>
                  <a:ea typeface="Times New Roman"/>
                  <a:cs typeface="Times New Roman"/>
                  <a:sym typeface="Times New Roman"/>
                </a:rPr>
                <a:t>             </a:t>
              </a:r>
            </a:p>
            <a:p>
              <a:pPr algn="l">
                <a:lnSpc>
                  <a:spcPts val="2998"/>
                </a:lnSpc>
              </a:pPr>
              <a:endParaRPr lang="en-US" sz="2998">
                <a:solidFill>
                  <a:srgbClr val="000000"/>
                </a:solidFill>
                <a:latin typeface="Times New Roman"/>
                <a:ea typeface="Times New Roman"/>
                <a:cs typeface="Times New Roman"/>
                <a:sym typeface="Times New Roman"/>
              </a:endParaRPr>
            </a:p>
            <a:p>
              <a:pPr algn="l">
                <a:lnSpc>
                  <a:spcPts val="2998"/>
                </a:lnSpc>
              </a:pPr>
              <a:r>
                <a:rPr lang="en-US" sz="2998">
                  <a:solidFill>
                    <a:srgbClr val="000000"/>
                  </a:solidFill>
                  <a:latin typeface="Times New Roman"/>
                  <a:ea typeface="Times New Roman"/>
                  <a:cs typeface="Times New Roman"/>
                  <a:sym typeface="Times New Roman"/>
                </a:rPr>
                <a:t>Public Trust </a:t>
              </a:r>
            </a:p>
            <a:p>
              <a:pPr algn="l">
                <a:lnSpc>
                  <a:spcPts val="2998"/>
                </a:lnSpc>
              </a:pPr>
              <a:endParaRPr lang="en-US" sz="2998">
                <a:solidFill>
                  <a:srgbClr val="000000"/>
                </a:solidFill>
                <a:latin typeface="Times New Roman"/>
                <a:ea typeface="Times New Roman"/>
                <a:cs typeface="Times New Roman"/>
                <a:sym typeface="Times New Roman"/>
              </a:endParaRPr>
            </a:p>
            <a:p>
              <a:pPr algn="l">
                <a:lnSpc>
                  <a:spcPts val="2998"/>
                </a:lnSpc>
              </a:pPr>
              <a:endParaRPr lang="en-US" sz="2998">
                <a:solidFill>
                  <a:srgbClr val="000000"/>
                </a:solidFill>
                <a:latin typeface="Times New Roman"/>
                <a:ea typeface="Times New Roman"/>
                <a:cs typeface="Times New Roman"/>
                <a:sym typeface="Times New Roman"/>
              </a:endParaRPr>
            </a:p>
            <a:p>
              <a:pPr algn="l">
                <a:lnSpc>
                  <a:spcPts val="2998"/>
                </a:lnSpc>
              </a:pPr>
              <a:r>
                <a:rPr lang="en-US" sz="2998">
                  <a:solidFill>
                    <a:srgbClr val="000000"/>
                  </a:solidFill>
                  <a:latin typeface="Times New Roman"/>
                  <a:ea typeface="Times New Roman"/>
                  <a:cs typeface="Times New Roman"/>
                  <a:sym typeface="Times New Roman"/>
                </a:rPr>
                <a:t>Business Success </a:t>
              </a:r>
            </a:p>
            <a:p>
              <a:pPr algn="l">
                <a:lnSpc>
                  <a:spcPts val="2998"/>
                </a:lnSpc>
              </a:pPr>
              <a:endParaRPr lang="en-US" sz="2998">
                <a:solidFill>
                  <a:srgbClr val="000000"/>
                </a:solidFill>
                <a:latin typeface="Times New Roman"/>
                <a:ea typeface="Times New Roman"/>
                <a:cs typeface="Times New Roman"/>
                <a:sym typeface="Times New Roman"/>
              </a:endParaRPr>
            </a:p>
          </p:txBody>
        </p:sp>
      </p:grpSp>
      <p:sp>
        <p:nvSpPr>
          <p:cNvPr id="5" name="Freeform 5"/>
          <p:cNvSpPr/>
          <p:nvPr/>
        </p:nvSpPr>
        <p:spPr>
          <a:xfrm>
            <a:off x="4572388" y="5010336"/>
            <a:ext cx="700512" cy="714001"/>
          </a:xfrm>
          <a:custGeom>
            <a:avLst/>
            <a:gdLst/>
            <a:ahLst/>
            <a:cxnLst/>
            <a:rect l="l" t="t" r="r" b="b"/>
            <a:pathLst>
              <a:path w="700512" h="714001">
                <a:moveTo>
                  <a:pt x="0" y="0"/>
                </a:moveTo>
                <a:lnTo>
                  <a:pt x="700512" y="0"/>
                </a:lnTo>
                <a:lnTo>
                  <a:pt x="700512" y="714002"/>
                </a:lnTo>
                <a:lnTo>
                  <a:pt x="0" y="714002"/>
                </a:lnTo>
                <a:lnTo>
                  <a:pt x="0" y="0"/>
                </a:lnTo>
                <a:close/>
              </a:path>
            </a:pathLst>
          </a:custGeom>
          <a:blipFill>
            <a:blip r:embed="rId2">
              <a:extLst>
                <a:ext uri="{96DAC541-7B7A-43D3-8B79-37D633B846F1}">
                  <asvg:svgBlip xmlns:asvg="http://schemas.microsoft.com/office/drawing/2016/SVG/main" r:embed="rId3"/>
                </a:ext>
              </a:extLst>
            </a:blip>
            <a:stretch>
              <a:fillRect l="-283" r="-283"/>
            </a:stretch>
          </a:blipFill>
        </p:spPr>
        <p:txBody>
          <a:bodyPr/>
          <a:lstStyle/>
          <a:p>
            <a:endParaRPr lang="en-US"/>
          </a:p>
        </p:txBody>
      </p:sp>
      <p:grpSp>
        <p:nvGrpSpPr>
          <p:cNvPr id="6" name="Group 6"/>
          <p:cNvGrpSpPr/>
          <p:nvPr/>
        </p:nvGrpSpPr>
        <p:grpSpPr>
          <a:xfrm>
            <a:off x="6011986" y="1653932"/>
            <a:ext cx="10375090" cy="946683"/>
            <a:chOff x="0" y="0"/>
            <a:chExt cx="13833454" cy="1262244"/>
          </a:xfrm>
        </p:grpSpPr>
        <p:sp>
          <p:nvSpPr>
            <p:cNvPr id="7" name="Freeform 7"/>
            <p:cNvSpPr/>
            <p:nvPr/>
          </p:nvSpPr>
          <p:spPr>
            <a:xfrm>
              <a:off x="0" y="0"/>
              <a:ext cx="13833453" cy="1262244"/>
            </a:xfrm>
            <a:custGeom>
              <a:avLst/>
              <a:gdLst/>
              <a:ahLst/>
              <a:cxnLst/>
              <a:rect l="l" t="t" r="r" b="b"/>
              <a:pathLst>
                <a:path w="13833453" h="1262244">
                  <a:moveTo>
                    <a:pt x="0" y="0"/>
                  </a:moveTo>
                  <a:lnTo>
                    <a:pt x="13833453" y="0"/>
                  </a:lnTo>
                  <a:lnTo>
                    <a:pt x="13833453" y="1262244"/>
                  </a:lnTo>
                  <a:lnTo>
                    <a:pt x="0" y="1262244"/>
                  </a:lnTo>
                  <a:close/>
                </a:path>
              </a:pathLst>
            </a:custGeom>
            <a:solidFill>
              <a:srgbClr val="000000">
                <a:alpha val="0"/>
              </a:srgbClr>
            </a:solidFill>
          </p:spPr>
          <p:txBody>
            <a:bodyPr/>
            <a:lstStyle/>
            <a:p>
              <a:endParaRPr lang="en-US"/>
            </a:p>
          </p:txBody>
        </p:sp>
        <p:sp>
          <p:nvSpPr>
            <p:cNvPr id="8" name="TextBox 8"/>
            <p:cNvSpPr txBox="1"/>
            <p:nvPr/>
          </p:nvSpPr>
          <p:spPr>
            <a:xfrm>
              <a:off x="0" y="0"/>
              <a:ext cx="13833454" cy="1262244"/>
            </a:xfrm>
            <a:prstGeom prst="rect">
              <a:avLst/>
            </a:prstGeom>
          </p:spPr>
          <p:txBody>
            <a:bodyPr lIns="0" tIns="0" rIns="0" bIns="0" rtlCol="0" anchor="t"/>
            <a:lstStyle/>
            <a:p>
              <a:pPr algn="l">
                <a:lnSpc>
                  <a:spcPts val="2998"/>
                </a:lnSpc>
              </a:pPr>
              <a:r>
                <a:rPr lang="en-US" sz="2998">
                  <a:solidFill>
                    <a:srgbClr val="000000"/>
                  </a:solidFill>
                  <a:latin typeface="Times New Roman"/>
                  <a:ea typeface="Times New Roman"/>
                  <a:cs typeface="Times New Roman"/>
                  <a:sym typeface="Times New Roman"/>
                </a:rPr>
                <a:t>Upholds </a:t>
              </a:r>
              <a:r>
                <a:rPr lang="en-US" sz="2998" b="1">
                  <a:solidFill>
                    <a:srgbClr val="000000"/>
                  </a:solidFill>
                  <a:latin typeface="Times New Roman Bold"/>
                  <a:ea typeface="Times New Roman Bold"/>
                  <a:cs typeface="Times New Roman Bold"/>
                  <a:sym typeface="Times New Roman Bold"/>
                </a:rPr>
                <a:t>IEEE </a:t>
              </a:r>
              <a:r>
                <a:rPr lang="en-US" sz="2998">
                  <a:solidFill>
                    <a:srgbClr val="000000"/>
                  </a:solidFill>
                  <a:latin typeface="Times New Roman"/>
                  <a:ea typeface="Times New Roman"/>
                  <a:cs typeface="Times New Roman"/>
                  <a:sym typeface="Times New Roman"/>
                </a:rPr>
                <a:t>and </a:t>
              </a:r>
              <a:r>
                <a:rPr lang="en-US" sz="2998" b="1">
                  <a:solidFill>
                    <a:srgbClr val="000000"/>
                  </a:solidFill>
                  <a:latin typeface="Times New Roman Bold"/>
                  <a:ea typeface="Times New Roman Bold"/>
                  <a:cs typeface="Times New Roman Bold"/>
                  <a:sym typeface="Times New Roman Bold"/>
                </a:rPr>
                <a:t>NSPE </a:t>
              </a:r>
              <a:r>
                <a:rPr lang="en-US" sz="2998">
                  <a:solidFill>
                    <a:srgbClr val="000000"/>
                  </a:solidFill>
                  <a:latin typeface="Times New Roman"/>
                  <a:ea typeface="Times New Roman"/>
                  <a:cs typeface="Times New Roman"/>
                  <a:sym typeface="Times New Roman"/>
                </a:rPr>
                <a:t>professional ethics, setting a standard for responsible engineering.</a:t>
              </a:r>
            </a:p>
          </p:txBody>
        </p:sp>
      </p:grpSp>
      <p:grpSp>
        <p:nvGrpSpPr>
          <p:cNvPr id="9" name="Group 9"/>
          <p:cNvGrpSpPr/>
          <p:nvPr/>
        </p:nvGrpSpPr>
        <p:grpSpPr>
          <a:xfrm>
            <a:off x="5902316" y="2813973"/>
            <a:ext cx="11062812" cy="384720"/>
            <a:chOff x="0" y="0"/>
            <a:chExt cx="14750416" cy="512960"/>
          </a:xfrm>
        </p:grpSpPr>
        <p:sp>
          <p:nvSpPr>
            <p:cNvPr id="10" name="Freeform 10"/>
            <p:cNvSpPr/>
            <p:nvPr/>
          </p:nvSpPr>
          <p:spPr>
            <a:xfrm>
              <a:off x="0" y="0"/>
              <a:ext cx="14750416" cy="512960"/>
            </a:xfrm>
            <a:custGeom>
              <a:avLst/>
              <a:gdLst/>
              <a:ahLst/>
              <a:cxnLst/>
              <a:rect l="l" t="t" r="r" b="b"/>
              <a:pathLst>
                <a:path w="14750416" h="512960">
                  <a:moveTo>
                    <a:pt x="0" y="0"/>
                  </a:moveTo>
                  <a:lnTo>
                    <a:pt x="14750416" y="0"/>
                  </a:lnTo>
                  <a:lnTo>
                    <a:pt x="14750416" y="512960"/>
                  </a:lnTo>
                  <a:lnTo>
                    <a:pt x="0" y="512960"/>
                  </a:lnTo>
                  <a:close/>
                </a:path>
              </a:pathLst>
            </a:custGeom>
            <a:solidFill>
              <a:srgbClr val="000000">
                <a:alpha val="0"/>
              </a:srgbClr>
            </a:solidFill>
          </p:spPr>
          <p:txBody>
            <a:bodyPr/>
            <a:lstStyle/>
            <a:p>
              <a:endParaRPr lang="en-US"/>
            </a:p>
          </p:txBody>
        </p:sp>
        <p:sp>
          <p:nvSpPr>
            <p:cNvPr id="11" name="TextBox 11"/>
            <p:cNvSpPr txBox="1"/>
            <p:nvPr/>
          </p:nvSpPr>
          <p:spPr>
            <a:xfrm>
              <a:off x="0" y="0"/>
              <a:ext cx="14750416" cy="512960"/>
            </a:xfrm>
            <a:prstGeom prst="rect">
              <a:avLst/>
            </a:prstGeom>
          </p:spPr>
          <p:txBody>
            <a:bodyPr lIns="0" tIns="0" rIns="0" bIns="0" rtlCol="0" anchor="t"/>
            <a:lstStyle/>
            <a:p>
              <a:pPr algn="l">
                <a:lnSpc>
                  <a:spcPts val="2998"/>
                </a:lnSpc>
              </a:pPr>
              <a:r>
                <a:rPr lang="en-US" sz="2998">
                  <a:solidFill>
                    <a:srgbClr val="000000"/>
                  </a:solidFill>
                  <a:latin typeface="Times New Roman"/>
                  <a:ea typeface="Times New Roman"/>
                  <a:cs typeface="Times New Roman"/>
                  <a:sym typeface="Times New Roman"/>
                </a:rPr>
                <a:t> Avoids legal risks and ensures privacy regulation adherence.</a:t>
              </a:r>
            </a:p>
          </p:txBody>
        </p:sp>
      </p:grpSp>
      <p:grpSp>
        <p:nvGrpSpPr>
          <p:cNvPr id="12" name="Group 12"/>
          <p:cNvGrpSpPr/>
          <p:nvPr/>
        </p:nvGrpSpPr>
        <p:grpSpPr>
          <a:xfrm>
            <a:off x="6011986" y="4142959"/>
            <a:ext cx="11344036" cy="384720"/>
            <a:chOff x="0" y="0"/>
            <a:chExt cx="15125382" cy="512960"/>
          </a:xfrm>
        </p:grpSpPr>
        <p:sp>
          <p:nvSpPr>
            <p:cNvPr id="13" name="Freeform 13"/>
            <p:cNvSpPr/>
            <p:nvPr/>
          </p:nvSpPr>
          <p:spPr>
            <a:xfrm>
              <a:off x="0" y="0"/>
              <a:ext cx="15125382" cy="512960"/>
            </a:xfrm>
            <a:custGeom>
              <a:avLst/>
              <a:gdLst/>
              <a:ahLst/>
              <a:cxnLst/>
              <a:rect l="l" t="t" r="r" b="b"/>
              <a:pathLst>
                <a:path w="15125382" h="512960">
                  <a:moveTo>
                    <a:pt x="0" y="0"/>
                  </a:moveTo>
                  <a:lnTo>
                    <a:pt x="15125382" y="0"/>
                  </a:lnTo>
                  <a:lnTo>
                    <a:pt x="15125382" y="512960"/>
                  </a:lnTo>
                  <a:lnTo>
                    <a:pt x="0" y="512960"/>
                  </a:lnTo>
                  <a:close/>
                </a:path>
              </a:pathLst>
            </a:custGeom>
            <a:solidFill>
              <a:srgbClr val="000000">
                <a:alpha val="0"/>
              </a:srgbClr>
            </a:solidFill>
          </p:spPr>
          <p:txBody>
            <a:bodyPr/>
            <a:lstStyle/>
            <a:p>
              <a:endParaRPr lang="en-US"/>
            </a:p>
          </p:txBody>
        </p:sp>
        <p:sp>
          <p:nvSpPr>
            <p:cNvPr id="14" name="TextBox 14"/>
            <p:cNvSpPr txBox="1"/>
            <p:nvPr/>
          </p:nvSpPr>
          <p:spPr>
            <a:xfrm>
              <a:off x="0" y="0"/>
              <a:ext cx="15125382" cy="512960"/>
            </a:xfrm>
            <a:prstGeom prst="rect">
              <a:avLst/>
            </a:prstGeom>
          </p:spPr>
          <p:txBody>
            <a:bodyPr lIns="0" tIns="0" rIns="0" bIns="0" rtlCol="0" anchor="t"/>
            <a:lstStyle/>
            <a:p>
              <a:pPr algn="l">
                <a:lnSpc>
                  <a:spcPts val="2998"/>
                </a:lnSpc>
              </a:pPr>
              <a:r>
                <a:rPr lang="en-US" sz="2998">
                  <a:solidFill>
                    <a:srgbClr val="000000"/>
                  </a:solidFill>
                  <a:latin typeface="Times New Roman"/>
                  <a:ea typeface="Times New Roman"/>
                  <a:cs typeface="Times New Roman"/>
                  <a:sym typeface="Times New Roman"/>
                </a:rPr>
                <a:t> Enhances user confidence and improves company reputation.</a:t>
              </a:r>
            </a:p>
          </p:txBody>
        </p:sp>
      </p:grpSp>
      <p:grpSp>
        <p:nvGrpSpPr>
          <p:cNvPr id="15" name="Group 15"/>
          <p:cNvGrpSpPr/>
          <p:nvPr/>
        </p:nvGrpSpPr>
        <p:grpSpPr>
          <a:xfrm>
            <a:off x="5902316" y="5067486"/>
            <a:ext cx="11262182" cy="769442"/>
            <a:chOff x="0" y="0"/>
            <a:chExt cx="15016242" cy="1025922"/>
          </a:xfrm>
        </p:grpSpPr>
        <p:sp>
          <p:nvSpPr>
            <p:cNvPr id="16" name="Freeform 16"/>
            <p:cNvSpPr/>
            <p:nvPr/>
          </p:nvSpPr>
          <p:spPr>
            <a:xfrm>
              <a:off x="0" y="0"/>
              <a:ext cx="15016242" cy="1025922"/>
            </a:xfrm>
            <a:custGeom>
              <a:avLst/>
              <a:gdLst/>
              <a:ahLst/>
              <a:cxnLst/>
              <a:rect l="l" t="t" r="r" b="b"/>
              <a:pathLst>
                <a:path w="15016242" h="1025922">
                  <a:moveTo>
                    <a:pt x="0" y="0"/>
                  </a:moveTo>
                  <a:lnTo>
                    <a:pt x="15016242" y="0"/>
                  </a:lnTo>
                  <a:lnTo>
                    <a:pt x="15016242" y="1025922"/>
                  </a:lnTo>
                  <a:lnTo>
                    <a:pt x="0" y="1025922"/>
                  </a:lnTo>
                  <a:close/>
                </a:path>
              </a:pathLst>
            </a:custGeom>
            <a:solidFill>
              <a:srgbClr val="000000">
                <a:alpha val="0"/>
              </a:srgbClr>
            </a:solidFill>
          </p:spPr>
          <p:txBody>
            <a:bodyPr/>
            <a:lstStyle/>
            <a:p>
              <a:endParaRPr lang="en-US"/>
            </a:p>
          </p:txBody>
        </p:sp>
        <p:sp>
          <p:nvSpPr>
            <p:cNvPr id="17" name="TextBox 17"/>
            <p:cNvSpPr txBox="1"/>
            <p:nvPr/>
          </p:nvSpPr>
          <p:spPr>
            <a:xfrm>
              <a:off x="0" y="0"/>
              <a:ext cx="15016242" cy="1025922"/>
            </a:xfrm>
            <a:prstGeom prst="rect">
              <a:avLst/>
            </a:prstGeom>
          </p:spPr>
          <p:txBody>
            <a:bodyPr lIns="0" tIns="0" rIns="0" bIns="0" rtlCol="0" anchor="t"/>
            <a:lstStyle/>
            <a:p>
              <a:pPr algn="l">
                <a:lnSpc>
                  <a:spcPts val="2998"/>
                </a:lnSpc>
              </a:pPr>
              <a:r>
                <a:rPr lang="en-US" sz="2998">
                  <a:solidFill>
                    <a:srgbClr val="000000"/>
                  </a:solidFill>
                  <a:latin typeface="Times New Roman"/>
                  <a:ea typeface="Times New Roman"/>
                  <a:cs typeface="Times New Roman"/>
                  <a:sym typeface="Times New Roman"/>
                </a:rPr>
                <a:t>Enables data-driven marketing without violating privacy, ensuring a sustainable and ethical business model.</a:t>
              </a:r>
            </a:p>
          </p:txBody>
        </p:sp>
      </p:grpSp>
      <p:grpSp>
        <p:nvGrpSpPr>
          <p:cNvPr id="18" name="Group 18"/>
          <p:cNvGrpSpPr/>
          <p:nvPr/>
        </p:nvGrpSpPr>
        <p:grpSpPr>
          <a:xfrm>
            <a:off x="234035" y="231587"/>
            <a:ext cx="9223952" cy="1165169"/>
            <a:chOff x="0" y="0"/>
            <a:chExt cx="12298602" cy="1553559"/>
          </a:xfrm>
        </p:grpSpPr>
        <p:sp>
          <p:nvSpPr>
            <p:cNvPr id="19" name="Freeform 19"/>
            <p:cNvSpPr/>
            <p:nvPr/>
          </p:nvSpPr>
          <p:spPr>
            <a:xfrm>
              <a:off x="0" y="0"/>
              <a:ext cx="12298602" cy="1553559"/>
            </a:xfrm>
            <a:custGeom>
              <a:avLst/>
              <a:gdLst/>
              <a:ahLst/>
              <a:cxnLst/>
              <a:rect l="l" t="t" r="r" b="b"/>
              <a:pathLst>
                <a:path w="12298602" h="1553559">
                  <a:moveTo>
                    <a:pt x="0" y="0"/>
                  </a:moveTo>
                  <a:lnTo>
                    <a:pt x="12298602" y="0"/>
                  </a:lnTo>
                  <a:lnTo>
                    <a:pt x="12298602" y="1553559"/>
                  </a:lnTo>
                  <a:lnTo>
                    <a:pt x="0" y="1553559"/>
                  </a:lnTo>
                  <a:close/>
                </a:path>
              </a:pathLst>
            </a:custGeom>
            <a:solidFill>
              <a:srgbClr val="000000">
                <a:alpha val="0"/>
              </a:srgbClr>
            </a:solidFill>
          </p:spPr>
          <p:txBody>
            <a:bodyPr/>
            <a:lstStyle/>
            <a:p>
              <a:endParaRPr lang="en-US"/>
            </a:p>
          </p:txBody>
        </p:sp>
        <p:sp>
          <p:nvSpPr>
            <p:cNvPr id="20" name="TextBox 20"/>
            <p:cNvSpPr txBox="1"/>
            <p:nvPr/>
          </p:nvSpPr>
          <p:spPr>
            <a:xfrm>
              <a:off x="0" y="219075"/>
              <a:ext cx="12298602" cy="1334484"/>
            </a:xfrm>
            <a:prstGeom prst="rect">
              <a:avLst/>
            </a:prstGeom>
          </p:spPr>
          <p:txBody>
            <a:bodyPr lIns="0" tIns="0" rIns="0" bIns="0" rtlCol="0" anchor="t"/>
            <a:lstStyle/>
            <a:p>
              <a:pPr algn="ctr">
                <a:lnSpc>
                  <a:spcPts val="3635"/>
                </a:lnSpc>
              </a:pPr>
              <a:r>
                <a:rPr lang="en-US" sz="6000" b="1">
                  <a:solidFill>
                    <a:srgbClr val="CC3333"/>
                  </a:solidFill>
                  <a:latin typeface="Times New Roman Bold"/>
                  <a:ea typeface="Times New Roman Bold"/>
                  <a:cs typeface="Times New Roman Bold"/>
                  <a:sym typeface="Times New Roman Bold"/>
                </a:rPr>
                <a:t>Reflect on the Impact :</a:t>
              </a:r>
            </a:p>
          </p:txBody>
        </p:sp>
      </p:grpSp>
      <p:sp>
        <p:nvSpPr>
          <p:cNvPr id="21" name="Freeform 21"/>
          <p:cNvSpPr/>
          <p:nvPr/>
        </p:nvSpPr>
        <p:spPr>
          <a:xfrm>
            <a:off x="4573336" y="3978801"/>
            <a:ext cx="699566" cy="713036"/>
          </a:xfrm>
          <a:custGeom>
            <a:avLst/>
            <a:gdLst/>
            <a:ahLst/>
            <a:cxnLst/>
            <a:rect l="l" t="t" r="r" b="b"/>
            <a:pathLst>
              <a:path w="699566" h="713036">
                <a:moveTo>
                  <a:pt x="0" y="0"/>
                </a:moveTo>
                <a:lnTo>
                  <a:pt x="699566" y="0"/>
                </a:lnTo>
                <a:lnTo>
                  <a:pt x="699566" y="713035"/>
                </a:lnTo>
                <a:lnTo>
                  <a:pt x="0" y="713035"/>
                </a:lnTo>
                <a:lnTo>
                  <a:pt x="0" y="0"/>
                </a:lnTo>
                <a:close/>
              </a:path>
            </a:pathLst>
          </a:custGeom>
          <a:blipFill>
            <a:blip r:embed="rId2">
              <a:extLst>
                <a:ext uri="{96DAC541-7B7A-43D3-8B79-37D633B846F1}">
                  <asvg:svgBlip xmlns:asvg="http://schemas.microsoft.com/office/drawing/2016/SVG/main" r:embed="rId3"/>
                </a:ext>
              </a:extLst>
            </a:blip>
            <a:stretch>
              <a:fillRect l="-283" r="-283"/>
            </a:stretch>
          </a:blipFill>
        </p:spPr>
        <p:txBody>
          <a:bodyPr/>
          <a:lstStyle/>
          <a:p>
            <a:endParaRPr lang="en-US"/>
          </a:p>
        </p:txBody>
      </p:sp>
      <p:sp>
        <p:nvSpPr>
          <p:cNvPr id="22" name="Freeform 22"/>
          <p:cNvSpPr/>
          <p:nvPr/>
        </p:nvSpPr>
        <p:spPr>
          <a:xfrm>
            <a:off x="4638660" y="2624142"/>
            <a:ext cx="699566" cy="713036"/>
          </a:xfrm>
          <a:custGeom>
            <a:avLst/>
            <a:gdLst/>
            <a:ahLst/>
            <a:cxnLst/>
            <a:rect l="l" t="t" r="r" b="b"/>
            <a:pathLst>
              <a:path w="699566" h="713036">
                <a:moveTo>
                  <a:pt x="0" y="0"/>
                </a:moveTo>
                <a:lnTo>
                  <a:pt x="699566" y="0"/>
                </a:lnTo>
                <a:lnTo>
                  <a:pt x="699566" y="713036"/>
                </a:lnTo>
                <a:lnTo>
                  <a:pt x="0" y="713036"/>
                </a:lnTo>
                <a:lnTo>
                  <a:pt x="0" y="0"/>
                </a:lnTo>
                <a:close/>
              </a:path>
            </a:pathLst>
          </a:custGeom>
          <a:blipFill>
            <a:blip r:embed="rId2">
              <a:extLst>
                <a:ext uri="{96DAC541-7B7A-43D3-8B79-37D633B846F1}">
                  <asvg:svgBlip xmlns:asvg="http://schemas.microsoft.com/office/drawing/2016/SVG/main" r:embed="rId3"/>
                </a:ext>
              </a:extLst>
            </a:blip>
            <a:stretch>
              <a:fillRect l="-283" r="-283"/>
            </a:stretch>
          </a:blipFill>
        </p:spPr>
        <p:txBody>
          <a:bodyPr/>
          <a:lstStyle/>
          <a:p>
            <a:endParaRPr lang="en-US"/>
          </a:p>
        </p:txBody>
      </p:sp>
      <p:sp>
        <p:nvSpPr>
          <p:cNvPr id="23" name="Freeform 23"/>
          <p:cNvSpPr/>
          <p:nvPr/>
        </p:nvSpPr>
        <p:spPr>
          <a:xfrm>
            <a:off x="4573336" y="1596782"/>
            <a:ext cx="699566" cy="713036"/>
          </a:xfrm>
          <a:custGeom>
            <a:avLst/>
            <a:gdLst/>
            <a:ahLst/>
            <a:cxnLst/>
            <a:rect l="l" t="t" r="r" b="b"/>
            <a:pathLst>
              <a:path w="699566" h="713036">
                <a:moveTo>
                  <a:pt x="0" y="0"/>
                </a:moveTo>
                <a:lnTo>
                  <a:pt x="699566" y="0"/>
                </a:lnTo>
                <a:lnTo>
                  <a:pt x="699566" y="713035"/>
                </a:lnTo>
                <a:lnTo>
                  <a:pt x="0" y="713035"/>
                </a:lnTo>
                <a:lnTo>
                  <a:pt x="0" y="0"/>
                </a:lnTo>
                <a:close/>
              </a:path>
            </a:pathLst>
          </a:custGeom>
          <a:blipFill>
            <a:blip r:embed="rId2">
              <a:extLst>
                <a:ext uri="{96DAC541-7B7A-43D3-8B79-37D633B846F1}">
                  <asvg:svgBlip xmlns:asvg="http://schemas.microsoft.com/office/drawing/2016/SVG/main" r:embed="rId3"/>
                </a:ext>
              </a:extLst>
            </a:blip>
            <a:stretch>
              <a:fillRect l="-283" r="-283"/>
            </a:stretch>
          </a:blipFill>
        </p:spPr>
        <p:txBody>
          <a:bodyPr/>
          <a:lstStyle/>
          <a:p>
            <a:endParaRPr lang="en-US"/>
          </a:p>
        </p:txBody>
      </p:sp>
      <p:grpSp>
        <p:nvGrpSpPr>
          <p:cNvPr id="24" name="Group 24"/>
          <p:cNvGrpSpPr/>
          <p:nvPr/>
        </p:nvGrpSpPr>
        <p:grpSpPr>
          <a:xfrm>
            <a:off x="518871" y="9430778"/>
            <a:ext cx="9146331" cy="392415"/>
            <a:chOff x="0" y="0"/>
            <a:chExt cx="12195108" cy="523220"/>
          </a:xfrm>
        </p:grpSpPr>
        <p:sp>
          <p:nvSpPr>
            <p:cNvPr id="25" name="Freeform 25"/>
            <p:cNvSpPr/>
            <p:nvPr/>
          </p:nvSpPr>
          <p:spPr>
            <a:xfrm>
              <a:off x="0" y="0"/>
              <a:ext cx="12195108" cy="523220"/>
            </a:xfrm>
            <a:custGeom>
              <a:avLst/>
              <a:gdLst/>
              <a:ahLst/>
              <a:cxnLst/>
              <a:rect l="l" t="t" r="r" b="b"/>
              <a:pathLst>
                <a:path w="12195108" h="523220">
                  <a:moveTo>
                    <a:pt x="0" y="0"/>
                  </a:moveTo>
                  <a:lnTo>
                    <a:pt x="12195108" y="0"/>
                  </a:lnTo>
                  <a:lnTo>
                    <a:pt x="12195108" y="523220"/>
                  </a:lnTo>
                  <a:lnTo>
                    <a:pt x="0" y="523220"/>
                  </a:lnTo>
                  <a:close/>
                </a:path>
              </a:pathLst>
            </a:custGeom>
            <a:solidFill>
              <a:srgbClr val="000000">
                <a:alpha val="0"/>
              </a:srgbClr>
            </a:solidFill>
          </p:spPr>
          <p:txBody>
            <a:bodyPr/>
            <a:lstStyle/>
            <a:p>
              <a:endParaRPr lang="en-US"/>
            </a:p>
          </p:txBody>
        </p:sp>
        <p:sp>
          <p:nvSpPr>
            <p:cNvPr id="26" name="TextBox 26"/>
            <p:cNvSpPr txBox="1"/>
            <p:nvPr/>
          </p:nvSpPr>
          <p:spPr>
            <a:xfrm>
              <a:off x="0" y="-28575"/>
              <a:ext cx="12195108" cy="551795"/>
            </a:xfrm>
            <a:prstGeom prst="rect">
              <a:avLst/>
            </a:prstGeom>
          </p:spPr>
          <p:txBody>
            <a:bodyPr lIns="0" tIns="0" rIns="0" bIns="0" rtlCol="0" anchor="t"/>
            <a:lstStyle/>
            <a:p>
              <a:pPr algn="l">
                <a:lnSpc>
                  <a:spcPts val="1980"/>
                </a:lnSpc>
              </a:pPr>
              <a:endParaRPr lang="en-US" sz="1650" dirty="0">
                <a:solidFill>
                  <a:srgbClr val="000000"/>
                </a:solidFill>
                <a:latin typeface="Calibri (MS)"/>
                <a:ea typeface="Calibri (MS)"/>
                <a:cs typeface="Calibri (MS)"/>
                <a:sym typeface="Calibri (MS)"/>
              </a:endParaRPr>
            </a:p>
          </p:txBody>
        </p:sp>
      </p:grpSp>
      <p:sp>
        <p:nvSpPr>
          <p:cNvPr id="27" name="Freeform 27"/>
          <p:cNvSpPr/>
          <p:nvPr/>
        </p:nvSpPr>
        <p:spPr>
          <a:xfrm>
            <a:off x="5092036" y="6046478"/>
            <a:ext cx="7323787" cy="4119630"/>
          </a:xfrm>
          <a:custGeom>
            <a:avLst/>
            <a:gdLst/>
            <a:ahLst/>
            <a:cxnLst/>
            <a:rect l="l" t="t" r="r" b="b"/>
            <a:pathLst>
              <a:path w="7323787" h="4119630">
                <a:moveTo>
                  <a:pt x="0" y="0"/>
                </a:moveTo>
                <a:lnTo>
                  <a:pt x="7323787" y="0"/>
                </a:lnTo>
                <a:lnTo>
                  <a:pt x="7323787" y="4119630"/>
                </a:lnTo>
                <a:lnTo>
                  <a:pt x="0" y="4119630"/>
                </a:lnTo>
                <a:lnTo>
                  <a:pt x="0" y="0"/>
                </a:lnTo>
                <a:close/>
              </a:path>
            </a:pathLst>
          </a:custGeom>
          <a:blipFill>
            <a:blip r:embed="rId4"/>
            <a:stretch>
              <a:fillRect/>
            </a:stretch>
          </a:blipFill>
        </p:spPr>
        <p:txBody>
          <a:bodyPr/>
          <a:lstStyle/>
          <a:p>
            <a:endParaRPr lang="en-US"/>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4" name="TextBox 4"/>
          <p:cNvSpPr txBox="1"/>
          <p:nvPr/>
        </p:nvSpPr>
        <p:spPr>
          <a:xfrm>
            <a:off x="441250" y="1393876"/>
            <a:ext cx="4385710" cy="4616649"/>
          </a:xfrm>
          <a:prstGeom prst="rect">
            <a:avLst/>
          </a:prstGeom>
        </p:spPr>
        <p:txBody>
          <a:bodyPr lIns="0" tIns="0" rIns="0" bIns="0" rtlCol="0" anchor="t"/>
          <a:lstStyle/>
          <a:p>
            <a:pPr algn="l">
              <a:lnSpc>
                <a:spcPts val="2998"/>
              </a:lnSpc>
            </a:pPr>
            <a:endParaRPr dirty="0"/>
          </a:p>
          <a:p>
            <a:pPr algn="l">
              <a:lnSpc>
                <a:spcPts val="2998"/>
              </a:lnSpc>
            </a:pPr>
            <a:endParaRPr lang="en-US" sz="2998" dirty="0">
              <a:solidFill>
                <a:srgbClr val="000000"/>
              </a:solidFill>
              <a:latin typeface="Times New Roman"/>
              <a:ea typeface="Times New Roman"/>
              <a:cs typeface="Times New Roman"/>
              <a:sym typeface="Times New Roman"/>
            </a:endParaRPr>
          </a:p>
        </p:txBody>
      </p:sp>
      <p:sp>
        <p:nvSpPr>
          <p:cNvPr id="14" name="TextBox 14"/>
          <p:cNvSpPr txBox="1"/>
          <p:nvPr/>
        </p:nvSpPr>
        <p:spPr>
          <a:xfrm>
            <a:off x="6011986" y="4142959"/>
            <a:ext cx="11344036" cy="384720"/>
          </a:xfrm>
          <a:prstGeom prst="rect">
            <a:avLst/>
          </a:prstGeom>
        </p:spPr>
        <p:txBody>
          <a:bodyPr lIns="0" tIns="0" rIns="0" bIns="0" rtlCol="0" anchor="t"/>
          <a:lstStyle/>
          <a:p>
            <a:pPr algn="l">
              <a:lnSpc>
                <a:spcPts val="2998"/>
              </a:lnSpc>
            </a:pPr>
            <a:r>
              <a:rPr lang="en-US" sz="2998" dirty="0">
                <a:solidFill>
                  <a:srgbClr val="000000"/>
                </a:solidFill>
                <a:latin typeface="Times New Roman"/>
                <a:ea typeface="Times New Roman"/>
                <a:cs typeface="Times New Roman"/>
                <a:sym typeface="Times New Roman"/>
              </a:rPr>
              <a:t>.</a:t>
            </a:r>
          </a:p>
        </p:txBody>
      </p:sp>
      <p:sp>
        <p:nvSpPr>
          <p:cNvPr id="17" name="TextBox 17"/>
          <p:cNvSpPr txBox="1"/>
          <p:nvPr/>
        </p:nvSpPr>
        <p:spPr>
          <a:xfrm>
            <a:off x="5902316" y="5067486"/>
            <a:ext cx="11262182" cy="769442"/>
          </a:xfrm>
          <a:prstGeom prst="rect">
            <a:avLst/>
          </a:prstGeom>
        </p:spPr>
        <p:txBody>
          <a:bodyPr lIns="0" tIns="0" rIns="0" bIns="0" rtlCol="0" anchor="t"/>
          <a:lstStyle/>
          <a:p>
            <a:pPr algn="l">
              <a:lnSpc>
                <a:spcPts val="2998"/>
              </a:lnSpc>
            </a:pPr>
            <a:endParaRPr lang="en-US" sz="2998" dirty="0">
              <a:solidFill>
                <a:srgbClr val="000000"/>
              </a:solidFill>
              <a:latin typeface="Times New Roman"/>
              <a:ea typeface="Times New Roman"/>
              <a:cs typeface="Times New Roman"/>
              <a:sym typeface="Times New Roman"/>
            </a:endParaRPr>
          </a:p>
        </p:txBody>
      </p:sp>
      <p:grpSp>
        <p:nvGrpSpPr>
          <p:cNvPr id="24" name="Group 24"/>
          <p:cNvGrpSpPr/>
          <p:nvPr/>
        </p:nvGrpSpPr>
        <p:grpSpPr>
          <a:xfrm>
            <a:off x="518871" y="9430778"/>
            <a:ext cx="9146331" cy="392415"/>
            <a:chOff x="0" y="0"/>
            <a:chExt cx="12195108" cy="523220"/>
          </a:xfrm>
        </p:grpSpPr>
        <p:sp>
          <p:nvSpPr>
            <p:cNvPr id="25" name="Freeform 25"/>
            <p:cNvSpPr/>
            <p:nvPr/>
          </p:nvSpPr>
          <p:spPr>
            <a:xfrm>
              <a:off x="0" y="0"/>
              <a:ext cx="12195108" cy="523220"/>
            </a:xfrm>
            <a:custGeom>
              <a:avLst/>
              <a:gdLst/>
              <a:ahLst/>
              <a:cxnLst/>
              <a:rect l="l" t="t" r="r" b="b"/>
              <a:pathLst>
                <a:path w="12195108" h="523220">
                  <a:moveTo>
                    <a:pt x="0" y="0"/>
                  </a:moveTo>
                  <a:lnTo>
                    <a:pt x="12195108" y="0"/>
                  </a:lnTo>
                  <a:lnTo>
                    <a:pt x="12195108" y="523220"/>
                  </a:lnTo>
                  <a:lnTo>
                    <a:pt x="0" y="523220"/>
                  </a:lnTo>
                  <a:close/>
                </a:path>
              </a:pathLst>
            </a:custGeom>
            <a:solidFill>
              <a:srgbClr val="000000">
                <a:alpha val="0"/>
              </a:srgbClr>
            </a:solidFill>
          </p:spPr>
          <p:txBody>
            <a:bodyPr/>
            <a:lstStyle/>
            <a:p>
              <a:endParaRPr lang="en-US"/>
            </a:p>
          </p:txBody>
        </p:sp>
        <p:sp>
          <p:nvSpPr>
            <p:cNvPr id="26" name="TextBox 26"/>
            <p:cNvSpPr txBox="1"/>
            <p:nvPr/>
          </p:nvSpPr>
          <p:spPr>
            <a:xfrm>
              <a:off x="0" y="-28575"/>
              <a:ext cx="12195108" cy="551795"/>
            </a:xfrm>
            <a:prstGeom prst="rect">
              <a:avLst/>
            </a:prstGeom>
          </p:spPr>
          <p:txBody>
            <a:bodyPr lIns="0" tIns="0" rIns="0" bIns="0" rtlCol="0" anchor="t"/>
            <a:lstStyle/>
            <a:p>
              <a:pPr algn="l">
                <a:lnSpc>
                  <a:spcPts val="1980"/>
                </a:lnSpc>
              </a:pPr>
              <a:endParaRPr lang="en-US" sz="1650" dirty="0">
                <a:solidFill>
                  <a:srgbClr val="000000"/>
                </a:solidFill>
                <a:latin typeface="Calibri (MS)"/>
                <a:ea typeface="Calibri (MS)"/>
                <a:cs typeface="Calibri (MS)"/>
                <a:sym typeface="Calibri (MS)"/>
              </a:endParaRPr>
            </a:p>
          </p:txBody>
        </p:sp>
      </p:grpSp>
      <p:sp>
        <p:nvSpPr>
          <p:cNvPr id="28" name="Title 27">
            <a:extLst>
              <a:ext uri="{FF2B5EF4-FFF2-40B4-BE49-F238E27FC236}">
                <a16:creationId xmlns:a16="http://schemas.microsoft.com/office/drawing/2014/main" id="{8F98F2B3-1BF9-49D1-B10C-584B8087B01E}"/>
              </a:ext>
            </a:extLst>
          </p:cNvPr>
          <p:cNvSpPr>
            <a:spLocks noGrp="1"/>
          </p:cNvSpPr>
          <p:nvPr>
            <p:ph type="title"/>
          </p:nvPr>
        </p:nvSpPr>
        <p:spPr>
          <a:xfrm>
            <a:off x="518871" y="287765"/>
            <a:ext cx="13003842" cy="865862"/>
          </a:xfrm>
        </p:spPr>
        <p:txBody>
          <a:bodyPr>
            <a:normAutofit fontScale="90000"/>
          </a:bodyPr>
          <a:lstStyle/>
          <a:p>
            <a:pPr marL="342900" marR="0" lvl="0" indent="-342900" defTabSz="914400" rtl="0" eaLnBrk="1" fontAlgn="auto" latinLnBrk="0" hangingPunct="1">
              <a:lnSpc>
                <a:spcPct val="100000"/>
              </a:lnSpc>
              <a:spcBef>
                <a:spcPct val="20000"/>
              </a:spcBef>
              <a:spcAft>
                <a:spcPts val="0"/>
              </a:spcAft>
              <a:tabLst/>
              <a:defRPr/>
            </a:pPr>
            <a:r>
              <a:rPr kumimoji="0" lang="en-US" sz="6000" b="1" i="0" u="none" strike="noStrike" kern="1200" cap="none" spc="0" normalizeH="0" baseline="0" noProof="0" dirty="0">
                <a:ln>
                  <a:noFill/>
                </a:ln>
                <a:solidFill>
                  <a:srgbClr val="CC3333"/>
                </a:solidFill>
                <a:effectLst/>
                <a:uLnTx/>
                <a:uFillTx/>
                <a:latin typeface="Times New Roman Bold"/>
                <a:ea typeface="Times New Roman Bold"/>
                <a:cs typeface="Times New Roman Bold"/>
                <a:sym typeface="Times New Roman Bold"/>
              </a:rPr>
              <a:t>Sustainable Development Goal</a:t>
            </a:r>
            <a:br>
              <a:rPr kumimoji="0" lang="en-US" sz="3200" b="0" i="0" u="none" strike="noStrike" kern="1200" cap="none" spc="0" normalizeH="0" baseline="0" noProof="0" dirty="0">
                <a:ln>
                  <a:noFill/>
                </a:ln>
                <a:solidFill>
                  <a:prstClr val="black"/>
                </a:solidFill>
                <a:effectLst/>
                <a:uLnTx/>
                <a:uFillTx/>
                <a:latin typeface="Calibri"/>
                <a:ea typeface="+mn-ea"/>
                <a:cs typeface="+mn-cs"/>
              </a:rPr>
            </a:br>
            <a:endParaRPr lang="en-US" dirty="0"/>
          </a:p>
        </p:txBody>
      </p:sp>
      <p:sp>
        <p:nvSpPr>
          <p:cNvPr id="29" name="Content Placeholder 28">
            <a:extLst>
              <a:ext uri="{FF2B5EF4-FFF2-40B4-BE49-F238E27FC236}">
                <a16:creationId xmlns:a16="http://schemas.microsoft.com/office/drawing/2014/main" id="{E154ED8A-1EAB-4FE8-92D1-D6932635768D}"/>
              </a:ext>
            </a:extLst>
          </p:cNvPr>
          <p:cNvSpPr>
            <a:spLocks noGrp="1"/>
          </p:cNvSpPr>
          <p:nvPr>
            <p:ph idx="1"/>
          </p:nvPr>
        </p:nvSpPr>
        <p:spPr>
          <a:xfrm>
            <a:off x="457200" y="1600200"/>
            <a:ext cx="16898822" cy="7982744"/>
          </a:xfrm>
        </p:spPr>
        <p:txBody>
          <a:bodyPr/>
          <a:lstStyle/>
          <a:p>
            <a:pPr marL="0" indent="0">
              <a:buNone/>
            </a:pPr>
            <a:r>
              <a:rPr lang="en-US" b="1" dirty="0"/>
              <a:t>SDG 3: Establish Good Health and Well-Being </a:t>
            </a:r>
          </a:p>
          <a:p>
            <a:r>
              <a:rPr lang="en-US" dirty="0"/>
              <a:t>Marcus's app handles sensitive medical prescriptions and doctor appointments. If users cannot trust the app with their privacy, they will stop using digital health tools, directly hindering advancements in public health tracking and well-being.</a:t>
            </a:r>
          </a:p>
          <a:p>
            <a:pPr marL="0" indent="0">
              <a:buNone/>
            </a:pPr>
            <a:endParaRPr lang="en-US" dirty="0"/>
          </a:p>
          <a:p>
            <a:pPr marL="0" indent="0">
              <a:buNone/>
            </a:pPr>
            <a:r>
              <a:rPr lang="en-US" b="1" dirty="0"/>
              <a:t>SDG 9: Increase Industry, Innovation, and Infrastructure </a:t>
            </a:r>
          </a:p>
          <a:p>
            <a:r>
              <a:rPr lang="en-US" dirty="0"/>
              <a:t>True technological innovation requires building secure and ethical software infrastructure. Exploiting user data for short-term profit undermines sustainable technological growth.</a:t>
            </a:r>
          </a:p>
          <a:p>
            <a:pPr marL="0" indent="0">
              <a:buNone/>
            </a:pPr>
            <a:endParaRPr lang="en-US" b="1" dirty="0"/>
          </a:p>
          <a:p>
            <a:pPr marL="0" indent="0">
              <a:buNone/>
            </a:pPr>
            <a:r>
              <a:rPr lang="en-US" b="1" dirty="0"/>
              <a:t>SDG 16: Guarantee Peace, Justice, and Strong Institutions </a:t>
            </a:r>
          </a:p>
          <a:p>
            <a:r>
              <a:rPr lang="en-US" dirty="0"/>
              <a:t>Protecting data privacy is a fundamental human right. By refusing to secretly share user data , Marcus upholds institutional justice, ensuring the company operates with integrity and transparency rather than exploiting the public.</a:t>
            </a:r>
            <a:endParaRPr lang="en-US" b="1" dirty="0"/>
          </a:p>
        </p:txBody>
      </p:sp>
    </p:spTree>
    <p:extLst>
      <p:ext uri="{BB962C8B-B14F-4D97-AF65-F5344CB8AC3E}">
        <p14:creationId xmlns:p14="http://schemas.microsoft.com/office/powerpoint/2010/main" val="130242786"/>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grpSp>
        <p:nvGrpSpPr>
          <p:cNvPr id="2" name="Group 2"/>
          <p:cNvGrpSpPr/>
          <p:nvPr/>
        </p:nvGrpSpPr>
        <p:grpSpPr>
          <a:xfrm>
            <a:off x="1440258" y="759670"/>
            <a:ext cx="16554810" cy="9527330"/>
            <a:chOff x="0" y="0"/>
            <a:chExt cx="22073080" cy="12703107"/>
          </a:xfrm>
        </p:grpSpPr>
        <p:sp>
          <p:nvSpPr>
            <p:cNvPr id="3" name="Freeform 3"/>
            <p:cNvSpPr/>
            <p:nvPr/>
          </p:nvSpPr>
          <p:spPr>
            <a:xfrm>
              <a:off x="0" y="0"/>
              <a:ext cx="22073081" cy="12703108"/>
            </a:xfrm>
            <a:custGeom>
              <a:avLst/>
              <a:gdLst/>
              <a:ahLst/>
              <a:cxnLst/>
              <a:rect l="l" t="t" r="r" b="b"/>
              <a:pathLst>
                <a:path w="22073081" h="12703108">
                  <a:moveTo>
                    <a:pt x="0" y="0"/>
                  </a:moveTo>
                  <a:lnTo>
                    <a:pt x="22073081" y="0"/>
                  </a:lnTo>
                  <a:lnTo>
                    <a:pt x="22073081" y="12703108"/>
                  </a:lnTo>
                  <a:lnTo>
                    <a:pt x="0" y="12703108"/>
                  </a:lnTo>
                  <a:close/>
                </a:path>
              </a:pathLst>
            </a:custGeom>
            <a:solidFill>
              <a:srgbClr val="000000">
                <a:alpha val="0"/>
              </a:srgbClr>
            </a:solidFill>
          </p:spPr>
          <p:txBody>
            <a:bodyPr/>
            <a:lstStyle/>
            <a:p>
              <a:endParaRPr lang="en-US"/>
            </a:p>
          </p:txBody>
        </p:sp>
        <p:sp>
          <p:nvSpPr>
            <p:cNvPr id="4" name="TextBox 4"/>
            <p:cNvSpPr txBox="1"/>
            <p:nvPr/>
          </p:nvSpPr>
          <p:spPr>
            <a:xfrm>
              <a:off x="0" y="257175"/>
              <a:ext cx="22073080" cy="12445932"/>
            </a:xfrm>
            <a:prstGeom prst="rect">
              <a:avLst/>
            </a:prstGeom>
          </p:spPr>
          <p:txBody>
            <a:bodyPr lIns="0" tIns="0" rIns="0" bIns="0" rtlCol="0" anchor="t"/>
            <a:lstStyle/>
            <a:p>
              <a:pPr algn="l">
                <a:lnSpc>
                  <a:spcPts val="3898"/>
                </a:lnSpc>
              </a:pPr>
              <a:r>
                <a:rPr lang="en-US" sz="6600" b="1" dirty="0">
                  <a:solidFill>
                    <a:srgbClr val="CC3333"/>
                  </a:solidFill>
                  <a:latin typeface="Times New Roman Bold"/>
                  <a:ea typeface="Times New Roman Bold"/>
                  <a:cs typeface="Times New Roman Bold"/>
                  <a:sym typeface="Times New Roman Bold"/>
                </a:rPr>
                <a:t>Conclusion:</a:t>
              </a:r>
            </a:p>
            <a:p>
              <a:pPr algn="l">
                <a:lnSpc>
                  <a:spcPts val="2998"/>
                </a:lnSpc>
              </a:pPr>
              <a:endParaRPr lang="en-US" sz="6600" b="1" dirty="0">
                <a:solidFill>
                  <a:srgbClr val="CC3333"/>
                </a:solidFill>
                <a:latin typeface="Times New Roman Bold"/>
                <a:ea typeface="Times New Roman Bold"/>
                <a:cs typeface="Times New Roman Bold"/>
                <a:sym typeface="Times New Roman Bold"/>
              </a:endParaRPr>
            </a:p>
            <a:p>
              <a:pPr algn="l">
                <a:lnSpc>
                  <a:spcPts val="2998"/>
                </a:lnSpc>
              </a:pPr>
              <a:endParaRPr lang="en-US" sz="6600" b="1" dirty="0">
                <a:solidFill>
                  <a:srgbClr val="CC3333"/>
                </a:solidFill>
                <a:latin typeface="Times New Roman Bold"/>
                <a:ea typeface="Times New Roman Bold"/>
                <a:cs typeface="Times New Roman Bold"/>
                <a:sym typeface="Times New Roman Bold"/>
              </a:endParaRPr>
            </a:p>
            <a:p>
              <a:pPr algn="l">
                <a:lnSpc>
                  <a:spcPts val="2998"/>
                </a:lnSpc>
              </a:pP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Marcus's case highlights the importance of engineering ethics in </a:t>
              </a:r>
              <a:r>
                <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professional </a:t>
              </a: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decision-making.</a:t>
              </a:r>
            </a:p>
            <a:p>
              <a:pPr algn="l">
                <a:lnSpc>
                  <a:spcPts val="2998"/>
                </a:lnSpc>
              </a:pPr>
              <a:endPar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l">
                <a:lnSpc>
                  <a:spcPts val="2998"/>
                </a:lnSpc>
              </a:pPr>
              <a:endPar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l">
                <a:lnSpc>
                  <a:spcPts val="2998"/>
                </a:lnSpc>
              </a:pPr>
              <a:r>
                <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Corporate responsibility</a:t>
              </a: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 requires individuals within a company to act in accordance with their assigned responsibilities while maintaining ethical accountability.</a:t>
              </a:r>
            </a:p>
            <a:p>
              <a:pPr algn="l">
                <a:lnSpc>
                  <a:spcPts val="2998"/>
                </a:lnSpc>
              </a:pPr>
              <a:endPar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l">
                <a:lnSpc>
                  <a:spcPts val="2998"/>
                </a:lnSpc>
              </a:pPr>
              <a:endPar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gn="l">
                <a:lnSpc>
                  <a:spcPts val="2998"/>
                </a:lnSpc>
              </a:pP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Protecting user privacy upholds </a:t>
              </a:r>
              <a:r>
                <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legal compliance</a:t>
              </a: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public trust</a:t>
              </a: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 and </a:t>
              </a:r>
              <a:r>
                <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professional integrity.</a:t>
              </a:r>
            </a:p>
            <a:p>
              <a:pPr algn="l">
                <a:lnSpc>
                  <a:spcPts val="2998"/>
                </a:lnSpc>
              </a:pPr>
              <a:endPar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l">
                <a:lnSpc>
                  <a:spcPts val="2998"/>
                </a:lnSpc>
              </a:pPr>
              <a:endPar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l">
                <a:lnSpc>
                  <a:spcPts val="2998"/>
                </a:lnSpc>
              </a:pP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Ethical alternatives like anonymized data and user consent balance business interests with </a:t>
              </a:r>
              <a:r>
                <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moral responsibility</a:t>
              </a:r>
            </a:p>
            <a:p>
              <a:pPr algn="l">
                <a:lnSpc>
                  <a:spcPts val="2998"/>
                </a:lnSpc>
              </a:pPr>
              <a:endPar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a:p>
              <a:pPr algn="l">
                <a:lnSpc>
                  <a:spcPts val="2998"/>
                </a:lnSpc>
              </a:pP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Engineers must prioritize </a:t>
              </a:r>
              <a:r>
                <a:rPr lang="en-US" sz="2998"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ethical standards</a:t>
              </a:r>
              <a:r>
                <a:rPr lang="en-US" sz="2998" dirty="0">
                  <a:solidFill>
                    <a:srgbClr val="000000"/>
                  </a:solidFill>
                  <a:latin typeface="Times New Roman" panose="02020603050405020304" pitchFamily="18" charset="0"/>
                  <a:ea typeface="Times New Roman"/>
                  <a:cs typeface="Times New Roman" panose="02020603050405020304" pitchFamily="18" charset="0"/>
                  <a:sym typeface="Times New Roman"/>
                </a:rPr>
                <a:t> over corporate pressure to ensure responsible and transparent technology use.</a:t>
              </a:r>
            </a:p>
            <a:p>
              <a:pPr algn="l">
                <a:lnSpc>
                  <a:spcPts val="2998"/>
                </a:lnSpc>
              </a:pPr>
              <a:endParaRPr lang="en-US" sz="2998" dirty="0">
                <a:solidFill>
                  <a:srgbClr val="000000"/>
                </a:solidFill>
                <a:latin typeface="Times New Roman"/>
                <a:ea typeface="Times New Roman"/>
                <a:cs typeface="Times New Roman"/>
                <a:sym typeface="Times New Roman"/>
              </a:endParaRPr>
            </a:p>
            <a:p>
              <a:pPr algn="l">
                <a:lnSpc>
                  <a:spcPts val="2998"/>
                </a:lnSpc>
              </a:pPr>
              <a:endParaRPr lang="en-US" sz="2998" dirty="0">
                <a:solidFill>
                  <a:srgbClr val="000000"/>
                </a:solidFill>
                <a:latin typeface="Times New Roman"/>
                <a:ea typeface="Times New Roman"/>
                <a:cs typeface="Times New Roman"/>
                <a:sym typeface="Times New Roman"/>
              </a:endParaRPr>
            </a:p>
            <a:p>
              <a:pPr algn="l">
                <a:lnSpc>
                  <a:spcPts val="2998"/>
                </a:lnSpc>
              </a:pPr>
              <a:endParaRPr lang="en-US" sz="2998" dirty="0">
                <a:solidFill>
                  <a:srgbClr val="000000"/>
                </a:solidFill>
                <a:latin typeface="Times New Roman"/>
                <a:ea typeface="Times New Roman"/>
                <a:cs typeface="Times New Roman"/>
                <a:sym typeface="Times New Roman"/>
              </a:endParaRPr>
            </a:p>
            <a:p>
              <a:pPr algn="l">
                <a:lnSpc>
                  <a:spcPts val="2998"/>
                </a:lnSpc>
              </a:pPr>
              <a:endParaRPr lang="en-US" sz="2998" dirty="0">
                <a:solidFill>
                  <a:srgbClr val="000000"/>
                </a:solidFill>
                <a:latin typeface="Times New Roman"/>
                <a:ea typeface="Times New Roman"/>
                <a:cs typeface="Times New Roman"/>
                <a:sym typeface="Times New Roman"/>
              </a:endParaRPr>
            </a:p>
          </p:txBody>
        </p:sp>
      </p:grpSp>
      <p:sp>
        <p:nvSpPr>
          <p:cNvPr id="5" name="Freeform 5"/>
          <p:cNvSpPr/>
          <p:nvPr/>
        </p:nvSpPr>
        <p:spPr>
          <a:xfrm>
            <a:off x="488876" y="1830939"/>
            <a:ext cx="768502" cy="876921"/>
          </a:xfrm>
          <a:custGeom>
            <a:avLst/>
            <a:gdLst/>
            <a:ahLst/>
            <a:cxnLst/>
            <a:rect l="l" t="t" r="r" b="b"/>
            <a:pathLst>
              <a:path w="768502" h="876921">
                <a:moveTo>
                  <a:pt x="0" y="0"/>
                </a:moveTo>
                <a:lnTo>
                  <a:pt x="768502" y="0"/>
                </a:lnTo>
                <a:lnTo>
                  <a:pt x="768502" y="876921"/>
                </a:lnTo>
                <a:lnTo>
                  <a:pt x="0" y="876921"/>
                </a:lnTo>
                <a:lnTo>
                  <a:pt x="0" y="0"/>
                </a:lnTo>
                <a:close/>
              </a:path>
            </a:pathLst>
          </a:custGeom>
          <a:blipFill>
            <a:blip r:embed="rId2">
              <a:extLst>
                <a:ext uri="{96DAC541-7B7A-43D3-8B79-37D633B846F1}">
                  <asvg:svgBlip xmlns:asvg="http://schemas.microsoft.com/office/drawing/2016/SVG/main" r:embed="rId3"/>
                </a:ext>
              </a:extLst>
            </a:blip>
            <a:stretch>
              <a:fillRect t="-309" b="-309"/>
            </a:stretch>
          </a:blipFill>
        </p:spPr>
        <p:txBody>
          <a:bodyPr/>
          <a:lstStyle/>
          <a:p>
            <a:endParaRPr lang="en-US"/>
          </a:p>
        </p:txBody>
      </p:sp>
      <p:sp>
        <p:nvSpPr>
          <p:cNvPr id="6" name="Freeform 6"/>
          <p:cNvSpPr/>
          <p:nvPr/>
        </p:nvSpPr>
        <p:spPr>
          <a:xfrm>
            <a:off x="488876" y="6923947"/>
            <a:ext cx="761128" cy="876921"/>
          </a:xfrm>
          <a:custGeom>
            <a:avLst/>
            <a:gdLst/>
            <a:ahLst/>
            <a:cxnLst/>
            <a:rect l="l" t="t" r="r" b="b"/>
            <a:pathLst>
              <a:path w="761128" h="876921">
                <a:moveTo>
                  <a:pt x="0" y="0"/>
                </a:moveTo>
                <a:lnTo>
                  <a:pt x="761128" y="0"/>
                </a:lnTo>
                <a:lnTo>
                  <a:pt x="761128" y="876921"/>
                </a:lnTo>
                <a:lnTo>
                  <a:pt x="0" y="876921"/>
                </a:lnTo>
                <a:lnTo>
                  <a:pt x="0" y="0"/>
                </a:lnTo>
                <a:close/>
              </a:path>
            </a:pathLst>
          </a:custGeom>
          <a:blipFill>
            <a:blip r:embed="rId2">
              <a:extLst>
                <a:ext uri="{96DAC541-7B7A-43D3-8B79-37D633B846F1}">
                  <asvg:svgBlip xmlns:asvg="http://schemas.microsoft.com/office/drawing/2016/SVG/main" r:embed="rId3"/>
                </a:ext>
              </a:extLst>
            </a:blip>
            <a:stretch>
              <a:fillRect l="-173" r="-173"/>
            </a:stretch>
          </a:blipFill>
        </p:spPr>
        <p:txBody>
          <a:bodyPr/>
          <a:lstStyle/>
          <a:p>
            <a:endParaRPr lang="en-US"/>
          </a:p>
        </p:txBody>
      </p:sp>
      <p:sp>
        <p:nvSpPr>
          <p:cNvPr id="7" name="Freeform 7"/>
          <p:cNvSpPr/>
          <p:nvPr/>
        </p:nvSpPr>
        <p:spPr>
          <a:xfrm>
            <a:off x="488876" y="3160908"/>
            <a:ext cx="768502" cy="876921"/>
          </a:xfrm>
          <a:custGeom>
            <a:avLst/>
            <a:gdLst/>
            <a:ahLst/>
            <a:cxnLst/>
            <a:rect l="l" t="t" r="r" b="b"/>
            <a:pathLst>
              <a:path w="768502" h="876921">
                <a:moveTo>
                  <a:pt x="0" y="0"/>
                </a:moveTo>
                <a:lnTo>
                  <a:pt x="768502" y="0"/>
                </a:lnTo>
                <a:lnTo>
                  <a:pt x="768502" y="876921"/>
                </a:lnTo>
                <a:lnTo>
                  <a:pt x="0" y="876921"/>
                </a:lnTo>
                <a:lnTo>
                  <a:pt x="0" y="0"/>
                </a:lnTo>
                <a:close/>
              </a:path>
            </a:pathLst>
          </a:custGeom>
          <a:blipFill>
            <a:blip r:embed="rId2">
              <a:extLst>
                <a:ext uri="{96DAC541-7B7A-43D3-8B79-37D633B846F1}">
                  <asvg:svgBlip xmlns:asvg="http://schemas.microsoft.com/office/drawing/2016/SVG/main" r:embed="rId3"/>
                </a:ext>
              </a:extLst>
            </a:blip>
            <a:stretch>
              <a:fillRect t="-309" b="-309"/>
            </a:stretch>
          </a:blipFill>
        </p:spPr>
        <p:txBody>
          <a:bodyPr/>
          <a:lstStyle/>
          <a:p>
            <a:endParaRPr lang="en-US"/>
          </a:p>
        </p:txBody>
      </p:sp>
      <p:sp>
        <p:nvSpPr>
          <p:cNvPr id="8" name="Freeform 8"/>
          <p:cNvSpPr/>
          <p:nvPr/>
        </p:nvSpPr>
        <p:spPr>
          <a:xfrm>
            <a:off x="488876" y="4490877"/>
            <a:ext cx="768503" cy="876921"/>
          </a:xfrm>
          <a:custGeom>
            <a:avLst/>
            <a:gdLst/>
            <a:ahLst/>
            <a:cxnLst/>
            <a:rect l="l" t="t" r="r" b="b"/>
            <a:pathLst>
              <a:path w="768503" h="876921">
                <a:moveTo>
                  <a:pt x="0" y="0"/>
                </a:moveTo>
                <a:lnTo>
                  <a:pt x="768502" y="0"/>
                </a:lnTo>
                <a:lnTo>
                  <a:pt x="768502" y="876921"/>
                </a:lnTo>
                <a:lnTo>
                  <a:pt x="0" y="876921"/>
                </a:lnTo>
                <a:lnTo>
                  <a:pt x="0" y="0"/>
                </a:lnTo>
                <a:close/>
              </a:path>
            </a:pathLst>
          </a:custGeom>
          <a:blipFill>
            <a:blip r:embed="rId2">
              <a:extLst>
                <a:ext uri="{96DAC541-7B7A-43D3-8B79-37D633B846F1}">
                  <asvg:svgBlip xmlns:asvg="http://schemas.microsoft.com/office/drawing/2016/SVG/main" r:embed="rId3"/>
                </a:ext>
              </a:extLst>
            </a:blip>
            <a:stretch>
              <a:fillRect t="-309" b="-309"/>
            </a:stretch>
          </a:blipFill>
        </p:spPr>
        <p:txBody>
          <a:bodyPr/>
          <a:lstStyle/>
          <a:p>
            <a:endParaRPr lang="en-US"/>
          </a:p>
        </p:txBody>
      </p:sp>
      <p:sp>
        <p:nvSpPr>
          <p:cNvPr id="9" name="Freeform 9"/>
          <p:cNvSpPr/>
          <p:nvPr/>
        </p:nvSpPr>
        <p:spPr>
          <a:xfrm>
            <a:off x="488876" y="5589826"/>
            <a:ext cx="768502" cy="876921"/>
          </a:xfrm>
          <a:custGeom>
            <a:avLst/>
            <a:gdLst/>
            <a:ahLst/>
            <a:cxnLst/>
            <a:rect l="l" t="t" r="r" b="b"/>
            <a:pathLst>
              <a:path w="768502" h="876921">
                <a:moveTo>
                  <a:pt x="0" y="0"/>
                </a:moveTo>
                <a:lnTo>
                  <a:pt x="768502" y="0"/>
                </a:lnTo>
                <a:lnTo>
                  <a:pt x="768502" y="876921"/>
                </a:lnTo>
                <a:lnTo>
                  <a:pt x="0" y="876921"/>
                </a:lnTo>
                <a:lnTo>
                  <a:pt x="0" y="0"/>
                </a:lnTo>
                <a:close/>
              </a:path>
            </a:pathLst>
          </a:custGeom>
          <a:blipFill>
            <a:blip r:embed="rId2">
              <a:extLst>
                <a:ext uri="{96DAC541-7B7A-43D3-8B79-37D633B846F1}">
                  <asvg:svgBlip xmlns:asvg="http://schemas.microsoft.com/office/drawing/2016/SVG/main" r:embed="rId3"/>
                </a:ext>
              </a:extLst>
            </a:blip>
            <a:stretch>
              <a:fillRect t="-309" b="-309"/>
            </a:stretch>
          </a:blipFill>
        </p:spPr>
        <p:txBody>
          <a:bodyPr/>
          <a:lstStyle/>
          <a:p>
            <a:endParaRPr lang="en-US"/>
          </a:p>
        </p:txBody>
      </p:sp>
      <p:grpSp>
        <p:nvGrpSpPr>
          <p:cNvPr id="10" name="Group 10"/>
          <p:cNvGrpSpPr/>
          <p:nvPr/>
        </p:nvGrpSpPr>
        <p:grpSpPr>
          <a:xfrm>
            <a:off x="571332" y="9348712"/>
            <a:ext cx="9146331" cy="392415"/>
            <a:chOff x="0" y="0"/>
            <a:chExt cx="12195108" cy="523220"/>
          </a:xfrm>
        </p:grpSpPr>
        <p:sp>
          <p:nvSpPr>
            <p:cNvPr id="11" name="Freeform 11"/>
            <p:cNvSpPr/>
            <p:nvPr/>
          </p:nvSpPr>
          <p:spPr>
            <a:xfrm>
              <a:off x="0" y="0"/>
              <a:ext cx="12195108" cy="523220"/>
            </a:xfrm>
            <a:custGeom>
              <a:avLst/>
              <a:gdLst/>
              <a:ahLst/>
              <a:cxnLst/>
              <a:rect l="l" t="t" r="r" b="b"/>
              <a:pathLst>
                <a:path w="12195108" h="523220">
                  <a:moveTo>
                    <a:pt x="0" y="0"/>
                  </a:moveTo>
                  <a:lnTo>
                    <a:pt x="12195108" y="0"/>
                  </a:lnTo>
                  <a:lnTo>
                    <a:pt x="12195108" y="523220"/>
                  </a:lnTo>
                  <a:lnTo>
                    <a:pt x="0" y="523220"/>
                  </a:lnTo>
                  <a:close/>
                </a:path>
              </a:pathLst>
            </a:custGeom>
            <a:solidFill>
              <a:srgbClr val="000000">
                <a:alpha val="0"/>
              </a:srgbClr>
            </a:solidFill>
          </p:spPr>
          <p:txBody>
            <a:bodyPr/>
            <a:lstStyle/>
            <a:p>
              <a:endParaRPr lang="en-US"/>
            </a:p>
          </p:txBody>
        </p:sp>
        <p:sp>
          <p:nvSpPr>
            <p:cNvPr id="12" name="TextBox 12"/>
            <p:cNvSpPr txBox="1"/>
            <p:nvPr/>
          </p:nvSpPr>
          <p:spPr>
            <a:xfrm>
              <a:off x="0" y="-28575"/>
              <a:ext cx="12195108" cy="551795"/>
            </a:xfrm>
            <a:prstGeom prst="rect">
              <a:avLst/>
            </a:prstGeom>
          </p:spPr>
          <p:txBody>
            <a:bodyPr lIns="0" tIns="0" rIns="0" bIns="0" rtlCol="0" anchor="t"/>
            <a:lstStyle/>
            <a:p>
              <a:pPr algn="l">
                <a:lnSpc>
                  <a:spcPts val="1980"/>
                </a:lnSpc>
              </a:pPr>
              <a:endParaRPr lang="en-US" sz="1650" dirty="0">
                <a:solidFill>
                  <a:srgbClr val="000000"/>
                </a:solidFill>
                <a:latin typeface="Calibri (MS)"/>
                <a:ea typeface="Calibri (MS)"/>
                <a:cs typeface="Calibri (MS)"/>
                <a:sym typeface="Calibri (MS)"/>
              </a:endParaRPr>
            </a:p>
          </p:txBody>
        </p:sp>
      </p:grp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9139128" y="0"/>
            <a:ext cx="9148872" cy="9148872"/>
          </a:xfrm>
          <a:custGeom>
            <a:avLst/>
            <a:gdLst/>
            <a:ahLst/>
            <a:cxnLst/>
            <a:rect l="l" t="t" r="r" b="b"/>
            <a:pathLst>
              <a:path w="9148872" h="9148872">
                <a:moveTo>
                  <a:pt x="0" y="0"/>
                </a:moveTo>
                <a:lnTo>
                  <a:pt x="9148872" y="0"/>
                </a:lnTo>
                <a:lnTo>
                  <a:pt x="9148872" y="9148872"/>
                </a:lnTo>
                <a:lnTo>
                  <a:pt x="0" y="91488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565841" y="-2468880"/>
            <a:ext cx="8229600" cy="4937760"/>
            <a:chOff x="0" y="0"/>
            <a:chExt cx="10972800" cy="6583680"/>
          </a:xfrm>
        </p:grpSpPr>
        <p:sp>
          <p:nvSpPr>
            <p:cNvPr id="4" name="Freeform 4"/>
            <p:cNvSpPr/>
            <p:nvPr/>
          </p:nvSpPr>
          <p:spPr>
            <a:xfrm>
              <a:off x="0" y="0"/>
              <a:ext cx="10972800" cy="6583680"/>
            </a:xfrm>
            <a:custGeom>
              <a:avLst/>
              <a:gdLst/>
              <a:ahLst/>
              <a:cxnLst/>
              <a:rect l="l" t="t" r="r" b="b"/>
              <a:pathLst>
                <a:path w="10972800" h="6583680">
                  <a:moveTo>
                    <a:pt x="0" y="0"/>
                  </a:moveTo>
                  <a:lnTo>
                    <a:pt x="10972800" y="0"/>
                  </a:lnTo>
                  <a:lnTo>
                    <a:pt x="10972800" y="6583680"/>
                  </a:lnTo>
                  <a:lnTo>
                    <a:pt x="0" y="6583680"/>
                  </a:lnTo>
                  <a:close/>
                </a:path>
              </a:pathLst>
            </a:custGeom>
            <a:solidFill>
              <a:srgbClr val="000000">
                <a:alpha val="0"/>
              </a:srgbClr>
            </a:solidFill>
          </p:spPr>
          <p:txBody>
            <a:bodyPr/>
            <a:lstStyle/>
            <a:p>
              <a:endParaRPr lang="en-US"/>
            </a:p>
          </p:txBody>
        </p:sp>
        <p:sp>
          <p:nvSpPr>
            <p:cNvPr id="5" name="TextBox 5"/>
            <p:cNvSpPr txBox="1"/>
            <p:nvPr/>
          </p:nvSpPr>
          <p:spPr>
            <a:xfrm>
              <a:off x="0" y="28575"/>
              <a:ext cx="10972800" cy="6555105"/>
            </a:xfrm>
            <a:prstGeom prst="rect">
              <a:avLst/>
            </a:prstGeom>
          </p:spPr>
          <p:txBody>
            <a:bodyPr lIns="0" tIns="0" rIns="0" bIns="0" rtlCol="0" anchor="b"/>
            <a:lstStyle/>
            <a:p>
              <a:pPr algn="l">
                <a:lnSpc>
                  <a:spcPts val="8640"/>
                </a:lnSpc>
              </a:pPr>
              <a:r>
                <a:rPr lang="en-US" sz="9000" b="1" spc="150">
                  <a:solidFill>
                    <a:srgbClr val="000000"/>
                  </a:solidFill>
                  <a:latin typeface="Times New Roman Bold"/>
                  <a:ea typeface="Times New Roman Bold"/>
                  <a:cs typeface="Times New Roman Bold"/>
                  <a:sym typeface="Times New Roman Bold"/>
                </a:rPr>
                <a:t>Reference</a:t>
              </a:r>
            </a:p>
          </p:txBody>
        </p:sp>
      </p:grpSp>
      <p:grpSp>
        <p:nvGrpSpPr>
          <p:cNvPr id="6" name="Group 6"/>
          <p:cNvGrpSpPr/>
          <p:nvPr/>
        </p:nvGrpSpPr>
        <p:grpSpPr>
          <a:xfrm>
            <a:off x="914400" y="3215867"/>
            <a:ext cx="8229600" cy="6606540"/>
            <a:chOff x="0" y="0"/>
            <a:chExt cx="10972800" cy="8808720"/>
          </a:xfrm>
        </p:grpSpPr>
        <p:sp>
          <p:nvSpPr>
            <p:cNvPr id="7" name="Freeform 7"/>
            <p:cNvSpPr/>
            <p:nvPr/>
          </p:nvSpPr>
          <p:spPr>
            <a:xfrm>
              <a:off x="0" y="0"/>
              <a:ext cx="10972800" cy="8808720"/>
            </a:xfrm>
            <a:custGeom>
              <a:avLst/>
              <a:gdLst/>
              <a:ahLst/>
              <a:cxnLst/>
              <a:rect l="l" t="t" r="r" b="b"/>
              <a:pathLst>
                <a:path w="10972800" h="8808720">
                  <a:moveTo>
                    <a:pt x="0" y="0"/>
                  </a:moveTo>
                  <a:lnTo>
                    <a:pt x="10972800" y="0"/>
                  </a:lnTo>
                  <a:lnTo>
                    <a:pt x="10972800" y="8808720"/>
                  </a:lnTo>
                  <a:lnTo>
                    <a:pt x="0" y="8808720"/>
                  </a:lnTo>
                  <a:close/>
                </a:path>
              </a:pathLst>
            </a:custGeom>
            <a:solidFill>
              <a:srgbClr val="000000">
                <a:alpha val="0"/>
              </a:srgbClr>
            </a:solidFill>
          </p:spPr>
          <p:txBody>
            <a:bodyPr/>
            <a:lstStyle/>
            <a:p>
              <a:endParaRPr lang="en-US"/>
            </a:p>
          </p:txBody>
        </p:sp>
        <p:sp>
          <p:nvSpPr>
            <p:cNvPr id="8" name="TextBox 8"/>
            <p:cNvSpPr txBox="1"/>
            <p:nvPr/>
          </p:nvSpPr>
          <p:spPr>
            <a:xfrm>
              <a:off x="0" y="-123825"/>
              <a:ext cx="10972800" cy="8932545"/>
            </a:xfrm>
            <a:prstGeom prst="rect">
              <a:avLst/>
            </a:prstGeom>
          </p:spPr>
          <p:txBody>
            <a:bodyPr lIns="0" tIns="0" rIns="0" bIns="0" rtlCol="0" anchor="t"/>
            <a:lstStyle/>
            <a:p>
              <a:pPr marL="651053" lvl="1" indent="-325526" algn="l">
                <a:lnSpc>
                  <a:spcPts val="4824"/>
                </a:lnSpc>
                <a:buAutoNum type="arabicPeriod"/>
              </a:pPr>
              <a:r>
                <a:rPr lang="en-US" sz="3600" b="1" dirty="0">
                  <a:solidFill>
                    <a:srgbClr val="000000"/>
                  </a:solidFill>
                  <a:latin typeface="Times New Roman Bold"/>
                  <a:ea typeface="Times New Roman Bold"/>
                  <a:cs typeface="Times New Roman Bold"/>
                  <a:sym typeface="Times New Roman Bold"/>
                </a:rPr>
                <a:t>https://www.scu.edu/ethics/focus-areas/more-focus-areas/engineering-ethics/engineering-ethics-cases/a-violation-of-privacy/</a:t>
              </a:r>
            </a:p>
            <a:p>
              <a:pPr marL="651053" lvl="1" indent="-325526" algn="l">
                <a:lnSpc>
                  <a:spcPts val="4824"/>
                </a:lnSpc>
                <a:buAutoNum type="arabicPeriod"/>
              </a:pPr>
              <a:r>
                <a:rPr lang="en-US" sz="3600" b="1" dirty="0">
                  <a:solidFill>
                    <a:srgbClr val="000000"/>
                  </a:solidFill>
                  <a:latin typeface="Times New Roman Bold"/>
                  <a:ea typeface="Times New Roman Bold"/>
                  <a:cs typeface="Times New Roman Bold"/>
                  <a:sym typeface="Times New Roman Bold"/>
                </a:rPr>
                <a:t>https://www.ieee.org/about/corporate/governance/p7-8.html</a:t>
              </a:r>
            </a:p>
            <a:p>
              <a:pPr marL="651053" lvl="1" indent="-325526" algn="l">
                <a:lnSpc>
                  <a:spcPts val="4824"/>
                </a:lnSpc>
                <a:buAutoNum type="arabicPeriod"/>
              </a:pPr>
              <a:r>
                <a:rPr lang="en-US" sz="3600" b="1" dirty="0">
                  <a:solidFill>
                    <a:srgbClr val="000000"/>
                  </a:solidFill>
                  <a:latin typeface="Times New Roman Bold"/>
                  <a:ea typeface="Times New Roman Bold"/>
                  <a:cs typeface="Times New Roman Bold"/>
                  <a:sym typeface="Times New Roman Bold"/>
                </a:rPr>
                <a:t>https://www.nspe.org/sites/default/files/resources/pdfs/Ethics/CodeofEthics/NSPECodeofEthicsforEngineers.pdf</a:t>
              </a:r>
            </a:p>
            <a:p>
              <a:pPr algn="l">
                <a:lnSpc>
                  <a:spcPts val="3888"/>
                </a:lnSpc>
              </a:pPr>
              <a:endParaRPr lang="en-US" sz="3600" b="1" dirty="0">
                <a:solidFill>
                  <a:srgbClr val="000000"/>
                </a:solidFill>
                <a:latin typeface="Times New Roman Bold"/>
                <a:ea typeface="Times New Roman Bold"/>
                <a:cs typeface="Times New Roman Bold"/>
                <a:sym typeface="Times New Roman Bold"/>
              </a:endParaRPr>
            </a:p>
            <a:p>
              <a:pPr algn="l">
                <a:lnSpc>
                  <a:spcPts val="3888"/>
                </a:lnSpc>
              </a:pPr>
              <a:endParaRPr lang="en-US" sz="3600" b="1" dirty="0">
                <a:solidFill>
                  <a:srgbClr val="000000"/>
                </a:solidFill>
                <a:latin typeface="Times New Roman Bold"/>
                <a:ea typeface="Times New Roman Bold"/>
                <a:cs typeface="Times New Roman Bold"/>
                <a:sym typeface="Times New Roman Bold"/>
              </a:endParaRPr>
            </a:p>
          </p:txBody>
        </p:sp>
      </p:grpSp>
      <p:grpSp>
        <p:nvGrpSpPr>
          <p:cNvPr id="9" name="Group 9"/>
          <p:cNvGrpSpPr/>
          <p:nvPr/>
        </p:nvGrpSpPr>
        <p:grpSpPr>
          <a:xfrm>
            <a:off x="780273" y="9473574"/>
            <a:ext cx="9146331" cy="392415"/>
            <a:chOff x="0" y="0"/>
            <a:chExt cx="12195108" cy="523220"/>
          </a:xfrm>
        </p:grpSpPr>
        <p:sp>
          <p:nvSpPr>
            <p:cNvPr id="10" name="Freeform 10"/>
            <p:cNvSpPr/>
            <p:nvPr/>
          </p:nvSpPr>
          <p:spPr>
            <a:xfrm>
              <a:off x="0" y="0"/>
              <a:ext cx="12195108" cy="523220"/>
            </a:xfrm>
            <a:custGeom>
              <a:avLst/>
              <a:gdLst/>
              <a:ahLst/>
              <a:cxnLst/>
              <a:rect l="l" t="t" r="r" b="b"/>
              <a:pathLst>
                <a:path w="12195108" h="523220">
                  <a:moveTo>
                    <a:pt x="0" y="0"/>
                  </a:moveTo>
                  <a:lnTo>
                    <a:pt x="12195108" y="0"/>
                  </a:lnTo>
                  <a:lnTo>
                    <a:pt x="12195108" y="523220"/>
                  </a:lnTo>
                  <a:lnTo>
                    <a:pt x="0" y="523220"/>
                  </a:lnTo>
                  <a:close/>
                </a:path>
              </a:pathLst>
            </a:custGeom>
            <a:solidFill>
              <a:srgbClr val="000000">
                <a:alpha val="0"/>
              </a:srgbClr>
            </a:solidFill>
          </p:spPr>
          <p:txBody>
            <a:bodyPr/>
            <a:lstStyle/>
            <a:p>
              <a:endParaRPr lang="en-US"/>
            </a:p>
          </p:txBody>
        </p:sp>
        <p:sp>
          <p:nvSpPr>
            <p:cNvPr id="11" name="TextBox 11"/>
            <p:cNvSpPr txBox="1"/>
            <p:nvPr/>
          </p:nvSpPr>
          <p:spPr>
            <a:xfrm>
              <a:off x="0" y="-38100"/>
              <a:ext cx="12195108" cy="561320"/>
            </a:xfrm>
            <a:prstGeom prst="rect">
              <a:avLst/>
            </a:prstGeom>
          </p:spPr>
          <p:txBody>
            <a:bodyPr lIns="0" tIns="0" rIns="0" bIns="0" rtlCol="0" anchor="t"/>
            <a:lstStyle/>
            <a:p>
              <a:pPr algn="l">
                <a:lnSpc>
                  <a:spcPts val="1980"/>
                </a:lnSpc>
              </a:pPr>
              <a:endParaRPr lang="en-US" sz="1650" dirty="0">
                <a:solidFill>
                  <a:srgbClr val="000000"/>
                </a:solidFill>
                <a:latin typeface="Times New Roman"/>
                <a:ea typeface="Times New Roman"/>
                <a:cs typeface="Times New Roman"/>
                <a:sym typeface="Times New Roman"/>
              </a:endParaRPr>
            </a:p>
          </p:txBody>
        </p:sp>
      </p:grpSp>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0F7FE"/>
        </a:solidFill>
        <a:effectLst/>
      </p:bgPr>
    </p:bg>
    <p:spTree>
      <p:nvGrpSpPr>
        <p:cNvPr id="1" name=""/>
        <p:cNvGrpSpPr/>
        <p:nvPr/>
      </p:nvGrpSpPr>
      <p:grpSpPr>
        <a:xfrm>
          <a:off x="0" y="0"/>
          <a:ext cx="0" cy="0"/>
          <a:chOff x="0" y="0"/>
          <a:chExt cx="0" cy="0"/>
        </a:xfrm>
      </p:grpSpPr>
      <p:sp>
        <p:nvSpPr>
          <p:cNvPr id="2" name="Freeform 2"/>
          <p:cNvSpPr/>
          <p:nvPr/>
        </p:nvSpPr>
        <p:spPr>
          <a:xfrm>
            <a:off x="12398912" y="-144659"/>
            <a:ext cx="5889088" cy="901619"/>
          </a:xfrm>
          <a:custGeom>
            <a:avLst/>
            <a:gdLst/>
            <a:ahLst/>
            <a:cxnLst/>
            <a:rect l="l" t="t" r="r" b="b"/>
            <a:pathLst>
              <a:path w="5889088" h="901619">
                <a:moveTo>
                  <a:pt x="0" y="0"/>
                </a:moveTo>
                <a:lnTo>
                  <a:pt x="5889088" y="0"/>
                </a:lnTo>
                <a:lnTo>
                  <a:pt x="5889088" y="901619"/>
                </a:lnTo>
                <a:lnTo>
                  <a:pt x="0" y="9016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2398912" y="9385381"/>
            <a:ext cx="5889088" cy="901619"/>
          </a:xfrm>
          <a:custGeom>
            <a:avLst/>
            <a:gdLst/>
            <a:ahLst/>
            <a:cxnLst/>
            <a:rect l="l" t="t" r="r" b="b"/>
            <a:pathLst>
              <a:path w="5889088" h="901619">
                <a:moveTo>
                  <a:pt x="0" y="0"/>
                </a:moveTo>
                <a:lnTo>
                  <a:pt x="5889088" y="0"/>
                </a:lnTo>
                <a:lnTo>
                  <a:pt x="5889088" y="901619"/>
                </a:lnTo>
                <a:lnTo>
                  <a:pt x="0" y="9016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4925440" y="3609789"/>
            <a:ext cx="9392643" cy="9529478"/>
          </a:xfrm>
          <a:custGeom>
            <a:avLst/>
            <a:gdLst/>
            <a:ahLst/>
            <a:cxnLst/>
            <a:rect l="l" t="t" r="r" b="b"/>
            <a:pathLst>
              <a:path w="9392643" h="9529478">
                <a:moveTo>
                  <a:pt x="0" y="0"/>
                </a:moveTo>
                <a:lnTo>
                  <a:pt x="9392643" y="0"/>
                </a:lnTo>
                <a:lnTo>
                  <a:pt x="9392643" y="9529477"/>
                </a:lnTo>
                <a:lnTo>
                  <a:pt x="0" y="9529477"/>
                </a:lnTo>
                <a:lnTo>
                  <a:pt x="0" y="0"/>
                </a:lnTo>
                <a:close/>
              </a:path>
            </a:pathLst>
          </a:custGeom>
          <a:blipFill>
            <a:blip r:embed="rId4">
              <a:alphaModFix amt="20999"/>
              <a:extLst>
                <a:ext uri="{96DAC541-7B7A-43D3-8B79-37D633B846F1}">
                  <asvg:svgBlip xmlns:asvg="http://schemas.microsoft.com/office/drawing/2016/SVG/main" r:embed="rId5"/>
                </a:ext>
              </a:extLst>
            </a:blip>
            <a:stretch>
              <a:fillRect l="-69" r="-69"/>
            </a:stretch>
          </a:blipFill>
        </p:spPr>
        <p:txBody>
          <a:bodyPr/>
          <a:lstStyle/>
          <a:p>
            <a:endParaRPr lang="en-US"/>
          </a:p>
        </p:txBody>
      </p:sp>
      <p:pic>
        <p:nvPicPr>
          <p:cNvPr id="5" name="Picture 5"/>
          <p:cNvPicPr>
            <a:picLocks noChangeAspect="1"/>
          </p:cNvPicPr>
          <p:nvPr/>
        </p:nvPicPr>
        <p:blipFill>
          <a:blip r:embed="rId6"/>
          <a:srcRect r="239"/>
          <a:stretch>
            <a:fillRect/>
          </a:stretch>
        </p:blipFill>
        <p:spPr>
          <a:xfrm>
            <a:off x="7003354" y="5528007"/>
            <a:ext cx="3694683" cy="3565369"/>
          </a:xfrm>
          <a:prstGeom prst="rect">
            <a:avLst/>
          </a:prstGeom>
        </p:spPr>
      </p:pic>
      <p:sp>
        <p:nvSpPr>
          <p:cNvPr id="6" name="Freeform 6"/>
          <p:cNvSpPr/>
          <p:nvPr/>
        </p:nvSpPr>
        <p:spPr>
          <a:xfrm>
            <a:off x="13794854" y="2376450"/>
            <a:ext cx="4368996" cy="4114800"/>
          </a:xfrm>
          <a:custGeom>
            <a:avLst/>
            <a:gdLst/>
            <a:ahLst/>
            <a:cxnLst/>
            <a:rect l="l" t="t" r="r" b="b"/>
            <a:pathLst>
              <a:path w="4368996" h="4114800">
                <a:moveTo>
                  <a:pt x="0" y="0"/>
                </a:moveTo>
                <a:lnTo>
                  <a:pt x="4368996" y="0"/>
                </a:lnTo>
                <a:lnTo>
                  <a:pt x="4368996"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t="-81" b="-81"/>
            </a:stretch>
          </a:blipFill>
        </p:spPr>
        <p:txBody>
          <a:bodyPr/>
          <a:lstStyle/>
          <a:p>
            <a:endParaRPr lang="en-US"/>
          </a:p>
        </p:txBody>
      </p:sp>
      <p:grpSp>
        <p:nvGrpSpPr>
          <p:cNvPr id="7" name="Group 7"/>
          <p:cNvGrpSpPr/>
          <p:nvPr/>
        </p:nvGrpSpPr>
        <p:grpSpPr>
          <a:xfrm>
            <a:off x="3579320" y="838200"/>
            <a:ext cx="8819592" cy="1727877"/>
            <a:chOff x="0" y="0"/>
            <a:chExt cx="11759456" cy="2303836"/>
          </a:xfrm>
        </p:grpSpPr>
        <p:sp>
          <p:nvSpPr>
            <p:cNvPr id="8" name="Freeform 8"/>
            <p:cNvSpPr/>
            <p:nvPr/>
          </p:nvSpPr>
          <p:spPr>
            <a:xfrm>
              <a:off x="0" y="0"/>
              <a:ext cx="11759456" cy="2303836"/>
            </a:xfrm>
            <a:custGeom>
              <a:avLst/>
              <a:gdLst/>
              <a:ahLst/>
              <a:cxnLst/>
              <a:rect l="l" t="t" r="r" b="b"/>
              <a:pathLst>
                <a:path w="11759456" h="2303836">
                  <a:moveTo>
                    <a:pt x="0" y="0"/>
                  </a:moveTo>
                  <a:lnTo>
                    <a:pt x="11759456" y="0"/>
                  </a:lnTo>
                  <a:lnTo>
                    <a:pt x="11759456" y="2303836"/>
                  </a:lnTo>
                  <a:lnTo>
                    <a:pt x="0" y="2303836"/>
                  </a:lnTo>
                  <a:close/>
                </a:path>
              </a:pathLst>
            </a:custGeom>
            <a:solidFill>
              <a:srgbClr val="000000">
                <a:alpha val="0"/>
              </a:srgbClr>
            </a:solidFill>
          </p:spPr>
          <p:txBody>
            <a:bodyPr/>
            <a:lstStyle/>
            <a:p>
              <a:endParaRPr lang="en-US"/>
            </a:p>
          </p:txBody>
        </p:sp>
        <p:sp>
          <p:nvSpPr>
            <p:cNvPr id="9" name="TextBox 9"/>
            <p:cNvSpPr txBox="1"/>
            <p:nvPr/>
          </p:nvSpPr>
          <p:spPr>
            <a:xfrm>
              <a:off x="0" y="-190500"/>
              <a:ext cx="11759456" cy="2494336"/>
            </a:xfrm>
            <a:prstGeom prst="rect">
              <a:avLst/>
            </a:prstGeom>
          </p:spPr>
          <p:txBody>
            <a:bodyPr lIns="0" tIns="0" rIns="0" bIns="0" rtlCol="0" anchor="t"/>
            <a:lstStyle/>
            <a:p>
              <a:pPr algn="l">
                <a:lnSpc>
                  <a:spcPts val="14510"/>
                </a:lnSpc>
              </a:pPr>
              <a:r>
                <a:rPr lang="en-US" sz="10365" b="1">
                  <a:solidFill>
                    <a:srgbClr val="051D40"/>
                  </a:solidFill>
                  <a:latin typeface="Montserrat Bold"/>
                  <a:ea typeface="Montserrat Bold"/>
                  <a:cs typeface="Montserrat Bold"/>
                  <a:sym typeface="Montserrat Bold"/>
                </a:rPr>
                <a:t>THANK YOU!</a:t>
              </a:r>
            </a:p>
          </p:txBody>
        </p:sp>
      </p:grpSp>
      <p:grpSp>
        <p:nvGrpSpPr>
          <p:cNvPr id="10" name="Group 10"/>
          <p:cNvGrpSpPr/>
          <p:nvPr/>
        </p:nvGrpSpPr>
        <p:grpSpPr>
          <a:xfrm>
            <a:off x="5682516" y="4459926"/>
            <a:ext cx="13148846" cy="836480"/>
            <a:chOff x="0" y="0"/>
            <a:chExt cx="17531794" cy="1115306"/>
          </a:xfrm>
        </p:grpSpPr>
        <p:sp>
          <p:nvSpPr>
            <p:cNvPr id="11" name="Freeform 11"/>
            <p:cNvSpPr/>
            <p:nvPr/>
          </p:nvSpPr>
          <p:spPr>
            <a:xfrm>
              <a:off x="0" y="0"/>
              <a:ext cx="17531793" cy="1115306"/>
            </a:xfrm>
            <a:custGeom>
              <a:avLst/>
              <a:gdLst/>
              <a:ahLst/>
              <a:cxnLst/>
              <a:rect l="l" t="t" r="r" b="b"/>
              <a:pathLst>
                <a:path w="17531793" h="1115306">
                  <a:moveTo>
                    <a:pt x="0" y="0"/>
                  </a:moveTo>
                  <a:lnTo>
                    <a:pt x="17531793" y="0"/>
                  </a:lnTo>
                  <a:lnTo>
                    <a:pt x="17531793" y="1115306"/>
                  </a:lnTo>
                  <a:lnTo>
                    <a:pt x="0" y="1115306"/>
                  </a:lnTo>
                  <a:close/>
                </a:path>
              </a:pathLst>
            </a:custGeom>
            <a:solidFill>
              <a:srgbClr val="000000">
                <a:alpha val="0"/>
              </a:srgbClr>
            </a:solidFill>
          </p:spPr>
          <p:txBody>
            <a:bodyPr/>
            <a:lstStyle/>
            <a:p>
              <a:endParaRPr lang="en-US"/>
            </a:p>
          </p:txBody>
        </p:sp>
        <p:sp>
          <p:nvSpPr>
            <p:cNvPr id="12" name="TextBox 12"/>
            <p:cNvSpPr txBox="1"/>
            <p:nvPr/>
          </p:nvSpPr>
          <p:spPr>
            <a:xfrm>
              <a:off x="0" y="-85725"/>
              <a:ext cx="17531794" cy="1201031"/>
            </a:xfrm>
            <a:prstGeom prst="rect">
              <a:avLst/>
            </a:prstGeom>
          </p:spPr>
          <p:txBody>
            <a:bodyPr lIns="0" tIns="0" rIns="0" bIns="0" rtlCol="0" anchor="t"/>
            <a:lstStyle/>
            <a:p>
              <a:pPr algn="l">
                <a:lnSpc>
                  <a:spcPts val="6999"/>
                </a:lnSpc>
              </a:pPr>
              <a:r>
                <a:rPr lang="en-US" sz="4999">
                  <a:solidFill>
                    <a:srgbClr val="051D40"/>
                  </a:solidFill>
                  <a:latin typeface="Montserrat"/>
                  <a:ea typeface="Montserrat"/>
                  <a:cs typeface="Montserrat"/>
                  <a:sym typeface="Montserrat"/>
                </a:rPr>
                <a:t>ANY QUESTIONS?</a:t>
              </a:r>
            </a:p>
          </p:txBody>
        </p:sp>
      </p:gr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493</TotalTime>
  <Words>1761</Words>
  <Application>Microsoft Office PowerPoint</Application>
  <PresentationFormat>Custom</PresentationFormat>
  <Paragraphs>265</Paragraphs>
  <Slides>31</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31</vt:i4>
      </vt:variant>
    </vt:vector>
  </HeadingPairs>
  <TitlesOfParts>
    <vt:vector size="44" baseType="lpstr">
      <vt:lpstr>Montserrat</vt:lpstr>
      <vt:lpstr>Calibri</vt:lpstr>
      <vt:lpstr>Aptos</vt:lpstr>
      <vt:lpstr>Montserrat Bold</vt:lpstr>
      <vt:lpstr>Times New Roman</vt:lpstr>
      <vt:lpstr>Arial</vt:lpstr>
      <vt:lpstr>League Spartan</vt:lpstr>
      <vt:lpstr>Wingdings</vt:lpstr>
      <vt:lpstr>SourceSansPro</vt:lpstr>
      <vt:lpstr>Ubuntu Bold</vt:lpstr>
      <vt:lpstr>Calibri (MS)</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Sustainable Development Goal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Marcus is a computer engineer who has recently developed an app which helps users keep track of medical information, doctor’s appointments, and prescriptions. Information about the user is stored in this app, including what prescriptions they are taking</dc:title>
  <dc:creator>Abrar</dc:creator>
  <cp:lastModifiedBy>Abrar</cp:lastModifiedBy>
  <cp:revision>28</cp:revision>
  <dcterms:created xsi:type="dcterms:W3CDTF">2006-08-16T00:00:00Z</dcterms:created>
  <dcterms:modified xsi:type="dcterms:W3CDTF">2026-03-07T18:16:51Z</dcterms:modified>
  <dc:identifier>DAGj-yk3H4w</dc:identifier>
</cp:coreProperties>
</file>